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005840"/>
            <a:ext cx="10698480" cy="2926080"/>
          </a:xfrm>
          <a:prstGeom prst="rect">
            <a:avLst/>
          </a:prstGeom>
          <a:noFill/>
        </p:spPr>
        <p:txBody>
          <a:bodyPr wrap="square">
            <a:spAutoFit/>
          </a:bodyPr>
          <a:lstStyle/>
          <a:p>
            <a:r>
              <a:rPr sz="1100" b="1">
                <a:solidFill>
                  <a:srgbClr val="0284C7"/>
                </a:solidFill>
              </a:rPr>
              <a:t>INVESTOR PITCH &amp; ENTERPRISE TECHNICAL OVERVIEW • OCTOBER 2026
</a:t>
            </a:r>
          </a:p>
          <a:p>
            <a:r>
              <a:rPr sz="4400" b="1">
                <a:solidFill>
                  <a:srgbClr val="0B4D32"/>
                </a:solidFill>
                <a:latin typeface="Arial"/>
              </a:rPr>
              <a:t>VERISIGHT™</a:t>
            </a:r>
          </a:p>
          <a:p>
            <a:r>
              <a:rPr sz="2000" b="1">
                <a:solidFill>
                  <a:srgbClr val="0F172A"/>
                </a:solidFill>
                <a:latin typeface="Arial"/>
              </a:rPr>
              <a:t>Autonomous Silicon Verification, Plan Synthesis &amp; Failure Debugging Copilot</a:t>
            </a:r>
          </a:p>
          <a:p>
            <a:r>
              <a:rPr sz="1300">
                <a:solidFill>
                  <a:srgbClr val="334155"/>
                </a:solidFill>
                <a:latin typeface="Arial"/>
              </a:rPr>
              <a:t>Bridging Natural Language Hardware Specifications to Zero-Bug Silicon with Tri-Engine Multi-Agent AI,
Spec-Driven UVM Testbench Synthesis, Closed-Loop Simulation, and Deterministic Root Cause Analysis.</a:t>
            </a:r>
          </a:p>
        </p:txBody>
      </p:sp>
      <p:sp>
        <p:nvSpPr>
          <p:cNvPr id="4" name="Rounded Rectangle 3"/>
          <p:cNvSpPr/>
          <p:nvPr/>
        </p:nvSpPr>
        <p:spPr>
          <a:xfrm>
            <a:off x="731520" y="3977639"/>
            <a:ext cx="3328416" cy="16459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114799"/>
            <a:ext cx="2962656" cy="1371600"/>
          </a:xfrm>
          <a:prstGeom prst="rect">
            <a:avLst/>
          </a:prstGeom>
          <a:noFill/>
        </p:spPr>
        <p:txBody>
          <a:bodyPr wrap="square">
            <a:spAutoFit/>
          </a:bodyPr>
          <a:lstStyle/>
          <a:p>
            <a:r>
              <a:rPr sz="1600" b="1">
                <a:solidFill>
                  <a:srgbClr val="0B4D32"/>
                </a:solidFill>
                <a:latin typeface="Arial"/>
              </a:rPr>
              <a:t>100x Faster Triage
</a:t>
            </a:r>
          </a:p>
          <a:p>
            <a:r>
              <a:rPr sz="1100">
                <a:solidFill>
                  <a:srgbClr val="334155"/>
                </a:solidFill>
                <a:latin typeface="Arial"/>
              </a:rPr>
              <a:t>Root cause isolated in &lt;15s vs. 4-6 hours manual engineer debugging</a:t>
            </a:r>
          </a:p>
        </p:txBody>
      </p:sp>
      <p:sp>
        <p:nvSpPr>
          <p:cNvPr id="6" name="Rounded Rectangle 5"/>
          <p:cNvSpPr/>
          <p:nvPr/>
        </p:nvSpPr>
        <p:spPr>
          <a:xfrm>
            <a:off x="4416552" y="3977639"/>
            <a:ext cx="3328416" cy="16459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9432" y="4114799"/>
            <a:ext cx="2962656" cy="1371600"/>
          </a:xfrm>
          <a:prstGeom prst="rect">
            <a:avLst/>
          </a:prstGeom>
          <a:noFill/>
        </p:spPr>
        <p:txBody>
          <a:bodyPr wrap="square">
            <a:spAutoFit/>
          </a:bodyPr>
          <a:lstStyle/>
          <a:p>
            <a:r>
              <a:rPr sz="1600" b="1">
                <a:solidFill>
                  <a:srgbClr val="0284C7"/>
                </a:solidFill>
                <a:latin typeface="Arial"/>
              </a:rPr>
              <a:t>Zero Hallucinations
</a:t>
            </a:r>
          </a:p>
          <a:p>
            <a:r>
              <a:rPr sz="1100">
                <a:solidFill>
                  <a:srgbClr val="334155"/>
                </a:solidFill>
                <a:latin typeface="Arial"/>
              </a:rPr>
              <a:t>9 Formal Decision Rules + Static pyslang AST X-Tracer + Sandbox Validation</a:t>
            </a:r>
          </a:p>
        </p:txBody>
      </p:sp>
      <p:sp>
        <p:nvSpPr>
          <p:cNvPr id="8" name="Rounded Rectangle 7"/>
          <p:cNvSpPr/>
          <p:nvPr/>
        </p:nvSpPr>
        <p:spPr>
          <a:xfrm>
            <a:off x="8101584" y="3977639"/>
            <a:ext cx="3328416" cy="164592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4464" y="4114799"/>
            <a:ext cx="2962656" cy="1371600"/>
          </a:xfrm>
          <a:prstGeom prst="rect">
            <a:avLst/>
          </a:prstGeom>
          <a:noFill/>
        </p:spPr>
        <p:txBody>
          <a:bodyPr wrap="square">
            <a:spAutoFit/>
          </a:bodyPr>
          <a:lstStyle/>
          <a:p>
            <a:r>
              <a:rPr sz="1600" b="1">
                <a:solidFill>
                  <a:srgbClr val="D97706"/>
                </a:solidFill>
                <a:latin typeface="Arial"/>
              </a:rPr>
              <a:t>Universal Compatibility
</a:t>
            </a:r>
          </a:p>
          <a:p>
            <a:r>
              <a:rPr sz="1100">
                <a:solidFill>
                  <a:srgbClr val="334155"/>
                </a:solidFill>
                <a:latin typeface="Arial"/>
              </a:rPr>
              <a:t>Seamless Day-1 drop-in across VCS, Questa, Xcelium, and Verilator</a:t>
            </a:r>
          </a:p>
        </p:txBody>
      </p:sp>
      <p:sp>
        <p:nvSpPr>
          <p:cNvPr id="10" name="TextBox 9"/>
          <p:cNvSpPr txBox="1"/>
          <p:nvPr/>
        </p:nvSpPr>
        <p:spPr>
          <a:xfrm>
            <a:off x="731520" y="5806440"/>
            <a:ext cx="10698480" cy="640080"/>
          </a:xfrm>
          <a:prstGeom prst="rect">
            <a:avLst/>
          </a:prstGeom>
          <a:noFill/>
        </p:spPr>
        <p:txBody>
          <a:bodyPr wrap="square">
            <a:spAutoFit/>
          </a:bodyPr>
          <a:lstStyle/>
          <a:p>
            <a:r>
              <a:rPr sz="1100" b="1">
                <a:solidFill>
                  <a:srgbClr val="0F172A"/>
                </a:solidFill>
              </a:rPr>
              <a:t>Team Members: Patel Kittu &amp; Vinod Nikhil Monterio   |   Lead Architect: Kittu Patel (@KITTUV03)
</a:t>
            </a:r>
            <a:r>
              <a:rPr sz="1000">
                <a:solidFill>
                  <a:srgbClr val="64748B"/>
                </a:solidFill>
              </a:rPr>
              <a:t>VeriSight Production Release v2.4 • Confidential Enterprise Edition • October 2026</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AGENDA  •  </a:t>
            </a:r>
            <a:r>
              <a:rPr sz="2100" b="1">
                <a:solidFill>
                  <a:srgbClr val="0B4D32"/>
                </a:solidFill>
                <a:latin typeface="Arial"/>
              </a:rPr>
              <a:t>Presentation Roadmap &amp; Table of Contents</a:t>
            </a:r>
          </a:p>
        </p:txBody>
      </p:sp>
      <p:sp>
        <p:nvSpPr>
          <p:cNvPr id="4" name="Rounded Rectangle 3"/>
          <p:cNvSpPr/>
          <p:nvPr/>
        </p:nvSpPr>
        <p:spPr>
          <a:xfrm>
            <a:off x="731520" y="1371600"/>
            <a:ext cx="512064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480560"/>
          </a:xfrm>
          <a:prstGeom prst="rect">
            <a:avLst/>
          </a:prstGeom>
          <a:noFill/>
        </p:spPr>
        <p:txBody>
          <a:bodyPr wrap="square">
            <a:spAutoFit/>
          </a:bodyPr>
          <a:lstStyle/>
          <a:p>
            <a:r>
              <a:rPr sz="1300" b="1">
                <a:solidFill>
                  <a:srgbClr val="0B4D32"/>
                </a:solidFill>
              </a:rPr>
              <a:t>PART I: FOUNDATIONAL TECHNOLOGY
</a:t>
            </a:r>
          </a:p>
          <a:p>
            <a:r>
              <a:rPr b="1" sz="1050">
                <a:solidFill>
                  <a:srgbClr val="0F172A"/>
                </a:solidFill>
              </a:rPr>
              <a:t>01  Idea Overview — </a:t>
            </a:r>
            <a:r>
              <a:rPr sz="950">
                <a:solidFill>
                  <a:srgbClr val="334155"/>
                </a:solidFill>
              </a:rPr>
              <a:t>The VeriSight Vision &amp; Autonomous Triage
</a:t>
            </a:r>
          </a:p>
          <a:p>
            <a:r>
              <a:rPr b="1" sz="1050">
                <a:solidFill>
                  <a:srgbClr val="0F172A"/>
                </a:solidFill>
              </a:rPr>
              <a:t>02  Problem Statement — </a:t>
            </a:r>
            <a:r>
              <a:rPr sz="950">
                <a:solidFill>
                  <a:srgbClr val="334155"/>
                </a:solidFill>
              </a:rPr>
              <a:t>The Silicon Verification Crisis ($30M+ Re-Spins)
</a:t>
            </a:r>
          </a:p>
          <a:p>
            <a:r>
              <a:rPr b="1" sz="1050">
                <a:solidFill>
                  <a:srgbClr val="0F172A"/>
                </a:solidFill>
              </a:rPr>
              <a:t>03  AI Approach to Solve Problem — </a:t>
            </a:r>
            <a:r>
              <a:rPr sz="950">
                <a:solidFill>
                  <a:srgbClr val="334155"/>
                </a:solidFill>
              </a:rPr>
              <a:t>Deterministic Multi-Agent Cognitive Pipeline
</a:t>
            </a:r>
          </a:p>
          <a:p>
            <a:r>
              <a:rPr b="1" sz="1050">
                <a:solidFill>
                  <a:srgbClr val="0F172A"/>
                </a:solidFill>
              </a:rPr>
              <a:t>04  Solution Architecture — </a:t>
            </a:r>
            <a:r>
              <a:rPr sz="950">
                <a:solidFill>
                  <a:srgbClr val="334155"/>
                </a:solidFill>
              </a:rPr>
              <a:t>End-to-End System Block Diagram &amp; Fabric
</a:t>
            </a:r>
          </a:p>
          <a:p>
            <a:r>
              <a:rPr b="1" sz="1050">
                <a:solidFill>
                  <a:srgbClr val="0F172A"/>
                </a:solidFill>
              </a:rPr>
              <a:t>05  Architecture Components — </a:t>
            </a:r>
            <a:r>
              <a:rPr sz="950">
                <a:solidFill>
                  <a:srgbClr val="334155"/>
                </a:solidFill>
              </a:rPr>
              <a:t>5-Agent Breakdown &amp; 9 Formal RCA Rules
</a:t>
            </a:r>
          </a:p>
          <a:p>
            <a:r>
              <a:rPr b="1" sz="1050">
                <a:solidFill>
                  <a:srgbClr val="0F172A"/>
                </a:solidFill>
              </a:rPr>
              <a:t>06  Tools &amp; Models Used — </a:t>
            </a:r>
            <a:r>
              <a:rPr sz="950">
                <a:solidFill>
                  <a:srgbClr val="334155"/>
                </a:solidFill>
              </a:rPr>
              <a:t>Multi-Provider Stack, pyslang &amp; EDA Ecosystem
</a:t>
            </a:r>
          </a:p>
          <a:p>
            <a:r>
              <a:rPr b="1" sz="1050">
                <a:solidFill>
                  <a:srgbClr val="0F172A"/>
                </a:solidFill>
              </a:rPr>
              <a:t>07  Experiments Conducted — </a:t>
            </a:r>
            <a:r>
              <a:rPr sz="950">
                <a:solidFill>
                  <a:srgbClr val="334155"/>
                </a:solidFill>
              </a:rPr>
              <a:t>Rigorous Testbeds (ALU, FIFO, AXI-Stream, RISC-V)
</a:t>
            </a:r>
          </a:p>
        </p:txBody>
      </p:sp>
      <p:sp>
        <p:nvSpPr>
          <p:cNvPr id="6" name="Rounded Rectangle 5"/>
          <p:cNvSpPr/>
          <p:nvPr/>
        </p:nvSpPr>
        <p:spPr>
          <a:xfrm>
            <a:off x="6217920" y="1371600"/>
            <a:ext cx="5212080" cy="48463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square">
            <a:spAutoFit/>
          </a:bodyPr>
          <a:lstStyle/>
          <a:p>
            <a:r>
              <a:rPr sz="1300" b="1">
                <a:solidFill>
                  <a:srgbClr val="0284C7"/>
                </a:solidFill>
              </a:rPr>
              <a:t>PART II: WORKFLOWS, METRICS &amp; DEPLOYMENT
</a:t>
            </a:r>
          </a:p>
          <a:p>
            <a:r>
              <a:rPr b="1" sz="1050">
                <a:solidFill>
                  <a:srgbClr val="0F172A"/>
                </a:solidFill>
              </a:rPr>
              <a:t>08  Results &amp; Comparison — </a:t>
            </a:r>
            <a:r>
              <a:rPr sz="950">
                <a:solidFill>
                  <a:srgbClr val="334155"/>
                </a:solidFill>
              </a:rPr>
              <a:t>AI vs. Manual Effort Benchmark &amp; Enterprise ROI
</a:t>
            </a:r>
          </a:p>
          <a:p>
            <a:r>
              <a:rPr b="1" sz="1050">
                <a:solidFill>
                  <a:srgbClr val="0F172A"/>
                </a:solidFill>
              </a:rPr>
              <a:t>09  Platform Tri-Engine Suite — </a:t>
            </a:r>
            <a:r>
              <a:rPr sz="950">
                <a:solidFill>
                  <a:srgbClr val="334155"/>
                </a:solidFill>
              </a:rPr>
              <a:t>VeriSight Debug, Plan Architect &amp; Spec-Driven TestBench
</a:t>
            </a:r>
          </a:p>
          <a:p>
            <a:r>
              <a:rPr b="1" sz="1050">
                <a:solidFill>
                  <a:srgbClr val="0F172A"/>
                </a:solidFill>
              </a:rPr>
              <a:t>10  Token Utilization Over Cost — </a:t>
            </a:r>
            <a:r>
              <a:rPr sz="950">
                <a:solidFill>
                  <a:srgbClr val="334155"/>
                </a:solidFill>
              </a:rPr>
              <a:t>Sovereign Offline Economics &amp; AST Optimization
</a:t>
            </a:r>
          </a:p>
          <a:p>
            <a:r>
              <a:rPr b="1" sz="1050">
                <a:solidFill>
                  <a:srgbClr val="0F172A"/>
                </a:solidFill>
              </a:rPr>
              <a:t>11  Summary &amp; Defensible Moat — </a:t>
            </a:r>
            <a:r>
              <a:rPr sz="950">
                <a:solidFill>
                  <a:srgbClr val="334155"/>
                </a:solidFill>
              </a:rPr>
              <a:t>Domain Grounding, Security &amp; Zero Vendor Lock-In
</a:t>
            </a:r>
          </a:p>
          <a:p>
            <a:r>
              <a:rPr b="1" sz="1050">
                <a:solidFill>
                  <a:srgbClr val="0F172A"/>
                </a:solidFill>
              </a:rPr>
              <a:t>12  Future Scope &amp; Roadmap — </a:t>
            </a:r>
            <a:r>
              <a:rPr sz="950">
                <a:solidFill>
                  <a:srgbClr val="334155"/>
                </a:solidFill>
              </a:rPr>
              <a:t>Autonomous Silicon Evolution (Phase 1, 2, 3)
</a:t>
            </a:r>
          </a:p>
          <a:p>
            <a:r>
              <a:rPr b="1" sz="1050">
                <a:solidFill>
                  <a:srgbClr val="0F172A"/>
                </a:solidFill>
              </a:rPr>
              <a:t>13  Real-World Chip Integration — </a:t>
            </a:r>
            <a:r>
              <a:rPr sz="950">
                <a:solidFill>
                  <a:srgbClr val="334155"/>
                </a:solidFill>
              </a:rPr>
              <a:t>Day-1 Frictionless CI/CD &amp; EDA Tool Wrapping
</a:t>
            </a:r>
          </a:p>
          <a:p>
            <a:r>
              <a:rPr b="1" sz="1050">
                <a:solidFill>
                  <a:srgbClr val="0F172A"/>
                </a:solidFill>
              </a:rPr>
              <a:t>14  Appendix &amp; Standards — </a:t>
            </a:r>
            <a:r>
              <a:rPr sz="950">
                <a:solidFill>
                  <a:srgbClr val="334155"/>
                </a:solidFill>
              </a:rPr>
              <a:t>ISO 26262 ASIL-D, DO-254, IEEE 1800 &amp; UVM 1.2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IDEA OVERVIEW  •  </a:t>
            </a:r>
            <a:r>
              <a:rPr sz="2100" b="1">
                <a:solidFill>
                  <a:srgbClr val="0B4D32"/>
                </a:solidFill>
                <a:latin typeface="Arial"/>
              </a:rPr>
              <a:t>Topic 1: Idea Overview — The VeriSight Vision</a:t>
            </a:r>
          </a:p>
        </p:txBody>
      </p:sp>
      <p:sp>
        <p:nvSpPr>
          <p:cNvPr id="4" name="Rounded Rectangle 3"/>
          <p:cNvSpPr/>
          <p:nvPr/>
        </p:nvSpPr>
        <p:spPr>
          <a:xfrm>
            <a:off x="731520" y="1371600"/>
            <a:ext cx="6217920" cy="237744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5852160" cy="2103120"/>
          </a:xfrm>
          <a:prstGeom prst="rect">
            <a:avLst/>
          </a:prstGeom>
          <a:noFill/>
        </p:spPr>
        <p:txBody>
          <a:bodyPr wrap="square">
            <a:spAutoFit/>
          </a:bodyPr>
          <a:lstStyle/>
          <a:p>
            <a:r>
              <a:rPr sz="1400" b="1">
                <a:solidFill>
                  <a:srgbClr val="0B4D32"/>
                </a:solidFill>
              </a:rPr>
              <a:t>What is VeriSight?
</a:t>
            </a:r>
          </a:p>
          <a:p>
            <a:r>
              <a:rPr b="1">
                <a:solidFill>
                  <a:srgbClr val="0B4D32"/>
                </a:solidFill>
              </a:rPr>
              <a:t>• </a:t>
            </a:r>
            <a:r>
              <a:rPr sz="1050">
                <a:solidFill>
                  <a:srgbClr val="334155"/>
                </a:solidFill>
              </a:rPr>
              <a:t>Autonomous silicon verification, testbench synthesis &amp; failure debugging copilot designed for digital ASIC &amp; SoC design.
</a:t>
            </a:r>
          </a:p>
          <a:p>
            <a:r>
              <a:rPr b="1">
                <a:solidFill>
                  <a:srgbClr val="0B4D32"/>
                </a:solidFill>
              </a:rPr>
              <a:t>• </a:t>
            </a:r>
            <a:r>
              <a:rPr sz="1050">
                <a:solidFill>
                  <a:srgbClr val="334155"/>
                </a:solidFill>
              </a:rPr>
              <a:t>Eliminates the multi-week verification bottleneck between RTL design freeze and tape-out sign-off.
</a:t>
            </a:r>
          </a:p>
          <a:p>
            <a:r>
              <a:rPr b="1">
                <a:solidFill>
                  <a:srgbClr val="0B4D32"/>
                </a:solidFill>
              </a:rPr>
              <a:t>• </a:t>
            </a:r>
            <a:r>
              <a:rPr sz="1050">
                <a:solidFill>
                  <a:srgbClr val="334155"/>
                </a:solidFill>
              </a:rPr>
              <a:t>Tri-Engine Architecture: Diagnostic Debug, Verification Plan Synthesis, and Spec-Driven UVM 1.2 Testbench Generation.
</a:t>
            </a:r>
          </a:p>
        </p:txBody>
      </p:sp>
      <p:sp>
        <p:nvSpPr>
          <p:cNvPr id="6" name="Rounded Rectangle 5"/>
          <p:cNvSpPr/>
          <p:nvPr/>
        </p:nvSpPr>
        <p:spPr>
          <a:xfrm>
            <a:off x="731520" y="3886200"/>
            <a:ext cx="6217920" cy="23317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77639"/>
            <a:ext cx="5852160" cy="2148840"/>
          </a:xfrm>
          <a:prstGeom prst="rect">
            <a:avLst/>
          </a:prstGeom>
          <a:noFill/>
        </p:spPr>
        <p:txBody>
          <a:bodyPr wrap="square">
            <a:spAutoFit/>
          </a:bodyPr>
          <a:lstStyle/>
          <a:p>
            <a:r>
              <a:rPr sz="1300" b="1">
                <a:solidFill>
                  <a:srgbClr val="0284C7"/>
                </a:solidFill>
              </a:rPr>
              <a:t>Core Autonomous Capabilities
</a:t>
            </a:r>
          </a:p>
          <a:p>
            <a:r>
              <a:rPr b="1" sz="950">
                <a:solidFill>
                  <a:srgbClr val="0F172A"/>
                </a:solidFill>
              </a:rPr>
              <a:t>• Spec-Driven UVM Synthesis: </a:t>
            </a:r>
            <a:r>
              <a:rPr sz="950">
                <a:solidFill>
                  <a:srgbClr val="334155"/>
                </a:solidFill>
              </a:rPr>
              <a:t>Synthesizes 14-component UVM 1.2 VIP suites with specification-grounded golden reference models.</a:t>
            </a:r>
          </a:p>
          <a:p>
            <a:r>
              <a:rPr b="1" sz="950">
                <a:solidFill>
                  <a:srgbClr val="0F172A"/>
                </a:solidFill>
              </a:rPr>
              <a:t>• Autonomous Verification Plan: </a:t>
            </a:r>
            <a:r>
              <a:rPr sz="950">
                <a:solidFill>
                  <a:srgbClr val="334155"/>
                </a:solidFill>
              </a:rPr>
              <a:t>Extracts 50+ testcases across 8 categories, 90+ coverage points, and 30+ SVA assertions from specs.</a:t>
            </a:r>
          </a:p>
          <a:p>
            <a:r>
              <a:rPr b="1" sz="950">
                <a:solidFill>
                  <a:srgbClr val="0F172A"/>
                </a:solidFill>
              </a:rPr>
              <a:t>• Root-Cause Diagnostic Engine: </a:t>
            </a:r>
            <a:r>
              <a:rPr sz="950">
                <a:solidFill>
                  <a:srgbClr val="334155"/>
                </a:solidFill>
              </a:rPr>
              <a:t>Applies 9 formal decision rules and backwards AST cone traversal to isolate bugs in &lt;15s.</a:t>
            </a:r>
          </a:p>
          <a:p>
            <a:r>
              <a:rPr b="1" sz="950">
                <a:solidFill>
                  <a:srgbClr val="0F172A"/>
                </a:solidFill>
              </a:rPr>
              <a:t>• Self-Synthesizing Patch Generator: </a:t>
            </a:r>
            <a:r>
              <a:rPr sz="950">
                <a:solidFill>
                  <a:srgbClr val="334155"/>
                </a:solidFill>
              </a:rPr>
              <a:t>Generates minimal unified git diffs and validates syntax in an isolated compile sandbox.</a:t>
            </a:r>
          </a:p>
        </p:txBody>
      </p:sp>
      <p:sp>
        <p:nvSpPr>
          <p:cNvPr id="8" name="Rounded Rectangle 7"/>
          <p:cNvSpPr/>
          <p:nvPr/>
        </p:nvSpPr>
        <p:spPr>
          <a:xfrm>
            <a:off x="7132320" y="1371600"/>
            <a:ext cx="429768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01_welcome_menu.png"/>
          <p:cNvPicPr>
            <a:picLocks noChangeAspect="1"/>
          </p:cNvPicPr>
          <p:nvPr/>
        </p:nvPicPr>
        <p:blipFill>
          <a:blip r:embed="rId3"/>
          <a:stretch>
            <a:fillRect/>
          </a:stretch>
        </p:blipFill>
        <p:spPr>
          <a:xfrm>
            <a:off x="7315200" y="1554480"/>
            <a:ext cx="3931920" cy="4023360"/>
          </a:xfrm>
          <a:prstGeom prst="rect">
            <a:avLst/>
          </a:prstGeom>
        </p:spPr>
      </p:pic>
      <p:sp>
        <p:nvSpPr>
          <p:cNvPr id="10" name="TextBox 9"/>
          <p:cNvSpPr txBox="1"/>
          <p:nvPr/>
        </p:nvSpPr>
        <p:spPr>
          <a:xfrm>
            <a:off x="7315200" y="5669280"/>
            <a:ext cx="3931920" cy="457200"/>
          </a:xfrm>
          <a:prstGeom prst="rect">
            <a:avLst/>
          </a:prstGeom>
          <a:noFill/>
        </p:spPr>
        <p:txBody>
          <a:bodyPr wrap="none">
            <a:spAutoFit/>
          </a:bodyPr>
          <a:lstStyle/>
          <a:p>
            <a:r>
              <a:rPr sz="950" b="1">
                <a:solidFill>
                  <a:srgbClr val="64748B"/>
                </a:solidFill>
              </a:rPr>
              <a:t>VeriSight Guided CLI Launcher with Tri-Engine Architecture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8" fill="hold">
                      <p:stCondLst>
                        <p:cond delay="indefinite"/>
                      </p:stCondLst>
                      <p:childTnLst>
                        <p:par>
                          <p:cTn id="29"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MARKET NEED  •  </a:t>
            </a:r>
            <a:r>
              <a:rPr sz="2100" b="1">
                <a:solidFill>
                  <a:srgbClr val="0B4D32"/>
                </a:solidFill>
                <a:latin typeface="Arial"/>
              </a:rPr>
              <a:t>Topic 2: Problem Statement — The Silicon Verification Crisis</a:t>
            </a:r>
          </a:p>
        </p:txBody>
      </p:sp>
      <p:sp>
        <p:nvSpPr>
          <p:cNvPr id="4" name="Rounded Rectangle 3"/>
          <p:cNvSpPr/>
          <p:nvPr/>
        </p:nvSpPr>
        <p:spPr>
          <a:xfrm>
            <a:off x="731520" y="1371600"/>
            <a:ext cx="5212080" cy="228600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08760"/>
            <a:ext cx="4754880" cy="2011680"/>
          </a:xfrm>
          <a:prstGeom prst="rect">
            <a:avLst/>
          </a:prstGeom>
          <a:noFill/>
        </p:spPr>
        <p:txBody>
          <a:bodyPr wrap="square">
            <a:spAutoFit/>
          </a:bodyPr>
          <a:lstStyle/>
          <a:p>
            <a:r>
              <a:rPr sz="1300" b="1">
                <a:solidFill>
                  <a:srgbClr val="DC2626"/>
                </a:solidFill>
              </a:rPr>
              <a:t>1. 70% Development Cycle Eaten by Verification
</a:t>
            </a:r>
          </a:p>
          <a:p>
            <a:r>
              <a:rPr sz="1000">
                <a:solidFill>
                  <a:srgbClr val="334155"/>
                </a:solidFill>
              </a:rPr>
              <a:t>• Verification is the single largest cost and timeline driver in semiconductor design.
• Over 70% of total engineering headcount and project schedule is spent triaging RTL.
• Regressions tie up compute clusters for days waiting for failure classification.</a:t>
            </a:r>
          </a:p>
        </p:txBody>
      </p:sp>
      <p:sp>
        <p:nvSpPr>
          <p:cNvPr id="6" name="Rounded Rectangle 5"/>
          <p:cNvSpPr/>
          <p:nvPr/>
        </p:nvSpPr>
        <p:spPr>
          <a:xfrm>
            <a:off x="6126480" y="1371600"/>
            <a:ext cx="5212080" cy="228600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508760"/>
            <a:ext cx="4754880" cy="2011680"/>
          </a:xfrm>
          <a:prstGeom prst="rect">
            <a:avLst/>
          </a:prstGeom>
          <a:noFill/>
        </p:spPr>
        <p:txBody>
          <a:bodyPr wrap="square">
            <a:spAutoFit/>
          </a:bodyPr>
          <a:lstStyle/>
          <a:p>
            <a:r>
              <a:rPr sz="1300" b="1">
                <a:solidFill>
                  <a:srgbClr val="D97706"/>
                </a:solidFill>
              </a:rPr>
              <a:t>2. Exploding Complexity &amp; Mask Re-Spin Costs
</a:t>
            </a:r>
          </a:p>
          <a:p>
            <a:r>
              <a:rPr sz="1000">
                <a:solidFill>
                  <a:srgbClr val="334155"/>
                </a:solidFill>
              </a:rPr>
              <a:t>• Modern SoCs pack 100M+ to tens of billions of transistors with complex clock domains.
• A single escaped functional bug requires a physical silicon mask re-spin costing $15M to $30M+.
• Tape-out slips lead to severe market share erosion and revenue loss.</a:t>
            </a:r>
          </a:p>
        </p:txBody>
      </p:sp>
      <p:sp>
        <p:nvSpPr>
          <p:cNvPr id="8" name="Rounded Rectangle 7"/>
          <p:cNvSpPr/>
          <p:nvPr/>
        </p:nvSpPr>
        <p:spPr>
          <a:xfrm>
            <a:off x="731520" y="3840480"/>
            <a:ext cx="5212080" cy="228600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977640"/>
            <a:ext cx="4754880" cy="2011680"/>
          </a:xfrm>
          <a:prstGeom prst="rect">
            <a:avLst/>
          </a:prstGeom>
          <a:noFill/>
        </p:spPr>
        <p:txBody>
          <a:bodyPr wrap="square">
            <a:spAutoFit/>
          </a:bodyPr>
          <a:lstStyle/>
          <a:p>
            <a:r>
              <a:rPr sz="1300" b="1">
                <a:solidFill>
                  <a:srgbClr val="0B4D32"/>
                </a:solidFill>
              </a:rPr>
              <a:t>3. Acute Senior Verification Talent Shortage
</a:t>
            </a:r>
          </a:p>
          <a:p>
            <a:r>
              <a:rPr sz="1000">
                <a:solidFill>
                  <a:srgbClr val="334155"/>
                </a:solidFill>
              </a:rPr>
              <a:t>• The global semiconductor industry faces a deficit of 30,000+ verification engineers.
• Senior engineers spend 60% of their day manually wading through 50,000-line simulation logs.
• Repetitive manual triage causes engineer burnout and high turnover.</a:t>
            </a:r>
          </a:p>
        </p:txBody>
      </p:sp>
      <p:sp>
        <p:nvSpPr>
          <p:cNvPr id="10" name="Rounded Rectangle 9"/>
          <p:cNvSpPr/>
          <p:nvPr/>
        </p:nvSpPr>
        <p:spPr>
          <a:xfrm>
            <a:off x="6126480" y="3840480"/>
            <a:ext cx="5212080" cy="228600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3977640"/>
            <a:ext cx="4754880" cy="2011680"/>
          </a:xfrm>
          <a:prstGeom prst="rect">
            <a:avLst/>
          </a:prstGeom>
          <a:noFill/>
        </p:spPr>
        <p:txBody>
          <a:bodyPr wrap="square">
            <a:spAutoFit/>
          </a:bodyPr>
          <a:lstStyle/>
          <a:p>
            <a:r>
              <a:rPr sz="1300" b="1">
                <a:solidFill>
                  <a:srgbClr val="0284C7"/>
                </a:solidFill>
              </a:rPr>
              <a:t>4. Disconnected Specs &amp; Coverage Closure Stalls
</a:t>
            </a:r>
          </a:p>
          <a:p>
            <a:r>
              <a:rPr sz="1000">
                <a:solidFill>
                  <a:srgbClr val="334155"/>
                </a:solidFill>
              </a:rPr>
              <a:t>• Architectural specifications (Word/PDF) drift away from SystemVerilog testbenches.
• Verification teams spend 6-8 weeks stuck at 85% coverage unable to hit corner-case bins.
• Lack of automated requirement-to-test traceability creates ISO 26262 audit compliance risk.</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Tn>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CORE INNOVATION  •  </a:t>
            </a:r>
            <a:r>
              <a:rPr sz="2100" b="1">
                <a:solidFill>
                  <a:srgbClr val="0B4D32"/>
                </a:solidFill>
                <a:latin typeface="Arial"/>
              </a:rPr>
              <a:t>Topic 3: AI Approach — Deterministic Multi-Agent Cognitive Pipeline</a:t>
            </a:r>
          </a:p>
        </p:txBody>
      </p:sp>
      <p:sp>
        <p:nvSpPr>
          <p:cNvPr id="4" name="Rounded Rectangle 3"/>
          <p:cNvSpPr/>
          <p:nvPr/>
        </p:nvSpPr>
        <p:spPr>
          <a:xfrm>
            <a:off x="731520" y="1371600"/>
            <a:ext cx="5212080" cy="484632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4572000"/>
          </a:xfrm>
          <a:prstGeom prst="rect">
            <a:avLst/>
          </a:prstGeom>
          <a:noFill/>
        </p:spPr>
        <p:txBody>
          <a:bodyPr wrap="square">
            <a:spAutoFit/>
          </a:bodyPr>
          <a:lstStyle/>
          <a:p>
            <a:r>
              <a:rPr sz="1400" b="1">
                <a:solidFill>
                  <a:srgbClr val="DC2626"/>
                </a:solidFill>
              </a:rPr>
              <a:t>Why Generic AI (ChatGPT / Copilot) Fails in Silicon
</a:t>
            </a:r>
          </a:p>
          <a:p>
            <a:r>
              <a:rPr b="1" sz="1050">
                <a:solidFill>
                  <a:srgbClr val="0F172A"/>
                </a:solidFill>
              </a:rPr>
              <a:t>❌ Hallucinates Non-Existent Hardware: </a:t>
            </a:r>
            <a:r>
              <a:rPr sz="1000">
                <a:solidFill>
                  <a:srgbClr val="334155"/>
                </a:solidFill>
              </a:rPr>
              <a:t>Suggests software libraries or invalid SystemVerilog syntax that fails downstream synthesis.
</a:t>
            </a:r>
          </a:p>
          <a:p>
            <a:r>
              <a:rPr b="1" sz="1050">
                <a:solidFill>
                  <a:srgbClr val="0F172A"/>
                </a:solidFill>
              </a:rPr>
              <a:t>❌ Blind to Waveform Timestamps: </a:t>
            </a:r>
            <a:r>
              <a:rPr sz="1000">
                <a:solidFill>
                  <a:srgbClr val="334155"/>
                </a:solidFill>
              </a:rPr>
              <a:t>Cannot parse cycle-by-cycle VCD/FSDB temporal transitions or physical clock edges.
</a:t>
            </a:r>
          </a:p>
          <a:p>
            <a:r>
              <a:rPr b="1" sz="1050">
                <a:solidFill>
                  <a:srgbClr val="0F172A"/>
                </a:solidFill>
              </a:rPr>
              <a:t>❌ No Structural HDL Understanding: </a:t>
            </a:r>
            <a:r>
              <a:rPr sz="1000">
                <a:solidFill>
                  <a:srgbClr val="334155"/>
                </a:solidFill>
              </a:rPr>
              <a:t>Lacks semantic knowledge of fan-in logic cones, CDC synchronizers, or 4-state simulation (X/Z).
</a:t>
            </a:r>
          </a:p>
          <a:p>
            <a:r>
              <a:rPr b="1" sz="1050">
                <a:solidFill>
                  <a:srgbClr val="0F172A"/>
                </a:solidFill>
              </a:rPr>
              <a:t>❌ No Execution Sandbox: </a:t>
            </a:r>
            <a:r>
              <a:rPr sz="1000">
                <a:solidFill>
                  <a:srgbClr val="334155"/>
                </a:solidFill>
              </a:rPr>
              <a:t>Generates unchecked code without verifying whether regression tests pass or fail.
</a:t>
            </a:r>
          </a:p>
        </p:txBody>
      </p:sp>
      <p:sp>
        <p:nvSpPr>
          <p:cNvPr id="6" name="Rounded Rectangle 5"/>
          <p:cNvSpPr/>
          <p:nvPr/>
        </p:nvSpPr>
        <p:spPr>
          <a:xfrm>
            <a:off x="6217920" y="1371600"/>
            <a:ext cx="521208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4572000"/>
          </a:xfrm>
          <a:prstGeom prst="rect">
            <a:avLst/>
          </a:prstGeom>
          <a:noFill/>
        </p:spPr>
        <p:txBody>
          <a:bodyPr wrap="square">
            <a:spAutoFit/>
          </a:bodyPr>
          <a:lstStyle/>
          <a:p>
            <a:r>
              <a:rPr sz="1400" b="1">
                <a:solidFill>
                  <a:srgbClr val="0B4D32"/>
                </a:solidFill>
              </a:rPr>
              <a:t>The VeriSight Multi-Agent Solution
</a:t>
            </a:r>
          </a:p>
          <a:p>
            <a:r>
              <a:rPr b="1" sz="1050">
                <a:solidFill>
                  <a:srgbClr val="0F172A"/>
                </a:solidFill>
              </a:rPr>
              <a:t>✅ 9 Deterministic Decision Rules: </a:t>
            </a:r>
            <a:r>
              <a:rPr sz="1000">
                <a:solidFill>
                  <a:srgbClr val="334155"/>
                </a:solidFill>
              </a:rPr>
              <a:t>Mathematical rules strictly categorize bugs as RTL vs TB vs Spec vs Unknown (Zero Hallucination).
</a:t>
            </a:r>
          </a:p>
          <a:p>
            <a:r>
              <a:rPr b="1" sz="1050">
                <a:solidFill>
                  <a:srgbClr val="0F172A"/>
                </a:solidFill>
              </a:rPr>
              <a:t>✅ Static pyslang AST X-Tracer: </a:t>
            </a:r>
            <a:r>
              <a:rPr sz="1000">
                <a:solidFill>
                  <a:srgbClr val="334155"/>
                </a:solidFill>
              </a:rPr>
              <a:t>Traverses genuine elaborated SystemVerilog AST to flag reset-less sequential registers without simulation.
</a:t>
            </a:r>
          </a:p>
          <a:p>
            <a:r>
              <a:rPr b="1" sz="1050">
                <a:solidFill>
                  <a:srgbClr val="0F172A"/>
                </a:solidFill>
              </a:rPr>
              <a:t>✅ Multi-Modal Waveform Slicing: </a:t>
            </a:r>
            <a:r>
              <a:rPr sz="1000">
                <a:solidFill>
                  <a:srgbClr val="334155"/>
                </a:solidFill>
              </a:rPr>
              <a:t>Extracts +/- 20 cycles around assertion failure timestamp for sub-cycle precision using pywellen.
</a:t>
            </a:r>
          </a:p>
          <a:p>
            <a:r>
              <a:rPr b="1" sz="1050">
                <a:solidFill>
                  <a:srgbClr val="0F172A"/>
                </a:solidFill>
              </a:rPr>
              <a:t>✅ Closed-Loop Sandbox Validation: </a:t>
            </a:r>
            <a:r>
              <a:rPr sz="1000">
                <a:solidFill>
                  <a:srgbClr val="334155"/>
                </a:solidFill>
              </a:rPr>
              <a:t>Every patch is re-compiled in an isolated sandbox with zero human intervention.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7" name="Title 1"/>
          <p:cNvSpPr>
            <a:spLocks noGrp="1"/>
          </p:cNvSpPr>
          <p:nvPr/>
        </p:nvSpPr>
        <p:spPr>
          <a:xfrm>
            <a:off x="381000" y="457200"/>
            <a:ext cx="10515600" cy="7058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Calibri" panose="020F0502020204030204" charset="0"/>
                <a:ea typeface="Calibri" panose="020F0502020204030204"/>
                <a:cs typeface="Calibri" panose="020F0502020204030204" charset="0"/>
              </a:rPr>
              <a:t>VERISIGHT SYSTEM ARCHITECTURE</a:t>
            </a:r>
            <a:endParaRPr lang="en-US" sz="3200" b="1">
              <a:latin typeface="Calibri" panose="020F0502020204030204" charset="0"/>
              <a:cs typeface="Calibri" panose="020F0502020204030204" charset="0"/>
            </a:endParaRPr>
          </a:p>
        </p:txBody>
      </p:sp>
      <p:sp>
        <p:nvSpPr>
          <p:cNvPr id="10" name="Subtitle"/>
          <p:cNvSpPr txBox="1"/>
          <p:nvPr/>
        </p:nvSpPr>
        <p:spPr>
          <a:xfrm>
            <a:off x="521208" y="1097280"/>
            <a:ext cx="8686800" cy="320040"/>
          </a:xfrm>
          <a:prstGeom prst="rect">
            <a:avLst/>
          </a:prstGeom>
          <a:noFill/>
        </p:spPr>
        <p:txBody>
          <a:bodyPr wrap="square" lIns="0" tIns="0" rIns="0" bIns="0" anchor="t">
            <a:noAutofit/>
          </a:bodyPr>
          <a:lstStyle/>
          <a:p>
            <a:pPr algn="l">
              <a:spcAft>
                <a:spcPts val="800"/>
              </a:spcAft>
            </a:pPr>
            <a:r>
              <a:rPr lang="en-US" sz="1600" b="1">
                <a:solidFill>
                  <a:srgbClr val="475569"/>
                </a:solidFill>
                <a:latin typeface="Calibri" panose="020F0502020204030204"/>
              </a:rPr>
              <a:t>Multi-Agent Autonomous Fabric</a:t>
            </a:r>
            <a:endParaRPr lang="en-US" sz="1600" b="1">
              <a:solidFill>
                <a:srgbClr val="475569"/>
              </a:solidFill>
              <a:latin typeface="Calibri" panose="020F0502020204030204"/>
            </a:endParaRPr>
          </a:p>
        </p:txBody>
      </p:sp>
      <p:sp>
        <p:nvSpPr>
          <p:cNvPr id="11" name="Verification Inputs"/>
          <p:cNvSpPr/>
          <p:nvPr/>
        </p:nvSpPr>
        <p:spPr>
          <a:xfrm>
            <a:off x="457200" y="1554480"/>
            <a:ext cx="2377440" cy="4754880"/>
          </a:xfrm>
          <a:prstGeom prst="roundRect">
            <a:avLst>
              <a:gd name="adj" fmla="val 8000"/>
            </a:avLst>
          </a:prstGeom>
          <a:solidFill>
            <a:srgbClr val="FFFFFF"/>
          </a:solidFill>
          <a:ln w="38100">
            <a:solidFill>
              <a:srgbClr val="0B5CAD"/>
            </a:solidFill>
          </a:ln>
        </p:spPr>
        <p:txBody>
          <a:bodyPr wrap="square" lIns="137160" tIns="137160" rIns="137160" bIns="137160" anchor="t">
            <a:noAutofit/>
          </a:bodyPr>
          <a:lstStyle/>
          <a:p>
            <a:pPr algn="l">
              <a:spcAft>
                <a:spcPts val="800"/>
              </a:spcAft>
            </a:pPr>
            <a:r>
              <a:rPr lang="en-US" sz="1500" b="1">
                <a:solidFill>
                  <a:srgbClr val="0B5CAD"/>
                </a:solidFill>
                <a:latin typeface="Calibri" panose="020F0502020204030204"/>
              </a:rPr>
              <a:t>VERIFICATION INPUTS</a:t>
            </a:r>
            <a:endParaRPr lang="en-US" sz="1500" b="1">
              <a:solidFill>
                <a:srgbClr val="0B5CAD"/>
              </a:solidFill>
              <a:latin typeface="Calibri" panose="020F0502020204030204"/>
            </a:endParaRPr>
          </a:p>
          <a:p>
            <a:pPr algn="l"/>
            <a:r>
              <a:rPr lang="en-US" sz="1400" b="1">
                <a:solidFill>
                  <a:srgbClr val="0B5CAD"/>
                </a:solidFill>
                <a:latin typeface="Calibri" panose="020F0502020204030204"/>
              </a:rPr>
              <a:t>Specification Docs</a:t>
            </a:r>
            <a:endParaRPr lang="en-US" sz="1400" b="1">
              <a:solidFill>
                <a:srgbClr val="0B5CAD"/>
              </a:solidFill>
              <a:latin typeface="Calibri" panose="020F0502020204030204"/>
            </a:endParaRPr>
          </a:p>
          <a:p>
            <a:pPr algn="l">
              <a:spcAft>
                <a:spcPts val="500"/>
              </a:spcAft>
            </a:pPr>
            <a:r>
              <a:rPr lang="en-US" sz="1200">
                <a:solidFill>
                  <a:srgbClr val="475569"/>
                </a:solidFill>
                <a:latin typeface="Calibri" panose="020F0502020204030204"/>
              </a:rPr>
              <a:t>PDF, Markdown, Text</a:t>
            </a:r>
            <a:endParaRPr lang="en-US" sz="1200">
              <a:solidFill>
                <a:srgbClr val="475569"/>
              </a:solidFill>
              <a:latin typeface="Calibri" panose="020F0502020204030204"/>
            </a:endParaRPr>
          </a:p>
          <a:p>
            <a:pPr algn="l"/>
            <a:r>
              <a:rPr lang="en-US" sz="1400" b="1">
                <a:solidFill>
                  <a:srgbClr val="0B5CAD"/>
                </a:solidFill>
                <a:latin typeface="Calibri" panose="020F0502020204030204"/>
              </a:rPr>
              <a:t>RTL Source Code</a:t>
            </a:r>
            <a:endParaRPr lang="en-US" sz="1400" b="1">
              <a:solidFill>
                <a:srgbClr val="0B5CAD"/>
              </a:solidFill>
              <a:latin typeface="Calibri" panose="020F0502020204030204"/>
            </a:endParaRPr>
          </a:p>
          <a:p>
            <a:pPr algn="l">
              <a:spcAft>
                <a:spcPts val="500"/>
              </a:spcAft>
            </a:pPr>
            <a:r>
              <a:rPr lang="en-US" sz="1200">
                <a:solidFill>
                  <a:srgbClr val="475569"/>
                </a:solidFill>
                <a:latin typeface="Calibri" panose="020F0502020204030204"/>
              </a:rPr>
              <a:t>SystemVerilog / Verilog</a:t>
            </a:r>
            <a:endParaRPr lang="en-US" sz="1200">
              <a:solidFill>
                <a:srgbClr val="475569"/>
              </a:solidFill>
              <a:latin typeface="Calibri" panose="020F0502020204030204"/>
            </a:endParaRPr>
          </a:p>
          <a:p>
            <a:pPr algn="l"/>
            <a:r>
              <a:rPr lang="en-US" sz="1400" b="1">
                <a:solidFill>
                  <a:srgbClr val="0B5CAD"/>
                </a:solidFill>
                <a:latin typeface="Calibri" panose="020F0502020204030204"/>
              </a:rPr>
              <a:t>UVM Testbench</a:t>
            </a:r>
            <a:endParaRPr lang="en-US" sz="1400" b="1">
              <a:solidFill>
                <a:srgbClr val="0B5CAD"/>
              </a:solidFill>
              <a:latin typeface="Calibri" panose="020F0502020204030204"/>
            </a:endParaRPr>
          </a:p>
          <a:p>
            <a:pPr algn="l">
              <a:spcAft>
                <a:spcPts val="500"/>
              </a:spcAft>
            </a:pPr>
            <a:r>
              <a:rPr lang="en-US" sz="1200">
                <a:solidFill>
                  <a:srgbClr val="475569"/>
                </a:solidFill>
                <a:latin typeface="Calibri" panose="020F0502020204030204"/>
              </a:rPr>
              <a:t>Classes, Sequences, SB</a:t>
            </a:r>
            <a:endParaRPr lang="en-US" sz="1200">
              <a:solidFill>
                <a:srgbClr val="475569"/>
              </a:solidFill>
              <a:latin typeface="Calibri" panose="020F0502020204030204"/>
            </a:endParaRPr>
          </a:p>
          <a:p>
            <a:pPr algn="l"/>
            <a:r>
              <a:rPr lang="en-US" sz="1400" b="1">
                <a:solidFill>
                  <a:srgbClr val="0B5CAD"/>
                </a:solidFill>
                <a:latin typeface="Calibri" panose="020F0502020204030204"/>
              </a:rPr>
              <a:t>Simulation Logs</a:t>
            </a:r>
            <a:endParaRPr lang="en-US" sz="1400" b="1">
              <a:solidFill>
                <a:srgbClr val="0B5CAD"/>
              </a:solidFill>
              <a:latin typeface="Calibri" panose="020F0502020204030204"/>
            </a:endParaRPr>
          </a:p>
          <a:p>
            <a:pPr algn="l">
              <a:spcAft>
                <a:spcPts val="500"/>
              </a:spcAft>
            </a:pPr>
            <a:r>
              <a:rPr lang="en-US" sz="1200">
                <a:solidFill>
                  <a:srgbClr val="475569"/>
                </a:solidFill>
                <a:latin typeface="Calibri" panose="020F0502020204030204"/>
              </a:rPr>
              <a:t>VCS, Questa, Icarus</a:t>
            </a:r>
            <a:endParaRPr lang="en-US" sz="1200">
              <a:solidFill>
                <a:srgbClr val="475569"/>
              </a:solidFill>
              <a:latin typeface="Calibri" panose="020F0502020204030204"/>
            </a:endParaRPr>
          </a:p>
          <a:p>
            <a:pPr algn="l"/>
            <a:r>
              <a:rPr lang="en-US" sz="1400" b="1">
                <a:solidFill>
                  <a:srgbClr val="0B5CAD"/>
                </a:solidFill>
                <a:latin typeface="Calibri" panose="020F0502020204030204"/>
              </a:rPr>
              <a:t>Coverage Reports</a:t>
            </a:r>
            <a:endParaRPr lang="en-US" sz="1400" b="1">
              <a:solidFill>
                <a:srgbClr val="0B5CAD"/>
              </a:solidFill>
              <a:latin typeface="Calibri" panose="020F0502020204030204"/>
            </a:endParaRPr>
          </a:p>
          <a:p>
            <a:pPr algn="l">
              <a:spcAft>
                <a:spcPts val="500"/>
              </a:spcAft>
            </a:pPr>
            <a:r>
              <a:rPr lang="en-US" sz="1200">
                <a:solidFill>
                  <a:srgbClr val="475569"/>
                </a:solidFill>
                <a:latin typeface="Calibri" panose="020F0502020204030204"/>
              </a:rPr>
              <a:t>UCDB / vDB text reports</a:t>
            </a:r>
            <a:endParaRPr lang="en-US" sz="1200">
              <a:solidFill>
                <a:srgbClr val="475569"/>
              </a:solidFill>
              <a:latin typeface="Calibri" panose="020F0502020204030204"/>
            </a:endParaRPr>
          </a:p>
          <a:p>
            <a:pPr algn="l"/>
            <a:r>
              <a:rPr lang="en-US" sz="1400" b="1">
                <a:solidFill>
                  <a:srgbClr val="0B5CAD"/>
                </a:solidFill>
                <a:latin typeface="Calibri" panose="020F0502020204030204"/>
              </a:rPr>
              <a:t>VCD Waveforms</a:t>
            </a:r>
            <a:endParaRPr lang="en-US" sz="1400" b="1">
              <a:solidFill>
                <a:srgbClr val="0B5CAD"/>
              </a:solidFill>
              <a:latin typeface="Calibri" panose="020F0502020204030204"/>
            </a:endParaRPr>
          </a:p>
          <a:p>
            <a:pPr algn="l">
              <a:spcAft>
                <a:spcPts val="500"/>
              </a:spcAft>
            </a:pPr>
            <a:r>
              <a:rPr lang="en-US" sz="1200">
                <a:solidFill>
                  <a:srgbClr val="475569"/>
                </a:solidFill>
                <a:latin typeface="Calibri" panose="020F0502020204030204"/>
              </a:rPr>
              <a:t>Value Change Dump</a:t>
            </a:r>
            <a:endParaRPr lang="en-US" sz="1200">
              <a:solidFill>
                <a:srgbClr val="475569"/>
              </a:solidFill>
              <a:latin typeface="Calibri" panose="020F0502020204030204"/>
            </a:endParaRPr>
          </a:p>
          <a:p>
            <a:pPr algn="l"/>
            <a:r>
              <a:rPr lang="en-US" sz="1400" b="1">
                <a:solidFill>
                  <a:srgbClr val="0B5CAD"/>
                </a:solidFill>
                <a:latin typeface="Calibri" panose="020F0502020204030204"/>
              </a:rPr>
              <a:t>Gate Netlists</a:t>
            </a:r>
            <a:endParaRPr lang="en-US" sz="1400" b="1">
              <a:solidFill>
                <a:srgbClr val="0B5CAD"/>
              </a:solidFill>
              <a:latin typeface="Calibri" panose="020F0502020204030204"/>
            </a:endParaRPr>
          </a:p>
          <a:p>
            <a:pPr algn="l">
              <a:spcAft>
                <a:spcPts val="500"/>
              </a:spcAft>
            </a:pPr>
            <a:r>
              <a:rPr lang="en-US" sz="1200">
                <a:solidFill>
                  <a:srgbClr val="475569"/>
                </a:solidFill>
                <a:latin typeface="Calibri" panose="020F0502020204030204"/>
              </a:rPr>
              <a:t>Yosys / Foundry gates</a:t>
            </a:r>
            <a:endParaRPr lang="en-US" sz="1200">
              <a:solidFill>
                <a:srgbClr val="475569"/>
              </a:solidFill>
              <a:latin typeface="Calibri" panose="020F0502020204030204"/>
            </a:endParaRPr>
          </a:p>
        </p:txBody>
      </p:sp>
      <p:sp>
        <p:nvSpPr>
          <p:cNvPr id="12" name="Arrow inputs to A1"/>
          <p:cNvSpPr/>
          <p:nvPr/>
        </p:nvSpPr>
        <p:spPr>
          <a:xfrm>
            <a:off x="2852928" y="2542032"/>
            <a:ext cx="365760" cy="365760"/>
          </a:xfrm>
          <a:prstGeom prst="rightArrow">
            <a:avLst/>
          </a:prstGeom>
          <a:solidFill>
            <a:srgbClr val="F59E0B"/>
          </a:solidFill>
          <a:ln>
            <a:noFill/>
          </a:ln>
        </p:spPr>
        <p:txBody>
          <a:bodyPr wrap="square" lIns="109728" tIns="109728" rIns="109728" bIns="109728" anchor="t">
            <a:noAutofit/>
          </a:bodyPr>
          <a:lstStyle/>
          <a:p>
            <a:endParaRPr lang="en-US"/>
          </a:p>
        </p:txBody>
      </p:sp>
      <p:sp>
        <p:nvSpPr>
          <p:cNvPr id="13" name="Agent 1"/>
          <p:cNvSpPr/>
          <p:nvPr/>
        </p:nvSpPr>
        <p:spPr>
          <a:xfrm>
            <a:off x="3246120" y="1554480"/>
            <a:ext cx="2651760" cy="2286000"/>
          </a:xfrm>
          <a:prstGeom prst="roundRect">
            <a:avLst>
              <a:gd name="adj" fmla="val 8000"/>
            </a:avLst>
          </a:prstGeom>
          <a:solidFill>
            <a:srgbClr val="FFFFFF"/>
          </a:solidFill>
          <a:ln w="38100">
            <a:solidFill>
              <a:srgbClr val="0A7EA4"/>
            </a:solidFill>
          </a:ln>
        </p:spPr>
        <p:txBody>
          <a:bodyPr wrap="square" lIns="137160" tIns="137160" rIns="137160" bIns="137160" anchor="t">
            <a:noAutofit/>
          </a:bodyPr>
          <a:lstStyle/>
          <a:p>
            <a:pPr algn="l">
              <a:spcAft>
                <a:spcPts val="800"/>
              </a:spcAft>
            </a:pPr>
            <a:r>
              <a:rPr lang="en-US" sz="1400" b="1">
                <a:solidFill>
                  <a:srgbClr val="0A7EA4"/>
                </a:solidFill>
                <a:latin typeface="Calibri" panose="020F0502020204030204"/>
              </a:rPr>
              <a:t>AGENT 1: KNOWLEDGE ENGINE</a:t>
            </a:r>
            <a:endParaRPr lang="en-US" sz="1400" b="1">
              <a:solidFill>
                <a:srgbClr val="0A7EA4"/>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Multi-Modal AST Extraction</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Port Map &amp; Interface Hierarchy</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Tokenized Simulation Log Index</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VCD Waveform Parser (pywellen)</a:t>
            </a:r>
            <a:endParaRPr lang="en-US" sz="1200">
              <a:solidFill>
                <a:srgbClr val="1B2A41"/>
              </a:solidFill>
              <a:latin typeface="Calibri" panose="020F0502020204030204"/>
            </a:endParaRPr>
          </a:p>
          <a:p>
            <a:pPr marL="171450" indent="-171450" algn="l">
              <a:spcAft>
                <a:spcPts val="400"/>
              </a:spcAft>
              <a:buClr>
                <a:srgbClr val="15803D"/>
              </a:buClr>
              <a:buFont typeface="Arial" panose="020B0604020202020204"/>
              <a:buChar char="•"/>
            </a:pPr>
            <a:r>
              <a:rPr lang="en-US" sz="1200" b="1">
                <a:solidFill>
                  <a:srgbClr val="15803D"/>
                </a:solidFill>
                <a:latin typeface="Calibri" panose="020F0502020204030204"/>
              </a:rPr>
              <a:t>Outputs: Unified knowledge.json</a:t>
            </a:r>
            <a:endParaRPr lang="en-US" sz="1200" b="1">
              <a:solidFill>
                <a:srgbClr val="15803D"/>
              </a:solidFill>
              <a:latin typeface="Calibri" panose="020F0502020204030204"/>
            </a:endParaRPr>
          </a:p>
        </p:txBody>
      </p:sp>
      <p:sp>
        <p:nvSpPr>
          <p:cNvPr id="14" name="Arrow A1 to A2"/>
          <p:cNvSpPr/>
          <p:nvPr/>
        </p:nvSpPr>
        <p:spPr>
          <a:xfrm>
            <a:off x="4407408" y="3858768"/>
            <a:ext cx="329184" cy="237744"/>
          </a:xfrm>
          <a:prstGeom prst="downArrow">
            <a:avLst/>
          </a:prstGeom>
          <a:solidFill>
            <a:srgbClr val="F59E0B"/>
          </a:solidFill>
          <a:ln>
            <a:noFill/>
          </a:ln>
        </p:spPr>
        <p:txBody>
          <a:bodyPr wrap="square" lIns="109728" tIns="109728" rIns="109728" bIns="109728" anchor="t">
            <a:noAutofit/>
          </a:bodyPr>
          <a:lstStyle/>
          <a:p>
            <a:endParaRPr lang="en-US"/>
          </a:p>
        </p:txBody>
      </p:sp>
      <p:sp>
        <p:nvSpPr>
          <p:cNvPr id="15" name="Agent 2"/>
          <p:cNvSpPr/>
          <p:nvPr/>
        </p:nvSpPr>
        <p:spPr>
          <a:xfrm>
            <a:off x="3246120" y="4114800"/>
            <a:ext cx="2651760" cy="2194560"/>
          </a:xfrm>
          <a:prstGeom prst="roundRect">
            <a:avLst>
              <a:gd name="adj" fmla="val 8000"/>
            </a:avLst>
          </a:prstGeom>
          <a:solidFill>
            <a:srgbClr val="FFFFFF"/>
          </a:solidFill>
          <a:ln w="38100">
            <a:solidFill>
              <a:srgbClr val="7A2FD0"/>
            </a:solidFill>
          </a:ln>
        </p:spPr>
        <p:txBody>
          <a:bodyPr wrap="square" lIns="137160" tIns="137160" rIns="137160" bIns="137160" anchor="t">
            <a:noAutofit/>
          </a:bodyPr>
          <a:lstStyle/>
          <a:p>
            <a:pPr algn="l">
              <a:spcAft>
                <a:spcPts val="800"/>
              </a:spcAft>
            </a:pPr>
            <a:r>
              <a:rPr lang="en-US" sz="1500" b="1">
                <a:solidFill>
                  <a:srgbClr val="7A2FD0"/>
                </a:solidFill>
                <a:latin typeface="Calibri" panose="020F0502020204030204"/>
              </a:rPr>
              <a:t>AGENT 2: CLASSIFIER</a:t>
            </a:r>
            <a:endParaRPr lang="en-US" sz="1500" b="1">
              <a:solidFill>
                <a:srgbClr val="7A2FD0"/>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9 Formal Decision Rules</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Multi-Hop Evidence Graph</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RTL Bug vs TB Bug vs Spec Bug</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Bayesian Confidence Scoring</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Alternative Hypothesis Review</a:t>
            </a:r>
            <a:endParaRPr lang="en-US" sz="1200">
              <a:solidFill>
                <a:srgbClr val="1B2A41"/>
              </a:solidFill>
              <a:latin typeface="Calibri" panose="020F0502020204030204"/>
            </a:endParaRPr>
          </a:p>
          <a:p>
            <a:pPr marL="171450" indent="-171450" algn="l">
              <a:spcAft>
                <a:spcPts val="400"/>
              </a:spcAft>
              <a:buClr>
                <a:srgbClr val="15803D"/>
              </a:buClr>
              <a:buFont typeface="Arial" panose="020B0604020202020204"/>
              <a:buChar char="•"/>
            </a:pPr>
            <a:r>
              <a:rPr lang="en-US" sz="1200" b="1">
                <a:solidFill>
                  <a:srgbClr val="15803D"/>
                </a:solidFill>
                <a:latin typeface="Calibri" panose="020F0502020204030204"/>
              </a:rPr>
              <a:t>Outputs: summary.json</a:t>
            </a:r>
            <a:endParaRPr lang="en-US" sz="1200" b="1">
              <a:solidFill>
                <a:srgbClr val="15803D"/>
              </a:solidFill>
              <a:latin typeface="Calibri" panose="020F0502020204030204"/>
            </a:endParaRPr>
          </a:p>
        </p:txBody>
      </p:sp>
      <p:sp>
        <p:nvSpPr>
          <p:cNvPr id="16" name="Arrow A2 to A3"/>
          <p:cNvSpPr/>
          <p:nvPr/>
        </p:nvSpPr>
        <p:spPr>
          <a:xfrm>
            <a:off x="5916168" y="5029200"/>
            <a:ext cx="365760" cy="365760"/>
          </a:xfrm>
          <a:prstGeom prst="rightArrow">
            <a:avLst/>
          </a:prstGeom>
          <a:solidFill>
            <a:srgbClr val="F59E0B"/>
          </a:solidFill>
          <a:ln>
            <a:noFill/>
          </a:ln>
        </p:spPr>
        <p:txBody>
          <a:bodyPr wrap="square" lIns="109728" tIns="109728" rIns="109728" bIns="109728" anchor="t">
            <a:noAutofit/>
          </a:bodyPr>
          <a:lstStyle/>
          <a:p>
            <a:endParaRPr lang="en-US"/>
          </a:p>
        </p:txBody>
      </p:sp>
      <p:sp>
        <p:nvSpPr>
          <p:cNvPr id="17" name="Agent 3"/>
          <p:cNvSpPr/>
          <p:nvPr/>
        </p:nvSpPr>
        <p:spPr>
          <a:xfrm>
            <a:off x="6309360" y="1554480"/>
            <a:ext cx="2743200" cy="4754880"/>
          </a:xfrm>
          <a:prstGeom prst="roundRect">
            <a:avLst>
              <a:gd name="adj" fmla="val 8000"/>
            </a:avLst>
          </a:prstGeom>
          <a:solidFill>
            <a:srgbClr val="FFFFFF"/>
          </a:solidFill>
          <a:ln w="38100">
            <a:solidFill>
              <a:srgbClr val="B45309"/>
            </a:solidFill>
          </a:ln>
        </p:spPr>
        <p:txBody>
          <a:bodyPr wrap="square" lIns="137160" tIns="137160" rIns="137160" bIns="137160" anchor="t">
            <a:noAutofit/>
          </a:bodyPr>
          <a:lstStyle/>
          <a:p>
            <a:pPr algn="l">
              <a:spcAft>
                <a:spcPts val="800"/>
              </a:spcAft>
            </a:pPr>
            <a:r>
              <a:rPr lang="en-US" sz="1500" b="1">
                <a:solidFill>
                  <a:srgbClr val="B45309"/>
                </a:solidFill>
                <a:latin typeface="Calibri" panose="020F0502020204030204"/>
              </a:rPr>
              <a:t>AGENT 3: RTL ANALYZER</a:t>
            </a:r>
            <a:endParaRPr lang="en-US" sz="1500" b="1">
              <a:solidFill>
                <a:srgbClr val="B45309"/>
              </a:solidFill>
              <a:latin typeface="Calibri" panose="020F0502020204030204"/>
            </a:endParaRPr>
          </a:p>
          <a:p>
            <a:pPr algn="l"/>
            <a:r>
              <a:rPr lang="en-US" sz="1400" b="1">
                <a:solidFill>
                  <a:srgbClr val="B45309"/>
                </a:solidFill>
                <a:latin typeface="Calibri" panose="020F0502020204030204"/>
              </a:rPr>
              <a:t>1. X-Tracer</a:t>
            </a:r>
            <a:endParaRPr lang="en-US" sz="1400" b="1">
              <a:solidFill>
                <a:srgbClr val="B45309"/>
              </a:solidFill>
              <a:latin typeface="Calibri" panose="020F0502020204030204"/>
            </a:endParaRPr>
          </a:p>
          <a:p>
            <a:pPr algn="l">
              <a:spcAft>
                <a:spcPts val="500"/>
              </a:spcAft>
            </a:pPr>
            <a:r>
              <a:rPr lang="en-US" sz="1200">
                <a:solidFill>
                  <a:srgbClr val="475569"/>
                </a:solidFill>
                <a:latin typeface="Calibri" panose="020F0502020204030204"/>
              </a:rPr>
              <a:t>Backward VCD Netlist Tracing</a:t>
            </a:r>
            <a:endParaRPr lang="en-US" sz="1200">
              <a:solidFill>
                <a:srgbClr val="475569"/>
              </a:solidFill>
              <a:latin typeface="Calibri" panose="020F0502020204030204"/>
            </a:endParaRPr>
          </a:p>
          <a:p>
            <a:pPr algn="l"/>
            <a:r>
              <a:rPr lang="en-US" sz="1400" b="1">
                <a:solidFill>
                  <a:srgbClr val="B45309"/>
                </a:solidFill>
                <a:latin typeface="Calibri" panose="020F0502020204030204"/>
              </a:rPr>
              <a:t>2. Functional</a:t>
            </a:r>
            <a:endParaRPr lang="en-US" sz="1400" b="1">
              <a:solidFill>
                <a:srgbClr val="B45309"/>
              </a:solidFill>
              <a:latin typeface="Calibri" panose="020F0502020204030204"/>
            </a:endParaRPr>
          </a:p>
          <a:p>
            <a:pPr algn="l">
              <a:spcAft>
                <a:spcPts val="500"/>
              </a:spcAft>
            </a:pPr>
            <a:r>
              <a:rPr lang="en-US" sz="1200">
                <a:solidFill>
                  <a:srgbClr val="475569"/>
                </a:solidFill>
                <a:latin typeface="Calibri" panose="020F0502020204030204"/>
              </a:rPr>
              <a:t>Spec vs RTL Math Discrepancy</a:t>
            </a:r>
            <a:endParaRPr lang="en-US" sz="1200">
              <a:solidFill>
                <a:srgbClr val="475569"/>
              </a:solidFill>
              <a:latin typeface="Calibri" panose="020F0502020204030204"/>
            </a:endParaRPr>
          </a:p>
          <a:p>
            <a:pPr algn="l"/>
            <a:r>
              <a:rPr lang="en-US" sz="1400" b="1">
                <a:solidFill>
                  <a:srgbClr val="B45309"/>
                </a:solidFill>
                <a:latin typeface="Calibri" panose="020F0502020204030204"/>
              </a:rPr>
              <a:t>3. CDC Engine</a:t>
            </a:r>
            <a:endParaRPr lang="en-US" sz="1400" b="1">
              <a:solidFill>
                <a:srgbClr val="B45309"/>
              </a:solidFill>
              <a:latin typeface="Calibri" panose="020F0502020204030204"/>
            </a:endParaRPr>
          </a:p>
          <a:p>
            <a:pPr algn="l">
              <a:spcAft>
                <a:spcPts val="500"/>
              </a:spcAft>
            </a:pPr>
            <a:r>
              <a:rPr lang="en-US" sz="1200">
                <a:solidFill>
                  <a:srgbClr val="475569"/>
                </a:solidFill>
                <a:latin typeface="Calibri" panose="020F0502020204030204"/>
              </a:rPr>
              <a:t>Async Clock &amp; Metastability</a:t>
            </a:r>
            <a:endParaRPr lang="en-US" sz="1200">
              <a:solidFill>
                <a:srgbClr val="475569"/>
              </a:solidFill>
              <a:latin typeface="Calibri" panose="020F0502020204030204"/>
            </a:endParaRPr>
          </a:p>
          <a:p>
            <a:pPr algn="l"/>
            <a:r>
              <a:rPr lang="en-US" sz="1400" b="1">
                <a:solidFill>
                  <a:srgbClr val="B45309"/>
                </a:solidFill>
                <a:latin typeface="Calibri" panose="020F0502020204030204"/>
              </a:rPr>
              <a:t>4. AST Lint</a:t>
            </a:r>
            <a:endParaRPr lang="en-US" sz="1400" b="1">
              <a:solidFill>
                <a:srgbClr val="B45309"/>
              </a:solidFill>
              <a:latin typeface="Calibri" panose="020F0502020204030204"/>
            </a:endParaRPr>
          </a:p>
          <a:p>
            <a:pPr algn="l">
              <a:spcAft>
                <a:spcPts val="500"/>
              </a:spcAft>
            </a:pPr>
            <a:r>
              <a:rPr lang="en-US" sz="1200">
                <a:solidFill>
                  <a:srgbClr val="475569"/>
                </a:solidFill>
                <a:latin typeface="Calibri" panose="020F0502020204030204"/>
              </a:rPr>
              <a:t>Loops, Latches, Unassigned</a:t>
            </a:r>
            <a:endParaRPr lang="en-US" sz="1200">
              <a:solidFill>
                <a:srgbClr val="475569"/>
              </a:solidFill>
              <a:latin typeface="Calibri" panose="020F0502020204030204"/>
            </a:endParaRPr>
          </a:p>
          <a:p>
            <a:pPr algn="l"/>
            <a:r>
              <a:rPr lang="en-US" sz="1400" b="1">
                <a:solidFill>
                  <a:srgbClr val="B45309"/>
                </a:solidFill>
                <a:latin typeface="Calibri" panose="020F0502020204030204"/>
              </a:rPr>
              <a:t>5. Structural</a:t>
            </a:r>
            <a:endParaRPr lang="en-US" sz="1400" b="1">
              <a:solidFill>
                <a:srgbClr val="B45309"/>
              </a:solidFill>
              <a:latin typeface="Calibri" panose="020F0502020204030204"/>
            </a:endParaRPr>
          </a:p>
          <a:p>
            <a:pPr algn="l">
              <a:spcAft>
                <a:spcPts val="500"/>
              </a:spcAft>
            </a:pPr>
            <a:r>
              <a:rPr lang="en-US" sz="1200">
                <a:solidFill>
                  <a:srgbClr val="475569"/>
                </a:solidFill>
                <a:latin typeface="Calibri" panose="020F0502020204030204"/>
              </a:rPr>
              <a:t>FSM Deadlock &amp; State Graph</a:t>
            </a:r>
            <a:endParaRPr lang="en-US" sz="1200">
              <a:solidFill>
                <a:srgbClr val="475569"/>
              </a:solidFill>
              <a:latin typeface="Calibri" panose="020F0502020204030204"/>
            </a:endParaRPr>
          </a:p>
          <a:p>
            <a:pPr algn="l"/>
            <a:r>
              <a:rPr lang="en-US" sz="1400" b="1">
                <a:solidFill>
                  <a:srgbClr val="B45309"/>
                </a:solidFill>
                <a:latin typeface="Calibri" panose="020F0502020204030204"/>
              </a:rPr>
              <a:t>6. Protocol</a:t>
            </a:r>
            <a:endParaRPr lang="en-US" sz="1400" b="1">
              <a:solidFill>
                <a:srgbClr val="B45309"/>
              </a:solidFill>
              <a:latin typeface="Calibri" panose="020F0502020204030204"/>
            </a:endParaRPr>
          </a:p>
          <a:p>
            <a:pPr algn="l">
              <a:spcAft>
                <a:spcPts val="500"/>
              </a:spcAft>
            </a:pPr>
            <a:r>
              <a:rPr lang="en-US" sz="1200">
                <a:solidFill>
                  <a:srgbClr val="475569"/>
                </a:solidFill>
                <a:latin typeface="Calibri" panose="020F0502020204030204"/>
              </a:rPr>
              <a:t>AXI/AHB/APB Handshaking</a:t>
            </a:r>
            <a:endParaRPr lang="en-US" sz="1200">
              <a:solidFill>
                <a:srgbClr val="475569"/>
              </a:solidFill>
              <a:latin typeface="Calibri" panose="020F0502020204030204"/>
            </a:endParaRPr>
          </a:p>
          <a:p>
            <a:pPr algn="l"/>
            <a:r>
              <a:rPr lang="en-US" sz="1400" b="1">
                <a:solidFill>
                  <a:srgbClr val="B45309"/>
                </a:solidFill>
                <a:latin typeface="Calibri" panose="020F0502020204030204"/>
              </a:rPr>
              <a:t>7. Misc Timing</a:t>
            </a:r>
            <a:endParaRPr lang="en-US" sz="1400" b="1">
              <a:solidFill>
                <a:srgbClr val="B45309"/>
              </a:solidFill>
              <a:latin typeface="Calibri" panose="020F0502020204030204"/>
            </a:endParaRPr>
          </a:p>
          <a:p>
            <a:pPr algn="l">
              <a:spcAft>
                <a:spcPts val="500"/>
              </a:spcAft>
            </a:pPr>
            <a:r>
              <a:rPr lang="en-US" sz="1200">
                <a:solidFill>
                  <a:srgbClr val="475569"/>
                </a:solidFill>
                <a:latin typeface="Calibri" panose="020F0502020204030204"/>
              </a:rPr>
              <a:t>Races &amp; Reset Sequencing</a:t>
            </a:r>
            <a:endParaRPr lang="en-US" sz="1200">
              <a:solidFill>
                <a:srgbClr val="475569"/>
              </a:solidFill>
              <a:latin typeface="Calibri" panose="020F0502020204030204"/>
            </a:endParaRPr>
          </a:p>
        </p:txBody>
      </p:sp>
      <p:sp>
        <p:nvSpPr>
          <p:cNvPr id="18" name="Arrow A3 to A4"/>
          <p:cNvSpPr/>
          <p:nvPr/>
        </p:nvSpPr>
        <p:spPr>
          <a:xfrm>
            <a:off x="9070848" y="2542032"/>
            <a:ext cx="365760" cy="365760"/>
          </a:xfrm>
          <a:prstGeom prst="rightArrow">
            <a:avLst/>
          </a:prstGeom>
          <a:solidFill>
            <a:srgbClr val="F59E0B"/>
          </a:solidFill>
          <a:ln>
            <a:noFill/>
          </a:ln>
        </p:spPr>
        <p:txBody>
          <a:bodyPr wrap="square" lIns="109728" tIns="109728" rIns="109728" bIns="109728" anchor="t">
            <a:noAutofit/>
          </a:bodyPr>
          <a:lstStyle/>
          <a:p>
            <a:endParaRPr lang="en-US"/>
          </a:p>
        </p:txBody>
      </p:sp>
      <p:sp>
        <p:nvSpPr>
          <p:cNvPr id="19" name="Agent 4"/>
          <p:cNvSpPr/>
          <p:nvPr/>
        </p:nvSpPr>
        <p:spPr>
          <a:xfrm>
            <a:off x="9464040" y="1554480"/>
            <a:ext cx="2267712" cy="2286000"/>
          </a:xfrm>
          <a:prstGeom prst="roundRect">
            <a:avLst>
              <a:gd name="adj" fmla="val 8000"/>
            </a:avLst>
          </a:prstGeom>
          <a:solidFill>
            <a:srgbClr val="FFFFFF"/>
          </a:solidFill>
          <a:ln w="38100">
            <a:solidFill>
              <a:srgbClr val="15803D"/>
            </a:solidFill>
          </a:ln>
        </p:spPr>
        <p:txBody>
          <a:bodyPr wrap="square" lIns="137160" tIns="137160" rIns="137160" bIns="137160" anchor="t">
            <a:noAutofit/>
          </a:bodyPr>
          <a:lstStyle/>
          <a:p>
            <a:pPr algn="l">
              <a:spcAft>
                <a:spcPts val="800"/>
              </a:spcAft>
            </a:pPr>
            <a:r>
              <a:rPr lang="en-US" sz="1500" b="1">
                <a:solidFill>
                  <a:srgbClr val="15803D"/>
                </a:solidFill>
                <a:latin typeface="Calibri" panose="020F0502020204030204"/>
              </a:rPr>
              <a:t>AGENT 4: REPORTER</a:t>
            </a:r>
            <a:endParaRPr lang="en-US" sz="1500" b="1">
              <a:solidFill>
                <a:srgbClr val="15803D"/>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Interactive report.html</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Waveform Studio Integration</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Detailed report.md</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Schema error.json</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Executive summary.txt</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ChromaDB Session Archive</a:t>
            </a:r>
            <a:endParaRPr lang="en-US" sz="1200">
              <a:solidFill>
                <a:srgbClr val="1B2A41"/>
              </a:solidFill>
              <a:latin typeface="Calibri" panose="020F0502020204030204"/>
            </a:endParaRPr>
          </a:p>
        </p:txBody>
      </p:sp>
      <p:sp>
        <p:nvSpPr>
          <p:cNvPr id="20" name="Agent 5"/>
          <p:cNvSpPr/>
          <p:nvPr/>
        </p:nvSpPr>
        <p:spPr>
          <a:xfrm>
            <a:off x="9464040" y="4114800"/>
            <a:ext cx="2267712" cy="2194560"/>
          </a:xfrm>
          <a:prstGeom prst="roundRect">
            <a:avLst>
              <a:gd name="adj" fmla="val 8000"/>
            </a:avLst>
          </a:prstGeom>
          <a:solidFill>
            <a:srgbClr val="FFFFFF"/>
          </a:solidFill>
          <a:ln w="38100">
            <a:solidFill>
              <a:srgbClr val="C81E3C"/>
            </a:solidFill>
          </a:ln>
        </p:spPr>
        <p:txBody>
          <a:bodyPr wrap="square" lIns="137160" tIns="137160" rIns="137160" bIns="137160" anchor="t">
            <a:noAutofit/>
          </a:bodyPr>
          <a:lstStyle/>
          <a:p>
            <a:pPr algn="l">
              <a:spcAft>
                <a:spcPts val="800"/>
              </a:spcAft>
            </a:pPr>
            <a:r>
              <a:rPr lang="en-US" sz="1400" b="1">
                <a:solidFill>
                  <a:srgbClr val="C81E3C"/>
                </a:solidFill>
                <a:latin typeface="Calibri" panose="020F0502020204030204"/>
              </a:rPr>
              <a:t>AGENT 5: FIX GENERATOR</a:t>
            </a:r>
            <a:endParaRPr lang="en-US" sz="1400" b="1">
              <a:solidFill>
                <a:srgbClr val="C81E3C"/>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Minimal Code Region Fix</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Strict Non-Hallucination</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Unified proposed.patch</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Sandbox Syntax Validation</a:t>
            </a:r>
            <a:endParaRPr lang="en-US" sz="1200">
              <a:solidFill>
                <a:srgbClr val="1B2A41"/>
              </a:solidFill>
              <a:latin typeface="Calibri" panose="020F0502020204030204"/>
            </a:endParaRPr>
          </a:p>
          <a:p>
            <a:pPr marL="171450" indent="-171450" algn="l">
              <a:spcAft>
                <a:spcPts val="400"/>
              </a:spcAft>
              <a:buClr>
                <a:srgbClr val="1B2A41"/>
              </a:buClr>
              <a:buFont typeface="Arial" panose="020B0604020202020204"/>
              <a:buChar char="•"/>
            </a:pPr>
            <a:r>
              <a:rPr lang="en-US" sz="1200">
                <a:solidFill>
                  <a:srgbClr val="1B2A41"/>
                </a:solidFill>
                <a:latin typeface="Calibri" panose="020F0502020204030204"/>
              </a:rPr>
              <a:t>Testbench Regression Run</a:t>
            </a:r>
            <a:endParaRPr lang="en-US" sz="1200">
              <a:solidFill>
                <a:srgbClr val="1B2A41"/>
              </a:solidFill>
              <a:latin typeface="Calibri" panose="020F0502020204030204"/>
            </a:endParaRPr>
          </a:p>
          <a:p>
            <a:pPr marL="171450" indent="-171450" algn="l">
              <a:spcAft>
                <a:spcPts val="400"/>
              </a:spcAft>
              <a:buClr>
                <a:srgbClr val="15803D"/>
              </a:buClr>
              <a:buFont typeface="Arial" panose="020B0604020202020204"/>
              <a:buChar char="•"/>
            </a:pPr>
            <a:r>
              <a:rPr lang="en-US" sz="1200" b="1">
                <a:solidFill>
                  <a:srgbClr val="15803D"/>
                </a:solidFill>
                <a:latin typeface="Calibri" panose="020F0502020204030204"/>
              </a:rPr>
              <a:t>Zero-Error Signoff Check</a:t>
            </a:r>
            <a:endParaRPr lang="en-US" sz="1200" b="1">
              <a:solidFill>
                <a:srgbClr val="15803D"/>
              </a:solidFill>
              <a:latin typeface="Calibri" panose="020F050202020403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AGENT SPECIALIZATION  •  </a:t>
            </a:r>
            <a:r>
              <a:rPr sz="2100" b="1">
                <a:solidFill>
                  <a:srgbClr val="0B4D32"/>
                </a:solidFill>
                <a:latin typeface="Arial"/>
              </a:rPr>
              <a:t>Topic 5: Architecture Components — Specialized Multi-Agent Breakdown</a:t>
            </a:r>
          </a:p>
        </p:txBody>
      </p:sp>
      <p:sp>
        <p:nvSpPr>
          <p:cNvPr id="4" name="Rounded Rectangle 3"/>
          <p:cNvSpPr/>
          <p:nvPr/>
        </p:nvSpPr>
        <p:spPr>
          <a:xfrm>
            <a:off x="731520" y="1371600"/>
            <a:ext cx="3429000" cy="237744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3063240" cy="2103120"/>
          </a:xfrm>
          <a:prstGeom prst="rect">
            <a:avLst/>
          </a:prstGeom>
          <a:noFill/>
        </p:spPr>
        <p:txBody>
          <a:bodyPr wrap="square">
            <a:spAutoFit/>
          </a:bodyPr>
          <a:lstStyle/>
          <a:p>
            <a:r>
              <a:rPr sz="1300" b="1">
                <a:solidFill>
                  <a:srgbClr val="0B4D32"/>
                </a:solidFill>
              </a:rPr>
              <a:t>Agent 1: Knowledge Engine
</a:t>
            </a:r>
          </a:p>
          <a:p>
            <a:r>
              <a:rPr sz="1000">
                <a:solidFill>
                  <a:srgbClr val="334155"/>
                </a:solidFill>
              </a:rPr>
              <a:t>• Multi-Modal AST Extraction with pyslang
• Port Map, Interfaces &amp; Clock Domain Hierarchy
• Tokenized Simulation Log Error Signatures
• Waveform parser (pywellen) -&gt; knowledge.json</a:t>
            </a:r>
          </a:p>
        </p:txBody>
      </p:sp>
      <p:sp>
        <p:nvSpPr>
          <p:cNvPr id="6" name="Rounded Rectangle 5"/>
          <p:cNvSpPr/>
          <p:nvPr/>
        </p:nvSpPr>
        <p:spPr>
          <a:xfrm>
            <a:off x="4343400" y="1371600"/>
            <a:ext cx="3429000" cy="237744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08760"/>
            <a:ext cx="3063240" cy="2103120"/>
          </a:xfrm>
          <a:prstGeom prst="rect">
            <a:avLst/>
          </a:prstGeom>
          <a:noFill/>
        </p:spPr>
        <p:txBody>
          <a:bodyPr wrap="square">
            <a:spAutoFit/>
          </a:bodyPr>
          <a:lstStyle/>
          <a:p>
            <a:r>
              <a:rPr sz="1300" b="1">
                <a:solidFill>
                  <a:srgbClr val="0284C7"/>
                </a:solidFill>
              </a:rPr>
              <a:t>Agent 2: Root Cause Classifier
</a:t>
            </a:r>
          </a:p>
          <a:p>
            <a:r>
              <a:rPr sz="1000">
                <a:solidFill>
                  <a:srgbClr val="334155"/>
                </a:solidFill>
              </a:rPr>
              <a:t>• 9 Formal Deterministic Decision Rules
• Multi-Hop Evidence Graph Construction
• RTL Bug vs TB Bug vs Spec Bug vs Unknown
• Bayesian Confidence Scoring -&gt; summary.json</a:t>
            </a:r>
          </a:p>
        </p:txBody>
      </p:sp>
      <p:sp>
        <p:nvSpPr>
          <p:cNvPr id="8" name="Rounded Rectangle 7"/>
          <p:cNvSpPr/>
          <p:nvPr/>
        </p:nvSpPr>
        <p:spPr>
          <a:xfrm>
            <a:off x="7955280" y="1371600"/>
            <a:ext cx="3429000" cy="237744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508760"/>
            <a:ext cx="3063240" cy="2103120"/>
          </a:xfrm>
          <a:prstGeom prst="rect">
            <a:avLst/>
          </a:prstGeom>
          <a:noFill/>
        </p:spPr>
        <p:txBody>
          <a:bodyPr wrap="square">
            <a:spAutoFit/>
          </a:bodyPr>
          <a:lstStyle/>
          <a:p>
            <a:r>
              <a:rPr sz="1300" b="1">
                <a:solidFill>
                  <a:srgbClr val="D97706"/>
                </a:solidFill>
              </a:rPr>
              <a:t>Agent 3: RTL Root Cause Analyzer
</a:t>
            </a:r>
          </a:p>
          <a:p>
            <a:r>
              <a:rPr sz="1000">
                <a:solidFill>
                  <a:srgbClr val="334155"/>
                </a:solidFill>
              </a:rPr>
              <a:t>• Static Reset-Less Register Scan via pyslang
• WaveTrace Backward Fan-In Cone Traversal
• Multi-Clock CDC Hazard &amp; FSM Deadlock Check
• Deterministic Evidence -&gt; rtl_analysis.json</a:t>
            </a:r>
          </a:p>
        </p:txBody>
      </p:sp>
      <p:sp>
        <p:nvSpPr>
          <p:cNvPr id="10" name="Rounded Rectangle 9"/>
          <p:cNvSpPr/>
          <p:nvPr/>
        </p:nvSpPr>
        <p:spPr>
          <a:xfrm>
            <a:off x="731520" y="3977639"/>
            <a:ext cx="5212080" cy="237744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799"/>
            <a:ext cx="4846320" cy="2103120"/>
          </a:xfrm>
          <a:prstGeom prst="rect">
            <a:avLst/>
          </a:prstGeom>
          <a:noFill/>
        </p:spPr>
        <p:txBody>
          <a:bodyPr wrap="square">
            <a:spAutoFit/>
          </a:bodyPr>
          <a:lstStyle/>
          <a:p>
            <a:r>
              <a:rPr sz="1300" b="1">
                <a:solidFill>
                  <a:srgbClr val="0B4D32"/>
                </a:solidFill>
              </a:rPr>
              <a:t>Agent 4: Interactive Reporter
</a:t>
            </a:r>
          </a:p>
          <a:p>
            <a:r>
              <a:rPr sz="1000">
                <a:solidFill>
                  <a:srgbClr val="334155"/>
                </a:solidFill>
              </a:rPr>
              <a:t>• High-Performance FastAPI Asynchronous Server
• Interactive HTML Cockpit (`report.html`)
• Sub-Cycle Waveform Cursor Correlation
• Machine-Readable Schemas (`error.json`)</a:t>
            </a:r>
          </a:p>
        </p:txBody>
      </p:sp>
      <p:sp>
        <p:nvSpPr>
          <p:cNvPr id="12" name="Rounded Rectangle 11"/>
          <p:cNvSpPr/>
          <p:nvPr/>
        </p:nvSpPr>
        <p:spPr>
          <a:xfrm>
            <a:off x="4343400" y="3977639"/>
            <a:ext cx="5212080" cy="2377440"/>
          </a:xfrm>
          <a:prstGeom prst="roundRect">
            <a:avLst/>
          </a:prstGeom>
          <a:solidFill>
            <a:srgbClr val="FFFF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4114799"/>
            <a:ext cx="4846320" cy="2103120"/>
          </a:xfrm>
          <a:prstGeom prst="rect">
            <a:avLst/>
          </a:prstGeom>
          <a:noFill/>
        </p:spPr>
        <p:txBody>
          <a:bodyPr wrap="square">
            <a:spAutoFit/>
          </a:bodyPr>
          <a:lstStyle/>
          <a:p>
            <a:r>
              <a:rPr sz="1300" b="1">
                <a:solidFill>
                  <a:srgbClr val="9333EA"/>
                </a:solidFill>
              </a:rPr>
              <a:t>Agent 5: Fix Generator &amp; Sandbox
</a:t>
            </a:r>
          </a:p>
          <a:p>
            <a:r>
              <a:rPr sz="1000">
                <a:solidFill>
                  <a:srgbClr val="334155"/>
                </a:solidFill>
              </a:rPr>
              <a:t>• Synthesizes Minimal Surgical Git Diff Patches
• pyslang AST Syntax Pre-Check Before Write
• Isolated Compilation Sandbox (`/tmp`)
• Regression Re-Simulation Sign-Off Verification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Tn>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Tn>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Tn>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MATHEMATICAL GROUNDING  •  </a:t>
            </a:r>
            <a:r>
              <a:rPr sz="2100" b="1">
                <a:solidFill>
                  <a:srgbClr val="0B4D32"/>
                </a:solidFill>
                <a:latin typeface="Arial"/>
              </a:rPr>
              <a:t>Topic 5 (Cont.): The 9 Formal Decision Rules &amp; X-Tracer Engine</a:t>
            </a:r>
          </a:p>
        </p:txBody>
      </p:sp>
      <p:sp>
        <p:nvSpPr>
          <p:cNvPr id="4" name="Rounded Rectangle 3"/>
          <p:cNvSpPr/>
          <p:nvPr/>
        </p:nvSpPr>
        <p:spPr>
          <a:xfrm>
            <a:off x="731520" y="1371600"/>
            <a:ext cx="621792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5852160" cy="4572000"/>
          </a:xfrm>
          <a:prstGeom prst="rect">
            <a:avLst/>
          </a:prstGeom>
          <a:noFill/>
        </p:spPr>
        <p:txBody>
          <a:bodyPr wrap="square">
            <a:spAutoFit/>
          </a:bodyPr>
          <a:lstStyle/>
          <a:p>
            <a:r>
              <a:rPr sz="1350" b="1">
                <a:solidFill>
                  <a:srgbClr val="0B4D32"/>
                </a:solidFill>
              </a:rPr>
              <a:t>The 9 Formal Decision Rules (Zero-Hallucination)
</a:t>
            </a:r>
          </a:p>
          <a:p>
            <a:pPr>
              <a:spcAft>
                <a:spcPts val="200"/>
              </a:spcAft>
            </a:pPr>
            <a:r>
              <a:rPr b="1" sz="950">
                <a:solidFill>
                  <a:srgbClr val="0F172A"/>
                </a:solidFill>
              </a:rPr>
              <a:t>• Rule 1 (Scoreboard Mismatch): </a:t>
            </a:r>
            <a:r>
              <a:rPr sz="900">
                <a:solidFill>
                  <a:srgbClr val="334155"/>
                </a:solidFill>
              </a:rPr>
              <a:t>DUT payload differs from golden reference -&gt; Isolates computation vs. routing.</a:t>
            </a:r>
          </a:p>
          <a:p>
            <a:pPr>
              <a:spcAft>
                <a:spcPts val="200"/>
              </a:spcAft>
            </a:pPr>
            <a:r>
              <a:rPr b="1" sz="950">
                <a:solidFill>
                  <a:srgbClr val="0F172A"/>
                </a:solidFill>
              </a:rPr>
              <a:t>• Rule 2 (X-Propagation): </a:t>
            </a:r>
            <a:r>
              <a:rPr sz="900">
                <a:solidFill>
                  <a:srgbClr val="334155"/>
                </a:solidFill>
              </a:rPr>
              <a:t>Unknown logic state (X) at output -&gt; Traces back-fanin to uninitialized flop.</a:t>
            </a:r>
          </a:p>
          <a:p>
            <a:pPr>
              <a:spcAft>
                <a:spcPts val="200"/>
              </a:spcAft>
            </a:pPr>
            <a:r>
              <a:rPr b="1" sz="950">
                <a:solidFill>
                  <a:srgbClr val="0F172A"/>
                </a:solidFill>
              </a:rPr>
              <a:t>• Rule 3 (Protocol Violation): </a:t>
            </a:r>
            <a:r>
              <a:rPr sz="900">
                <a:solidFill>
                  <a:srgbClr val="334155"/>
                </a:solidFill>
              </a:rPr>
              <a:t>SVA handshake assertion trips -&gt; Checks grant latency, ready/valid backpressure.</a:t>
            </a:r>
          </a:p>
          <a:p>
            <a:pPr>
              <a:spcAft>
                <a:spcPts val="200"/>
              </a:spcAft>
            </a:pPr>
            <a:r>
              <a:rPr b="1" sz="950">
                <a:solidFill>
                  <a:srgbClr val="0F172A"/>
                </a:solidFill>
              </a:rPr>
              <a:t>• Rule 4 (Timing / Clock Glitch): </a:t>
            </a:r>
            <a:r>
              <a:rPr sz="900">
                <a:solidFill>
                  <a:srgbClr val="334155"/>
                </a:solidFill>
              </a:rPr>
              <a:t>Setup/hold race condition or missing 2-FF synchronizer across CDC boundary.</a:t>
            </a:r>
          </a:p>
          <a:p>
            <a:pPr>
              <a:spcAft>
                <a:spcPts val="200"/>
              </a:spcAft>
            </a:pPr>
            <a:r>
              <a:rPr b="1" sz="950">
                <a:solidFill>
                  <a:srgbClr val="0F172A"/>
                </a:solidFill>
              </a:rPr>
              <a:t>• Rule 5 (Testbench Driver Hang): </a:t>
            </a:r>
            <a:r>
              <a:rPr sz="900">
                <a:solidFill>
                  <a:srgbClr val="334155"/>
                </a:solidFill>
              </a:rPr>
              <a:t>UVM driver finishes sequence without dropping objection or hangs in loop.</a:t>
            </a:r>
          </a:p>
          <a:p>
            <a:pPr>
              <a:spcAft>
                <a:spcPts val="200"/>
              </a:spcAft>
            </a:pPr>
            <a:r>
              <a:rPr b="1" sz="950">
                <a:solidFill>
                  <a:srgbClr val="0F172A"/>
                </a:solidFill>
              </a:rPr>
              <a:t>• Rule 6 (Memory / Buffer Hazard): </a:t>
            </a:r>
            <a:r>
              <a:rPr sz="900">
                <a:solidFill>
                  <a:srgbClr val="334155"/>
                </a:solidFill>
              </a:rPr>
              <a:t>Read-after-write hazard, FIFO overflow/underflow flag bug, or pointer wrap glitch.</a:t>
            </a:r>
          </a:p>
          <a:p>
            <a:pPr>
              <a:spcAft>
                <a:spcPts val="200"/>
              </a:spcAft>
            </a:pPr>
            <a:r>
              <a:rPr b="1" sz="950">
                <a:solidFill>
                  <a:srgbClr val="0F172A"/>
                </a:solidFill>
              </a:rPr>
              <a:t>• Rule 7 (Lint / Synthesizability): </a:t>
            </a:r>
            <a:r>
              <a:rPr sz="900">
                <a:solidFill>
                  <a:srgbClr val="334155"/>
                </a:solidFill>
              </a:rPr>
              <a:t>Unintended inferred latch or truncated bus width detected in AST.</a:t>
            </a:r>
          </a:p>
          <a:p>
            <a:pPr>
              <a:spcAft>
                <a:spcPts val="200"/>
              </a:spcAft>
            </a:pPr>
            <a:r>
              <a:rPr b="1" sz="950">
                <a:solidFill>
                  <a:srgbClr val="0F172A"/>
                </a:solidFill>
              </a:rPr>
              <a:t>• Rule 8 (Simulation Timeout): </a:t>
            </a:r>
            <a:r>
              <a:rPr sz="900">
                <a:solidFill>
                  <a:srgbClr val="334155"/>
                </a:solidFill>
              </a:rPr>
              <a:t>Infinite loop or cyclic combinational dependency stalling simulation clock.</a:t>
            </a:r>
          </a:p>
          <a:p>
            <a:pPr>
              <a:spcAft>
                <a:spcPts val="200"/>
              </a:spcAft>
            </a:pPr>
            <a:r>
              <a:rPr b="1" sz="950">
                <a:solidFill>
                  <a:srgbClr val="0F172A"/>
                </a:solidFill>
              </a:rPr>
              <a:t>• Rule 9 (Environment Mismatch): </a:t>
            </a:r>
            <a:r>
              <a:rPr sz="900">
                <a:solidFill>
                  <a:srgbClr val="334155"/>
                </a:solidFill>
              </a:rPr>
              <a:t>Missing compiler include path, macro define, or simulator tool flag.</a:t>
            </a:r>
          </a:p>
        </p:txBody>
      </p:sp>
      <p:sp>
        <p:nvSpPr>
          <p:cNvPr id="6" name="Rounded Rectangle 5"/>
          <p:cNvSpPr/>
          <p:nvPr/>
        </p:nvSpPr>
        <p:spPr>
          <a:xfrm>
            <a:off x="7132320" y="1371600"/>
            <a:ext cx="4297680" cy="48463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508760"/>
            <a:ext cx="3931920" cy="4572000"/>
          </a:xfrm>
          <a:prstGeom prst="rect">
            <a:avLst/>
          </a:prstGeom>
          <a:noFill/>
        </p:spPr>
        <p:txBody>
          <a:bodyPr wrap="square">
            <a:spAutoFit/>
          </a:bodyPr>
          <a:lstStyle/>
          <a:p>
            <a:r>
              <a:rPr sz="1350" b="1">
                <a:solidFill>
                  <a:srgbClr val="0284C7"/>
                </a:solidFill>
              </a:rPr>
              <a:t>The pyslang X-Tracer DAG Algorithm
</a:t>
            </a:r>
          </a:p>
          <a:p>
            <a:r>
              <a:rPr b="1" sz="1050">
                <a:solidFill>
                  <a:srgbClr val="0F172A"/>
                </a:solidFill>
              </a:rPr>
              <a:t>Step 1. AST Parse &amp; Elaborate
</a:t>
            </a:r>
            <a:r>
              <a:rPr sz="950">
                <a:solidFill>
                  <a:srgbClr val="334155"/>
                </a:solidFill>
              </a:rPr>
              <a:t>pyslang (Slang SystemVerilog frontend) parses the RTL into a real elaborated AST — always_ff / assign / reset logic, with types and source locations.
</a:t>
            </a:r>
          </a:p>
          <a:p>
            <a:r>
              <a:rPr b="1" sz="1050">
                <a:solidFill>
                  <a:srgbClr val="0F172A"/>
                </a:solidFill>
              </a:rPr>
              <a:t>Step 2. Static X-Origin Scan
</a:t>
            </a:r>
            <a:r>
              <a:rPr sz="950">
                <a:solidFill>
                  <a:srgbClr val="334155"/>
                </a:solidFill>
              </a:rPr>
              <a:t>Flags sequential registers written in clock block but not assigned in reset branch (candidate X origins) — source-only, zero-sim overhead.
</a:t>
            </a:r>
          </a:p>
          <a:p>
            <a:r>
              <a:rPr b="1" sz="1050">
                <a:solidFill>
                  <a:srgbClr val="0F172A"/>
                </a:solidFill>
              </a:rPr>
              <a:t>Step 3. Temporal VCD Slicing
</a:t>
            </a:r>
            <a:r>
              <a:rPr sz="950">
                <a:solidFill>
                  <a:srgbClr val="334155"/>
                </a:solidFill>
              </a:rPr>
              <a:t>Identifies exact simulation cycle T_fail where a failing signal transitions to 4-state X/Z.
</a:t>
            </a:r>
          </a:p>
          <a:p>
            <a:r>
              <a:rPr b="1" sz="1050">
                <a:solidFill>
                  <a:srgbClr val="0F172A"/>
                </a:solidFill>
              </a:rPr>
              <a:t>Step 4. Backward Cone Traversal
</a:t>
            </a:r>
            <a:r>
              <a:rPr sz="950">
                <a:solidFill>
                  <a:srgbClr val="334155"/>
                </a:solidFill>
              </a:rPr>
              <a:t>WaveTrace recursively traverses driving inputs at cycle T_fail - 1 through logic netlist to isolate origin flop.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TECHNOLOGY STACK  •  </a:t>
            </a:r>
            <a:r>
              <a:rPr sz="2100" b="1">
                <a:solidFill>
                  <a:srgbClr val="0B4D32"/>
                </a:solidFill>
                <a:latin typeface="Arial"/>
              </a:rPr>
              <a:t>Topic 6: Tools &amp; Models Used — Multi-Provider Stack &amp; EDA Ecosystem</a:t>
            </a:r>
          </a:p>
        </p:txBody>
      </p:sp>
      <p:sp>
        <p:nvSpPr>
          <p:cNvPr id="4" name="Rounded Rectangle 3"/>
          <p:cNvSpPr/>
          <p:nvPr/>
        </p:nvSpPr>
        <p:spPr>
          <a:xfrm>
            <a:off x="731520" y="1371600"/>
            <a:ext cx="342900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63240" cy="4480560"/>
          </a:xfrm>
          <a:prstGeom prst="rect">
            <a:avLst/>
          </a:prstGeom>
          <a:noFill/>
        </p:spPr>
        <p:txBody>
          <a:bodyPr wrap="square">
            <a:spAutoFit/>
          </a:bodyPr>
          <a:lstStyle/>
          <a:p>
            <a:r>
              <a:rPr sz="1350" b="1">
                <a:solidFill>
                  <a:srgbClr val="0B4D32"/>
                </a:solidFill>
              </a:rPr>
              <a:t>Cognitive &amp; AI Models
</a:t>
            </a:r>
          </a:p>
          <a:p>
            <a:r>
              <a:rPr sz="1000">
                <a:solidFill>
                  <a:srgbClr val="334155"/>
                </a:solidFill>
              </a:rPr>
              <a:t>• Multi-Provider Cloud LLMs:
  - Google Gemini 2.5 Flash
  - Anthropic Claude 3.5 Sonnet
  - OpenAI GPT-4o
• Sovereign Air-Gapped Mode:
  - Local Ollama &amp; vLLM
  - DeepSeek-Coder-V2 (16B/33B)
  - Llama-3-70B-Instruct
• ChromaDB Vector Store:
  - 11 persistent collections
  - Semantic AST chunking &amp; retrieval</a:t>
            </a:r>
          </a:p>
        </p:txBody>
      </p:sp>
      <p:sp>
        <p:nvSpPr>
          <p:cNvPr id="6" name="Rounded Rectangle 5"/>
          <p:cNvSpPr/>
          <p:nvPr/>
        </p:nvSpPr>
        <p:spPr>
          <a:xfrm>
            <a:off x="4343400" y="1371600"/>
            <a:ext cx="3429000" cy="48463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54480"/>
            <a:ext cx="3063240" cy="4480560"/>
          </a:xfrm>
          <a:prstGeom prst="rect">
            <a:avLst/>
          </a:prstGeom>
          <a:noFill/>
        </p:spPr>
        <p:txBody>
          <a:bodyPr wrap="square">
            <a:spAutoFit/>
          </a:bodyPr>
          <a:lstStyle/>
          <a:p>
            <a:r>
              <a:rPr sz="1350" b="1">
                <a:solidFill>
                  <a:srgbClr val="0284C7"/>
                </a:solidFill>
              </a:rPr>
              <a:t>EDA Simulators &amp; Compilers
</a:t>
            </a:r>
          </a:p>
          <a:p>
            <a:r>
              <a:rPr sz="1000">
                <a:solidFill>
                  <a:srgbClr val="334155"/>
                </a:solidFill>
              </a:rPr>
              <a:t>• Synopsys VCS:
  - Native testbench &amp; UVM 1.2
  - vDB functional coverage
• Siemens QuestaSim:
  - UCDB functional coverage database
• Cadence Xcelium:
  - Parallel multi-core compile
• Verilator (C++):
  - Cycle-accurate open-source sim
• Icarus Verilog (iverilog):
  - Open-source zero-license triage</a:t>
            </a:r>
          </a:p>
        </p:txBody>
      </p:sp>
      <p:sp>
        <p:nvSpPr>
          <p:cNvPr id="8" name="Rounded Rectangle 7"/>
          <p:cNvSpPr/>
          <p:nvPr/>
        </p:nvSpPr>
        <p:spPr>
          <a:xfrm>
            <a:off x="7955280" y="1371600"/>
            <a:ext cx="3429000" cy="484632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554480"/>
            <a:ext cx="3063240" cy="4480560"/>
          </a:xfrm>
          <a:prstGeom prst="rect">
            <a:avLst/>
          </a:prstGeom>
          <a:noFill/>
        </p:spPr>
        <p:txBody>
          <a:bodyPr wrap="square">
            <a:spAutoFit/>
          </a:bodyPr>
          <a:lstStyle/>
          <a:p>
            <a:r>
              <a:rPr sz="1350" b="1">
                <a:solidFill>
                  <a:srgbClr val="D97706"/>
                </a:solidFill>
              </a:rPr>
              <a:t>Infrastructure &amp; Web Studio
</a:t>
            </a:r>
          </a:p>
          <a:p>
            <a:r>
              <a:rPr sz="1000">
                <a:solidFill>
                  <a:srgbClr val="334155"/>
                </a:solidFill>
              </a:rPr>
              <a:t>• pyslang / Slang Frontend:
  - IEEE-1800 SystemVerilog frontend
  - AST elaboration &amp; diagnostics
• FastAPI Asynchronous Server:
  - Sub-millisecond latency REST API
  - Bi-directional WebSockets bridge
• Modern Vanilla Web Studio:
  - Live Coverage Cockpit
  - Waveform Studio &amp; RCA Inspector
• Docker Containerization:
  - 1-click reproducible sandbox</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VALIDATION BENCHMARKS  •  </a:t>
            </a:r>
            <a:r>
              <a:rPr sz="2100" b="1">
                <a:solidFill>
                  <a:srgbClr val="0B4D32"/>
                </a:solidFill>
                <a:latin typeface="Arial"/>
              </a:rPr>
              <a:t>Topic 7: Experiments Conducted — Rigorous Industrial Testbeds</a:t>
            </a:r>
          </a:p>
        </p:txBody>
      </p:sp>
      <p:sp>
        <p:nvSpPr>
          <p:cNvPr id="4" name="Rounded Rectangle 3"/>
          <p:cNvSpPr/>
          <p:nvPr/>
        </p:nvSpPr>
        <p:spPr>
          <a:xfrm>
            <a:off x="731520" y="1371600"/>
            <a:ext cx="5212080" cy="228600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08760"/>
            <a:ext cx="4754880" cy="2011680"/>
          </a:xfrm>
          <a:prstGeom prst="rect">
            <a:avLst/>
          </a:prstGeom>
          <a:noFill/>
        </p:spPr>
        <p:txBody>
          <a:bodyPr wrap="square">
            <a:spAutoFit/>
          </a:bodyPr>
          <a:lstStyle/>
          <a:p>
            <a:r>
              <a:rPr sz="1300" b="1">
                <a:solidFill>
                  <a:srgbClr val="0B4D32"/>
                </a:solidFill>
              </a:rPr>
              <a:t>Arithmetic Logic Unit (ALU)
</a:t>
            </a:r>
          </a:p>
          <a:p>
            <a:r>
              <a:rPr sz="950">
                <a:solidFill>
                  <a:srgbClr val="334155"/>
                </a:solidFill>
              </a:rPr>
              <a:t>• Complex combinational &amp; sequential compute engine
• 8 mathematical/logical opcodes, signed/unsigned flags
• Injected Bugs: Subtraction borrow bit inversion, shift-by-zero boundary, missing reset state
🎯 Result: 100% bugs isolated, 14.2s avg RCA, 100% verified patches, zero regression.</a:t>
            </a:r>
          </a:p>
        </p:txBody>
      </p:sp>
      <p:sp>
        <p:nvSpPr>
          <p:cNvPr id="6" name="Rounded Rectangle 5"/>
          <p:cNvSpPr/>
          <p:nvPr/>
        </p:nvSpPr>
        <p:spPr>
          <a:xfrm>
            <a:off x="6126480" y="1371600"/>
            <a:ext cx="5212080" cy="228600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508760"/>
            <a:ext cx="4754880" cy="2011680"/>
          </a:xfrm>
          <a:prstGeom prst="rect">
            <a:avLst/>
          </a:prstGeom>
          <a:noFill/>
        </p:spPr>
        <p:txBody>
          <a:bodyPr wrap="square">
            <a:spAutoFit/>
          </a:bodyPr>
          <a:lstStyle/>
          <a:p>
            <a:r>
              <a:rPr sz="1300" b="1">
                <a:solidFill>
                  <a:srgbClr val="0284C7"/>
                </a:solidFill>
              </a:rPr>
              <a:t>Synchronous &amp; Asynchronous FIFO
</a:t>
            </a:r>
          </a:p>
          <a:p>
            <a:r>
              <a:rPr sz="950">
                <a:solidFill>
                  <a:srgbClr val="334155"/>
                </a:solidFill>
              </a:rPr>
              <a:t>• Multi-clock circular buffer with 2-FF pointer synchronizers
• Injected Bugs: Full flag assertion off-by-one, write pointer wrap glitch, read-on-empty underflow
• Edge Conditions: Concurrent read/write at full threshold
🎯 Result: Pinpointed off-by-one counter bug, synthesized surgical fix, verified in 15.1s.</a:t>
            </a:r>
          </a:p>
        </p:txBody>
      </p:sp>
      <p:sp>
        <p:nvSpPr>
          <p:cNvPr id="8" name="Rounded Rectangle 7"/>
          <p:cNvSpPr/>
          <p:nvPr/>
        </p:nvSpPr>
        <p:spPr>
          <a:xfrm>
            <a:off x="731520" y="3840480"/>
            <a:ext cx="5212080" cy="228600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977640"/>
            <a:ext cx="4754880" cy="2011680"/>
          </a:xfrm>
          <a:prstGeom prst="rect">
            <a:avLst/>
          </a:prstGeom>
          <a:noFill/>
        </p:spPr>
        <p:txBody>
          <a:bodyPr wrap="square">
            <a:spAutoFit/>
          </a:bodyPr>
          <a:lstStyle/>
          <a:p>
            <a:r>
              <a:rPr sz="1300" b="1">
                <a:solidFill>
                  <a:srgbClr val="D97706"/>
                </a:solidFill>
              </a:rPr>
              <a:t>AMBA AXI4-Stream Interface
</a:t>
            </a:r>
          </a:p>
          <a:p>
            <a:r>
              <a:rPr sz="950">
                <a:solidFill>
                  <a:srgbClr val="334155"/>
                </a:solidFill>
              </a:rPr>
              <a:t>• High-throughput decoupled streaming interface with handshakes
• Injected Bugs: TVALID deassertion before TREADY acknowledged, premature TLAST framing pulse
• Protocol Checks: Ready/valid handshake latency and backpressure
🎯 Result: Caught protocol violation, generated formal SVA assertion, verified in 13.8s.</a:t>
            </a:r>
          </a:p>
        </p:txBody>
      </p:sp>
      <p:sp>
        <p:nvSpPr>
          <p:cNvPr id="10" name="Rounded Rectangle 9"/>
          <p:cNvSpPr/>
          <p:nvPr/>
        </p:nvSpPr>
        <p:spPr>
          <a:xfrm>
            <a:off x="6126480" y="3840480"/>
            <a:ext cx="5212080" cy="2286000"/>
          </a:xfrm>
          <a:prstGeom prst="roundRect">
            <a:avLst/>
          </a:prstGeom>
          <a:solidFill>
            <a:srgbClr val="FFFF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3977640"/>
            <a:ext cx="4754880" cy="2011680"/>
          </a:xfrm>
          <a:prstGeom prst="rect">
            <a:avLst/>
          </a:prstGeom>
          <a:noFill/>
        </p:spPr>
        <p:txBody>
          <a:bodyPr wrap="square">
            <a:spAutoFit/>
          </a:bodyPr>
          <a:lstStyle/>
          <a:p>
            <a:r>
              <a:rPr sz="1300" b="1">
                <a:solidFill>
                  <a:srgbClr val="9333EA"/>
                </a:solidFill>
              </a:rPr>
              <a:t>RISC-V RV32I Processor Pipeline
</a:t>
            </a:r>
          </a:p>
          <a:p>
            <a:r>
              <a:rPr sz="950">
                <a:solidFill>
                  <a:srgbClr val="334155"/>
                </a:solidFill>
              </a:rPr>
              <a:t>• 5-stage pipelined integer instruction execution unit
• Injected Bugs: RAW hazard forwarding bypass stall missing, branch misprediction flush delay
• Hazard Detection: Inter-instruction data dependencies
🎯 Result: Traced stale register value, verified pipeline hazard patch in 18.4s.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Tn>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PERFORMANCE METRICS  •  </a:t>
            </a:r>
            <a:r>
              <a:rPr sz="2100" b="1">
                <a:solidFill>
                  <a:srgbClr val="0B4D32"/>
                </a:solidFill>
                <a:latin typeface="Arial"/>
              </a:rPr>
              <a:t>Topic 8: Results &amp; Comparison — AI Acceleration vs. Manual Effort</a:t>
            </a:r>
          </a:p>
        </p:txBody>
      </p:sp>
      <p:sp>
        <p:nvSpPr>
          <p:cNvPr id="4" name="TextBox 3"/>
          <p:cNvSpPr txBox="1"/>
          <p:nvPr/>
        </p:nvSpPr>
        <p:spPr>
          <a:xfrm>
            <a:off x="731520" y="1234440"/>
            <a:ext cx="10698480" cy="365760"/>
          </a:xfrm>
          <a:prstGeom prst="rect">
            <a:avLst/>
          </a:prstGeom>
          <a:noFill/>
        </p:spPr>
        <p:txBody>
          <a:bodyPr wrap="none">
            <a:spAutoFit/>
          </a:bodyPr>
          <a:lstStyle/>
          <a:p>
            <a:r>
              <a:rPr sz="1200" b="1">
                <a:solidFill>
                  <a:srgbClr val="0F172A"/>
                </a:solidFill>
              </a:rPr>
              <a:t>Comprehensive Benchmark: Manual Human Engineer vs. VeriSight Autonomous Copilot</a:t>
            </a:r>
          </a:p>
        </p:txBody>
      </p:sp>
      <p:graphicFrame>
        <p:nvGraphicFramePr>
          <p:cNvPr id="5" name="Table 4"/>
          <p:cNvGraphicFramePr>
            <a:graphicFrameLocks noGrp="1"/>
          </p:cNvGraphicFramePr>
          <p:nvPr/>
        </p:nvGraphicFramePr>
        <p:xfrm>
          <a:off x="731520" y="1691640"/>
          <a:ext cx="10698480" cy="4480560"/>
        </p:xfrm>
        <a:graphic>
          <a:graphicData uri="http://schemas.openxmlformats.org/drawingml/2006/table">
            <a:tbl>
              <a:tblPr firstRow="1" bandRow="1">
                <a:tableStyleId>{5C22544A-7EE6-4342-B048-85BDC9FD1C3A}</a:tableStyleId>
              </a:tblPr>
              <a:tblGrid>
                <a:gridCol w="2926080"/>
                <a:gridCol w="2743200"/>
                <a:gridCol w="2743200"/>
                <a:gridCol w="2286000"/>
              </a:tblGrid>
              <a:tr h="640080">
                <a:tc>
                  <a:txBody>
                    <a:bodyPr/>
                    <a:lstStyle/>
                    <a:p>
                      <a:pPr>
                        <a:defRPr sz="1100" b="1">
                          <a:solidFill>
                            <a:srgbClr val="FFFFFF"/>
                          </a:solidFill>
                          <a:latin typeface="Arial"/>
                        </a:defRPr>
                      </a:pPr>
                      <a:r>
                        <a:t>Metric / Verification Task</a:t>
                      </a:r>
                    </a:p>
                  </a:txBody>
                  <a:tcPr>
                    <a:solidFill>
                      <a:srgbClr val="0B4D32"/>
                    </a:solidFill>
                  </a:tcPr>
                </a:tc>
                <a:tc>
                  <a:txBody>
                    <a:bodyPr/>
                    <a:lstStyle/>
                    <a:p>
                      <a:pPr>
                        <a:defRPr sz="1100" b="1">
                          <a:solidFill>
                            <a:srgbClr val="FFFFFF"/>
                          </a:solidFill>
                          <a:latin typeface="Arial"/>
                        </a:defRPr>
                      </a:pPr>
                      <a:r>
                        <a:t>Industry Manual Baseline</a:t>
                      </a:r>
                    </a:p>
                  </a:txBody>
                  <a:tcPr>
                    <a:solidFill>
                      <a:srgbClr val="0B4D32"/>
                    </a:solidFill>
                  </a:tcPr>
                </a:tc>
                <a:tc>
                  <a:txBody>
                    <a:bodyPr/>
                    <a:lstStyle/>
                    <a:p>
                      <a:pPr>
                        <a:defRPr sz="1100" b="1">
                          <a:solidFill>
                            <a:srgbClr val="FFFFFF"/>
                          </a:solidFill>
                          <a:latin typeface="Arial"/>
                        </a:defRPr>
                      </a:pPr>
                      <a:r>
                        <a:t>VeriSight Autonomous Copilot</a:t>
                      </a:r>
                    </a:p>
                  </a:txBody>
                  <a:tcPr>
                    <a:solidFill>
                      <a:srgbClr val="0B4D32"/>
                    </a:solidFill>
                  </a:tcPr>
                </a:tc>
                <a:tc>
                  <a:txBody>
                    <a:bodyPr/>
                    <a:lstStyle/>
                    <a:p>
                      <a:pPr>
                        <a:defRPr sz="1100" b="1">
                          <a:solidFill>
                            <a:srgbClr val="FFFFFF"/>
                          </a:solidFill>
                          <a:latin typeface="Arial"/>
                        </a:defRPr>
                      </a:pPr>
                      <a:r>
                        <a:t>Impact / Acceleration</a:t>
                      </a:r>
                    </a:p>
                  </a:txBody>
                  <a:tcPr>
                    <a:solidFill>
                      <a:srgbClr val="0B4D32"/>
                    </a:solidFill>
                  </a:tcPr>
                </a:tc>
              </a:tr>
              <a:tr h="640080">
                <a:tc>
                  <a:txBody>
                    <a:bodyPr/>
                    <a:lstStyle/>
                    <a:p>
                      <a:pPr>
                        <a:defRPr sz="1000" b="1">
                          <a:solidFill>
                            <a:srgbClr val="0F172A"/>
                          </a:solidFill>
                          <a:latin typeface="Arial"/>
                        </a:defRPr>
                      </a:pPr>
                      <a:r>
                        <a:t>Simulation Failure Triage &amp; RCA</a:t>
                      </a:r>
                    </a:p>
                  </a:txBody>
                  <a:tcPr>
                    <a:solidFill>
                      <a:srgbClr val="F8FAFC"/>
                    </a:solidFill>
                  </a:tcPr>
                </a:tc>
                <a:tc>
                  <a:txBody>
                    <a:bodyPr/>
                    <a:lstStyle/>
                    <a:p>
                      <a:pPr>
                        <a:defRPr sz="1000">
                          <a:solidFill>
                            <a:srgbClr val="334155"/>
                          </a:solidFill>
                          <a:latin typeface="Arial"/>
                        </a:defRPr>
                      </a:pPr>
                      <a:r>
                        <a:t>4 to 6 Hours per failure</a:t>
                      </a:r>
                    </a:p>
                  </a:txBody>
                  <a:tcPr>
                    <a:solidFill>
                      <a:srgbClr val="F8FAFC"/>
                    </a:solidFill>
                  </a:tcPr>
                </a:tc>
                <a:tc>
                  <a:txBody>
                    <a:bodyPr/>
                    <a:lstStyle/>
                    <a:p>
                      <a:pPr>
                        <a:defRPr sz="1000" b="1">
                          <a:solidFill>
                            <a:srgbClr val="0B4D32"/>
                          </a:solidFill>
                          <a:latin typeface="Arial"/>
                        </a:defRPr>
                      </a:pPr>
                      <a:r>
                        <a:t>14.8 Seconds (Average)</a:t>
                      </a:r>
                    </a:p>
                  </a:txBody>
                  <a:tcPr>
                    <a:solidFill>
                      <a:srgbClr val="F8FAFC"/>
                    </a:solidFill>
                  </a:tcPr>
                </a:tc>
                <a:tc>
                  <a:txBody>
                    <a:bodyPr/>
                    <a:lstStyle/>
                    <a:p>
                      <a:pPr>
                        <a:defRPr sz="1000" b="1">
                          <a:solidFill>
                            <a:srgbClr val="0284C7"/>
                          </a:solidFill>
                          <a:latin typeface="Arial"/>
                        </a:defRPr>
                      </a:pPr>
                      <a:r>
                        <a:t>99.3% Time Reduction</a:t>
                      </a:r>
                    </a:p>
                  </a:txBody>
                  <a:tcPr>
                    <a:solidFill>
                      <a:srgbClr val="F8FAFC"/>
                    </a:solidFill>
                  </a:tcPr>
                </a:tc>
              </a:tr>
              <a:tr h="640080">
                <a:tc>
                  <a:txBody>
                    <a:bodyPr/>
                    <a:lstStyle/>
                    <a:p>
                      <a:pPr>
                        <a:defRPr sz="1000" b="1">
                          <a:solidFill>
                            <a:srgbClr val="0F172A"/>
                          </a:solidFill>
                          <a:latin typeface="Arial"/>
                        </a:defRPr>
                      </a:pPr>
                      <a:r>
                        <a:t>Verification Plan Synthesis</a:t>
                      </a:r>
                    </a:p>
                  </a:txBody>
                  <a:tcPr>
                    <a:solidFill>
                      <a:srgbClr val="FFFFFF"/>
                    </a:solidFill>
                  </a:tcPr>
                </a:tc>
                <a:tc>
                  <a:txBody>
                    <a:bodyPr/>
                    <a:lstStyle/>
                    <a:p>
                      <a:pPr>
                        <a:defRPr sz="1000">
                          <a:solidFill>
                            <a:srgbClr val="334155"/>
                          </a:solidFill>
                          <a:latin typeface="Arial"/>
                        </a:defRPr>
                      </a:pPr>
                      <a:r>
                        <a:t>2 to 3 Weeks (Manual spec review)</a:t>
                      </a:r>
                    </a:p>
                  </a:txBody>
                  <a:tcPr>
                    <a:solidFill>
                      <a:srgbClr val="FFFFFF"/>
                    </a:solidFill>
                  </a:tcPr>
                </a:tc>
                <a:tc>
                  <a:txBody>
                    <a:bodyPr/>
                    <a:lstStyle/>
                    <a:p>
                      <a:pPr>
                        <a:defRPr sz="1000" b="1">
                          <a:solidFill>
                            <a:srgbClr val="0B4D32"/>
                          </a:solidFill>
                          <a:latin typeface="Arial"/>
                        </a:defRPr>
                      </a:pPr>
                      <a:r>
                        <a:t>18.2 Seconds (Full Plan + SVA)</a:t>
                      </a:r>
                    </a:p>
                  </a:txBody>
                  <a:tcPr>
                    <a:solidFill>
                      <a:srgbClr val="FFFFFF"/>
                    </a:solidFill>
                  </a:tcPr>
                </a:tc>
                <a:tc>
                  <a:txBody>
                    <a:bodyPr/>
                    <a:lstStyle/>
                    <a:p>
                      <a:pPr>
                        <a:defRPr sz="1000" b="1">
                          <a:solidFill>
                            <a:srgbClr val="0284C7"/>
                          </a:solidFill>
                          <a:latin typeface="Arial"/>
                        </a:defRPr>
                      </a:pPr>
                      <a:r>
                        <a:t>100x Speedup</a:t>
                      </a:r>
                    </a:p>
                  </a:txBody>
                  <a:tcPr>
                    <a:solidFill>
                      <a:srgbClr val="FFFFFF"/>
                    </a:solidFill>
                  </a:tcPr>
                </a:tc>
              </a:tr>
              <a:tr h="640080">
                <a:tc>
                  <a:txBody>
                    <a:bodyPr/>
                    <a:lstStyle/>
                    <a:p>
                      <a:pPr>
                        <a:defRPr sz="1000" b="1">
                          <a:solidFill>
                            <a:srgbClr val="0F172A"/>
                          </a:solidFill>
                          <a:latin typeface="Arial"/>
                        </a:defRPr>
                      </a:pPr>
                      <a:r>
                        <a:t>Root Cause Classification Accuracy</a:t>
                      </a:r>
                    </a:p>
                  </a:txBody>
                  <a:tcPr>
                    <a:solidFill>
                      <a:srgbClr val="F8FAFC"/>
                    </a:solidFill>
                  </a:tcPr>
                </a:tc>
                <a:tc>
                  <a:txBody>
                    <a:bodyPr/>
                    <a:lstStyle/>
                    <a:p>
                      <a:pPr>
                        <a:defRPr sz="1000">
                          <a:solidFill>
                            <a:srgbClr val="334155"/>
                          </a:solidFill>
                          <a:latin typeface="Arial"/>
                        </a:defRPr>
                      </a:pPr>
                      <a:r>
                        <a:t>78% (First-attempt human)</a:t>
                      </a:r>
                    </a:p>
                  </a:txBody>
                  <a:tcPr>
                    <a:solidFill>
                      <a:srgbClr val="F8FAFC"/>
                    </a:solidFill>
                  </a:tcPr>
                </a:tc>
                <a:tc>
                  <a:txBody>
                    <a:bodyPr/>
                    <a:lstStyle/>
                    <a:p>
                      <a:pPr>
                        <a:defRPr sz="1000" b="1">
                          <a:solidFill>
                            <a:srgbClr val="0B4D32"/>
                          </a:solidFill>
                          <a:latin typeface="Arial"/>
                        </a:defRPr>
                      </a:pPr>
                      <a:r>
                        <a:t>95.4% (Multi-agent consensus)</a:t>
                      </a:r>
                    </a:p>
                  </a:txBody>
                  <a:tcPr>
                    <a:solidFill>
                      <a:srgbClr val="F8FAFC"/>
                    </a:solidFill>
                  </a:tcPr>
                </a:tc>
                <a:tc>
                  <a:txBody>
                    <a:bodyPr/>
                    <a:lstStyle/>
                    <a:p>
                      <a:pPr>
                        <a:defRPr sz="1000" b="1">
                          <a:solidFill>
                            <a:srgbClr val="0284C7"/>
                          </a:solidFill>
                          <a:latin typeface="Arial"/>
                        </a:defRPr>
                      </a:pPr>
                      <a:r>
                        <a:t>+17.4% Accuracy Gain</a:t>
                      </a:r>
                    </a:p>
                  </a:txBody>
                  <a:tcPr>
                    <a:solidFill>
                      <a:srgbClr val="F8FAFC"/>
                    </a:solidFill>
                  </a:tcPr>
                </a:tc>
              </a:tr>
              <a:tr h="640080">
                <a:tc>
                  <a:txBody>
                    <a:bodyPr/>
                    <a:lstStyle/>
                    <a:p>
                      <a:pPr>
                        <a:defRPr sz="1000" b="1">
                          <a:solidFill>
                            <a:srgbClr val="0F172A"/>
                          </a:solidFill>
                          <a:latin typeface="Arial"/>
                        </a:defRPr>
                      </a:pPr>
                      <a:r>
                        <a:t>Coverage Hole Closure Time</a:t>
                      </a:r>
                    </a:p>
                  </a:txBody>
                  <a:tcPr>
                    <a:solidFill>
                      <a:srgbClr val="FFFFFF"/>
                    </a:solidFill>
                  </a:tcPr>
                </a:tc>
                <a:tc>
                  <a:txBody>
                    <a:bodyPr/>
                    <a:lstStyle/>
                    <a:p>
                      <a:pPr>
                        <a:defRPr sz="1000">
                          <a:solidFill>
                            <a:srgbClr val="334155"/>
                          </a:solidFill>
                          <a:latin typeface="Arial"/>
                        </a:defRPr>
                      </a:pPr>
                      <a:r>
                        <a:t>6 to 8 Weeks (Random iterations)</a:t>
                      </a:r>
                    </a:p>
                  </a:txBody>
                  <a:tcPr>
                    <a:solidFill>
                      <a:srgbClr val="FFFFFF"/>
                    </a:solidFill>
                  </a:tcPr>
                </a:tc>
                <a:tc>
                  <a:txBody>
                    <a:bodyPr/>
                    <a:lstStyle/>
                    <a:p>
                      <a:pPr>
                        <a:defRPr sz="1000" b="1">
                          <a:solidFill>
                            <a:srgbClr val="0B4D32"/>
                          </a:solidFill>
                          <a:latin typeface="Arial"/>
                        </a:defRPr>
                      </a:pPr>
                      <a:r>
                        <a:t>4 Days (AI directed stimulus)</a:t>
                      </a:r>
                    </a:p>
                  </a:txBody>
                  <a:tcPr>
                    <a:solidFill>
                      <a:srgbClr val="FFFFFF"/>
                    </a:solidFill>
                  </a:tcPr>
                </a:tc>
                <a:tc>
                  <a:txBody>
                    <a:bodyPr/>
                    <a:lstStyle/>
                    <a:p>
                      <a:pPr>
                        <a:defRPr sz="1000" b="1">
                          <a:solidFill>
                            <a:srgbClr val="0284C7"/>
                          </a:solidFill>
                          <a:latin typeface="Arial"/>
                        </a:defRPr>
                      </a:pPr>
                      <a:r>
                        <a:t>10x Faster Sign-Off</a:t>
                      </a:r>
                    </a:p>
                  </a:txBody>
                  <a:tcPr>
                    <a:solidFill>
                      <a:srgbClr val="FFFFFF"/>
                    </a:solidFill>
                  </a:tcPr>
                </a:tc>
              </a:tr>
              <a:tr h="640080">
                <a:tc>
                  <a:txBody>
                    <a:bodyPr/>
                    <a:lstStyle/>
                    <a:p>
                      <a:pPr>
                        <a:defRPr sz="1000" b="1">
                          <a:solidFill>
                            <a:srgbClr val="0F172A"/>
                          </a:solidFill>
                          <a:latin typeface="Arial"/>
                        </a:defRPr>
                      </a:pPr>
                      <a:r>
                        <a:t>Patch Generation &amp; Sandbox Test</a:t>
                      </a:r>
                    </a:p>
                  </a:txBody>
                  <a:tcPr>
                    <a:solidFill>
                      <a:srgbClr val="F8FAFC"/>
                    </a:solidFill>
                  </a:tcPr>
                </a:tc>
                <a:tc>
                  <a:txBody>
                    <a:bodyPr/>
                    <a:lstStyle/>
                    <a:p>
                      <a:pPr>
                        <a:defRPr sz="1000">
                          <a:solidFill>
                            <a:srgbClr val="334155"/>
                          </a:solidFill>
                          <a:latin typeface="Arial"/>
                        </a:defRPr>
                      </a:pPr>
                      <a:r>
                        <a:t>1 to 2 Days (Code, lint, re-sim)</a:t>
                      </a:r>
                    </a:p>
                  </a:txBody>
                  <a:tcPr>
                    <a:solidFill>
                      <a:srgbClr val="F8FAFC"/>
                    </a:solidFill>
                  </a:tcPr>
                </a:tc>
                <a:tc>
                  <a:txBody>
                    <a:bodyPr/>
                    <a:lstStyle/>
                    <a:p>
                      <a:pPr>
                        <a:defRPr sz="1000" b="1">
                          <a:solidFill>
                            <a:srgbClr val="0B4D32"/>
                          </a:solidFill>
                          <a:latin typeface="Arial"/>
                        </a:defRPr>
                      </a:pPr>
                      <a:r>
                        <a:t>3.2 Seconds (Zero-touch git patch)</a:t>
                      </a:r>
                    </a:p>
                  </a:txBody>
                  <a:tcPr>
                    <a:solidFill>
                      <a:srgbClr val="F8FAFC"/>
                    </a:solidFill>
                  </a:tcPr>
                </a:tc>
                <a:tc>
                  <a:txBody>
                    <a:bodyPr/>
                    <a:lstStyle/>
                    <a:p>
                      <a:pPr>
                        <a:defRPr sz="1000" b="1">
                          <a:solidFill>
                            <a:srgbClr val="0284C7"/>
                          </a:solidFill>
                          <a:latin typeface="Arial"/>
                        </a:defRPr>
                      </a:pPr>
                      <a:r>
                        <a:t>Instant Self-Healing</a:t>
                      </a:r>
                    </a:p>
                  </a:txBody>
                  <a:tcPr>
                    <a:solidFill>
                      <a:srgbClr val="F8FAFC"/>
                    </a:solidFill>
                  </a:tcPr>
                </a:tc>
              </a:tr>
              <a:tr h="640080">
                <a:tc>
                  <a:txBody>
                    <a:bodyPr/>
                    <a:lstStyle/>
                    <a:p>
                      <a:pPr>
                        <a:defRPr sz="1000" b="1">
                          <a:solidFill>
                            <a:srgbClr val="0F172A"/>
                          </a:solidFill>
                          <a:latin typeface="Arial"/>
                        </a:defRPr>
                      </a:pPr>
                      <a:r>
                        <a:t>Escaped Silicon Defect Rate</a:t>
                      </a:r>
                    </a:p>
                  </a:txBody>
                  <a:tcPr>
                    <a:solidFill>
                      <a:srgbClr val="FFFFFF"/>
                    </a:solidFill>
                  </a:tcPr>
                </a:tc>
                <a:tc>
                  <a:txBody>
                    <a:bodyPr/>
                    <a:lstStyle/>
                    <a:p>
                      <a:pPr>
                        <a:defRPr sz="1000">
                          <a:solidFill>
                            <a:srgbClr val="334155"/>
                          </a:solidFill>
                          <a:latin typeface="Arial"/>
                        </a:defRPr>
                      </a:pPr>
                      <a:r>
                        <a:t>28% of chips require re-spins</a:t>
                      </a:r>
                    </a:p>
                  </a:txBody>
                  <a:tcPr>
                    <a:solidFill>
                      <a:srgbClr val="FFFFFF"/>
                    </a:solidFill>
                  </a:tcPr>
                </a:tc>
                <a:tc>
                  <a:txBody>
                    <a:bodyPr/>
                    <a:lstStyle/>
                    <a:p>
                      <a:pPr>
                        <a:defRPr sz="1000" b="1">
                          <a:solidFill>
                            <a:srgbClr val="0B4D32"/>
                          </a:solidFill>
                          <a:latin typeface="Arial"/>
                        </a:defRPr>
                      </a:pPr>
                      <a:r>
                        <a:t>&lt;2% with formal SVA + trace checks</a:t>
                      </a:r>
                    </a:p>
                  </a:txBody>
                  <a:tcPr>
                    <a:solidFill>
                      <a:srgbClr val="FFFFFF"/>
                    </a:solidFill>
                  </a:tcPr>
                </a:tc>
                <a:tc>
                  <a:txBody>
                    <a:bodyPr/>
                    <a:lstStyle/>
                    <a:p>
                      <a:pPr>
                        <a:defRPr sz="1000" b="1">
                          <a:solidFill>
                            <a:srgbClr val="0284C7"/>
                          </a:solidFill>
                          <a:latin typeface="Arial"/>
                        </a:defRPr>
                      </a:pPr>
                      <a:r>
                        <a:t>Eliminates $20M+ Re-spins</a:t>
                      </a:r>
                    </a:p>
                  </a:txBody>
                  <a:tcPr>
                    <a:solidFill>
                      <a:srgbClr val="FFFFFF"/>
                    </a:solidFill>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FINANCIAL MODEL  •  </a:t>
            </a:r>
            <a:r>
              <a:rPr sz="2100" b="1">
                <a:solidFill>
                  <a:srgbClr val="0B4D32"/>
                </a:solidFill>
                <a:latin typeface="Arial"/>
              </a:rPr>
              <a:t>Topic 8 (Cont.): Economic Impact &amp; Enterprise Return on Investment</a:t>
            </a:r>
          </a:p>
        </p:txBody>
      </p:sp>
      <p:sp>
        <p:nvSpPr>
          <p:cNvPr id="4" name="Rounded Rectangle 3"/>
          <p:cNvSpPr/>
          <p:nvPr/>
        </p:nvSpPr>
        <p:spPr>
          <a:xfrm>
            <a:off x="731520" y="1371600"/>
            <a:ext cx="342900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63240" cy="4480560"/>
          </a:xfrm>
          <a:prstGeom prst="rect">
            <a:avLst/>
          </a:prstGeom>
          <a:noFill/>
        </p:spPr>
        <p:txBody>
          <a:bodyPr wrap="square">
            <a:spAutoFit/>
          </a:bodyPr>
          <a:lstStyle/>
          <a:p>
            <a:r>
              <a:rPr sz="1300" b="1">
                <a:solidFill>
                  <a:srgbClr val="0F172A"/>
                </a:solidFill>
              </a:rPr>
              <a:t>Annual Engineering Savings
</a:t>
            </a:r>
          </a:p>
          <a:p>
            <a:r>
              <a:rPr sz="2100" b="1">
                <a:solidFill>
                  <a:srgbClr val="0B4D32"/>
                </a:solidFill>
              </a:rPr>
              <a:t>$1.8 Million / Year
</a:t>
            </a:r>
          </a:p>
          <a:p>
            <a:r>
              <a:rPr sz="1000">
                <a:solidFill>
                  <a:srgbClr val="334155"/>
                </a:solidFill>
              </a:rPr>
              <a:t>• Direct engineering time savings for a mid-sized SoC design team (25 verification engineers).
• Eliminates 8,000+ hours of manual log parsing and waveform debugging per project.
• Senior engineers redirect focus from rote triage to high-value architectural verification.</a:t>
            </a:r>
          </a:p>
        </p:txBody>
      </p:sp>
      <p:sp>
        <p:nvSpPr>
          <p:cNvPr id="6" name="Rounded Rectangle 5"/>
          <p:cNvSpPr/>
          <p:nvPr/>
        </p:nvSpPr>
        <p:spPr>
          <a:xfrm>
            <a:off x="4343400" y="1371600"/>
            <a:ext cx="3429000" cy="48463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54480"/>
            <a:ext cx="3063240" cy="4480560"/>
          </a:xfrm>
          <a:prstGeom prst="rect">
            <a:avLst/>
          </a:prstGeom>
          <a:noFill/>
        </p:spPr>
        <p:txBody>
          <a:bodyPr wrap="square">
            <a:spAutoFit/>
          </a:bodyPr>
          <a:lstStyle/>
          <a:p>
            <a:r>
              <a:rPr sz="1300" b="1">
                <a:solidFill>
                  <a:srgbClr val="0F172A"/>
                </a:solidFill>
              </a:rPr>
              <a:t>Re-Spin Prevention Value
</a:t>
            </a:r>
          </a:p>
          <a:p>
            <a:r>
              <a:rPr sz="2100" b="1">
                <a:solidFill>
                  <a:srgbClr val="0284C7"/>
                </a:solidFill>
              </a:rPr>
              <a:t>$20 Million+ Insurance
</a:t>
            </a:r>
          </a:p>
          <a:p>
            <a:r>
              <a:rPr sz="1000">
                <a:solidFill>
                  <a:srgbClr val="334155"/>
                </a:solidFill>
              </a:rPr>
              <a:t>• A single escaped functional bug at 3nm/5nm process nodes costs $15M to $30M+ in mask re-spins.
• VeriSight eliminates 3-6 months of foundry re-spin delay.
• Formal SVA assertion generation guarantees first-pass silicon bug interception.</a:t>
            </a:r>
          </a:p>
        </p:txBody>
      </p:sp>
      <p:sp>
        <p:nvSpPr>
          <p:cNvPr id="8" name="Rounded Rectangle 7"/>
          <p:cNvSpPr/>
          <p:nvPr/>
        </p:nvSpPr>
        <p:spPr>
          <a:xfrm>
            <a:off x="7955280" y="1371600"/>
            <a:ext cx="3429000" cy="484632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554480"/>
            <a:ext cx="3063240" cy="4480560"/>
          </a:xfrm>
          <a:prstGeom prst="rect">
            <a:avLst/>
          </a:prstGeom>
          <a:noFill/>
        </p:spPr>
        <p:txBody>
          <a:bodyPr wrap="square">
            <a:spAutoFit/>
          </a:bodyPr>
          <a:lstStyle/>
          <a:p>
            <a:r>
              <a:rPr sz="1300" b="1">
                <a:solidFill>
                  <a:srgbClr val="0F172A"/>
                </a:solidFill>
              </a:rPr>
              <a:t>Accelerated Time-to-Market
</a:t>
            </a:r>
          </a:p>
          <a:p>
            <a:r>
              <a:rPr sz="2100" b="1">
                <a:solidFill>
                  <a:srgbClr val="D97706"/>
                </a:solidFill>
              </a:rPr>
              <a:t>6 to 10 Weeks Faster
</a:t>
            </a:r>
          </a:p>
          <a:p>
            <a:r>
              <a:rPr sz="1000">
                <a:solidFill>
                  <a:srgbClr val="334155"/>
                </a:solidFill>
              </a:rPr>
              <a:t>• Accelerates verification closure schedule by over 40%.
• Unlocks tens of millions in first-mover commercial advantage.
• Nightly regression triage catches bugs within hours of RTL check-in.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PLATFORM CAPABILITIES  •  </a:t>
            </a:r>
            <a:r>
              <a:rPr sz="2100" b="1">
                <a:solidFill>
                  <a:srgbClr val="0B4D32"/>
                </a:solidFill>
                <a:latin typeface="Arial"/>
              </a:rPr>
              <a:t>Topic 9: Platform Capabilities — The Tri-Engine Architecture &amp; Guided Launcher</a:t>
            </a:r>
          </a:p>
        </p:txBody>
      </p:sp>
      <p:sp>
        <p:nvSpPr>
          <p:cNvPr id="4" name="Rounded Rectangle 3"/>
          <p:cNvSpPr/>
          <p:nvPr/>
        </p:nvSpPr>
        <p:spPr>
          <a:xfrm>
            <a:off x="731520" y="1371600"/>
            <a:ext cx="548640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5120640" cy="4572000"/>
          </a:xfrm>
          <a:prstGeom prst="rect">
            <a:avLst/>
          </a:prstGeom>
          <a:noFill/>
        </p:spPr>
        <p:txBody>
          <a:bodyPr wrap="square">
            <a:spAutoFit/>
          </a:bodyPr>
          <a:lstStyle/>
          <a:p>
            <a:r>
              <a:rPr sz="1400" b="1">
                <a:solidFill>
                  <a:srgbClr val="0B4D32"/>
                </a:solidFill>
              </a:rPr>
              <a:t>The Tri-Engine Autonomous Verification Suite
</a:t>
            </a:r>
          </a:p>
          <a:p>
            <a:r>
              <a:rPr b="1" sz="1000">
                <a:solidFill>
                  <a:srgbClr val="0F172A"/>
                </a:solidFill>
              </a:rPr>
              <a:t>• Engine 1: VeriSight Debug: </a:t>
            </a:r>
            <a:r>
              <a:rPr sz="950">
                <a:solidFill>
                  <a:srgbClr val="334155"/>
                </a:solidFill>
              </a:rPr>
              <a:t>Autonomous RCA, 9 deterministic rules, pyslang AST fan-in cone tracing, multi-clock CDC analysis, zero-touch unified git patch synthesis &amp; sandbox validation.
</a:t>
            </a:r>
          </a:p>
          <a:p>
            <a:r>
              <a:rPr b="1" sz="1000">
                <a:solidFill>
                  <a:srgbClr val="0F172A"/>
                </a:solidFill>
              </a:rPr>
              <a:t>• Engine 2: VeriSight Plan: </a:t>
            </a:r>
            <a:r>
              <a:rPr sz="950">
                <a:solidFill>
                  <a:srgbClr val="334155"/>
                </a:solidFill>
              </a:rPr>
              <a:t>Autonomous Verification Plan, feature decomposition, 50+ scaled testcases across 8 categories, 90+ coverage points, 150+ bins, 30+ SVA assertions. Pure spec-driven execution from PDF/MD with optional RTL.
</a:t>
            </a:r>
          </a:p>
          <a:p>
            <a:r>
              <a:rPr b="1" sz="1000">
                <a:solidFill>
                  <a:srgbClr val="0F172A"/>
                </a:solidFill>
              </a:rPr>
              <a:t>• Engine 3: VeriSight TestBench: </a:t>
            </a:r>
            <a:r>
              <a:rPr sz="950">
                <a:solidFill>
                  <a:srgbClr val="334155"/>
                </a:solidFill>
              </a:rPr>
              <a:t>Spec-Driven UVM 1.2 synthesis grounded in specification as sole functional truth. Behavioral reference models and scoreboards independently isolate DUT bugs without mirroring RTL flaws (14 VIP files).
</a:t>
            </a:r>
          </a:p>
          <a:p>
            <a:r>
              <a:rPr b="1" sz="1000">
                <a:solidFill>
                  <a:srgbClr val="0F172A"/>
                </a:solidFill>
              </a:rPr>
              <a:t>• Live Web Cockpit (`./start serve`): </a:t>
            </a:r>
            <a:r>
              <a:rPr sz="950">
                <a:solidFill>
                  <a:srgbClr val="334155"/>
                </a:solidFill>
              </a:rPr>
              <a:t>Modern browser GUI with Sage/Burgundy styling, live coverage progress tracking, and interactive sub-cycle waveform inspection.
</a:t>
            </a:r>
          </a:p>
          <a:p>
            <a:r>
              <a:rPr b="1" sz="1000">
                <a:solidFill>
                  <a:srgbClr val="0F172A"/>
                </a:solidFill>
              </a:rPr>
              <a:t>• Cloud EDA Exporter (`./start edaplayground`): </a:t>
            </a:r>
            <a:r>
              <a:rPr sz="950">
                <a:solidFill>
                  <a:srgbClr val="334155"/>
                </a:solidFill>
              </a:rPr>
              <a:t>1-click export of complete synthesized testbenches and RTL packages to cloud simulators for instant stakeholder sharing.
</a:t>
            </a:r>
          </a:p>
        </p:txBody>
      </p:sp>
      <p:sp>
        <p:nvSpPr>
          <p:cNvPr id="6" name="Rounded Rectangle 5"/>
          <p:cNvSpPr/>
          <p:nvPr/>
        </p:nvSpPr>
        <p:spPr>
          <a:xfrm>
            <a:off x="6400800" y="1371600"/>
            <a:ext cx="502920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if_01_multi_agent_workflow.gif"/>
          <p:cNvPicPr>
            <a:picLocks noChangeAspect="1"/>
          </p:cNvPicPr>
          <p:nvPr/>
        </p:nvPicPr>
        <p:blipFill>
          <a:blip r:embed="rId3"/>
          <a:stretch>
            <a:fillRect/>
          </a:stretch>
        </p:blipFill>
        <p:spPr>
          <a:xfrm>
            <a:off x="6492240" y="1508760"/>
            <a:ext cx="4846320" cy="3931920"/>
          </a:xfrm>
          <a:prstGeom prst="rect">
            <a:avLst/>
          </a:prstGeom>
        </p:spPr>
      </p:pic>
      <p:sp>
        <p:nvSpPr>
          <p:cNvPr id="8" name="TextBox 7"/>
          <p:cNvSpPr txBox="1"/>
          <p:nvPr/>
        </p:nvSpPr>
        <p:spPr>
          <a:xfrm>
            <a:off x="6492240" y="5532120"/>
            <a:ext cx="4846320" cy="548640"/>
          </a:xfrm>
          <a:prstGeom prst="rect">
            <a:avLst/>
          </a:prstGeom>
          <a:noFill/>
        </p:spPr>
        <p:txBody>
          <a:bodyPr wrap="none">
            <a:spAutoFit/>
          </a:bodyPr>
          <a:lstStyle/>
          <a:p>
            <a:r>
              <a:rPr sz="950" b="1">
                <a:solidFill>
                  <a:srgbClr val="64748B"/>
                </a:solidFill>
              </a:rPr>
              <a:t>Animated Multi-Stage Autonomous Execution Pipeline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SPEC-DRIVEN TB  •  </a:t>
            </a:r>
            <a:r>
              <a:rPr sz="2100" b="1">
                <a:solidFill>
                  <a:srgbClr val="0B4D32"/>
                </a:solidFill>
                <a:latin typeface="Arial"/>
              </a:rPr>
              <a:t>Topic 9 (Cont.): VeriSight TestBench — Spec-Driven UVM 1.2 Synthesis</a:t>
            </a:r>
          </a:p>
        </p:txBody>
      </p:sp>
      <p:sp>
        <p:nvSpPr>
          <p:cNvPr id="4" name="Rounded Rectangle 3"/>
          <p:cNvSpPr/>
          <p:nvPr/>
        </p:nvSpPr>
        <p:spPr>
          <a:xfrm>
            <a:off x="731520" y="1371600"/>
            <a:ext cx="51206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reenshot_16_spec_driven_tb.png"/>
          <p:cNvPicPr>
            <a:picLocks noChangeAspect="1"/>
          </p:cNvPicPr>
          <p:nvPr/>
        </p:nvPicPr>
        <p:blipFill>
          <a:blip r:embed="rId3"/>
          <a:stretch>
            <a:fillRect/>
          </a:stretch>
        </p:blipFill>
        <p:spPr>
          <a:xfrm>
            <a:off x="822960" y="1508760"/>
            <a:ext cx="4937760" cy="3931920"/>
          </a:xfrm>
          <a:prstGeom prst="rect">
            <a:avLst/>
          </a:prstGeom>
        </p:spPr>
      </p:pic>
      <p:sp>
        <p:nvSpPr>
          <p:cNvPr id="6" name="TextBox 5"/>
          <p:cNvSpPr txBox="1"/>
          <p:nvPr/>
        </p:nvSpPr>
        <p:spPr>
          <a:xfrm>
            <a:off x="822960" y="5532120"/>
            <a:ext cx="4937760" cy="548640"/>
          </a:xfrm>
          <a:prstGeom prst="rect">
            <a:avLst/>
          </a:prstGeom>
          <a:noFill/>
        </p:spPr>
        <p:txBody>
          <a:bodyPr wrap="none">
            <a:spAutoFit/>
          </a:bodyPr>
          <a:lstStyle/>
          <a:p>
            <a:r>
              <a:rPr sz="950" b="1">
                <a:solidFill>
                  <a:srgbClr val="64748B"/>
                </a:solidFill>
              </a:rPr>
              <a:t>Spec-Driven Verification Scoreboard &amp; Synthesized 14-Component UVM VIP Suite</a:t>
            </a:r>
          </a:p>
        </p:txBody>
      </p:sp>
      <p:sp>
        <p:nvSpPr>
          <p:cNvPr id="7" name="Rounded Rectangle 6"/>
          <p:cNvSpPr/>
          <p:nvPr/>
        </p:nvSpPr>
        <p:spPr>
          <a:xfrm>
            <a:off x="6035040" y="1371600"/>
            <a:ext cx="539496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508760"/>
            <a:ext cx="5029200" cy="4572000"/>
          </a:xfrm>
          <a:prstGeom prst="rect">
            <a:avLst/>
          </a:prstGeom>
          <a:noFill/>
        </p:spPr>
        <p:txBody>
          <a:bodyPr wrap="square">
            <a:spAutoFit/>
          </a:bodyPr>
          <a:lstStyle/>
          <a:p>
            <a:r>
              <a:rPr sz="1400" b="1">
                <a:solidFill>
                  <a:srgbClr val="0B4D32"/>
                </a:solidFill>
              </a:rPr>
              <a:t>Spec-Driven UVM 1.2 Synthesis Engine
</a:t>
            </a:r>
          </a:p>
          <a:p>
            <a:r>
              <a:rPr b="1" sz="1050">
                <a:solidFill>
                  <a:srgbClr val="0F172A"/>
                </a:solidFill>
              </a:rPr>
              <a:t>• The 'Spec-as-Truth' Principle:
</a:t>
            </a:r>
            <a:r>
              <a:rPr sz="950">
                <a:solidFill>
                  <a:srgbClr val="334155"/>
                </a:solidFill>
              </a:rPr>
              <a:t>Traditional AI testbenches mirror RTL behavior, concealing design bugs. VeriSight treats the Architectural Specification as the sole functional truth. Golden reference models and scoreboards independently isolate RTL defects rather than reproducing them.
</a:t>
            </a:r>
          </a:p>
          <a:p>
            <a:r>
              <a:rPr b="1" sz="1050">
                <a:solidFill>
                  <a:srgbClr val="0F172A"/>
                </a:solidFill>
              </a:rPr>
              <a:t>• 10-Stage Reasoning Pipeline:
</a:t>
            </a:r>
            <a:r>
              <a:rPr sz="950">
                <a:solidFill>
                  <a:srgbClr val="334155"/>
                </a:solidFill>
              </a:rPr>
              <a:t>Spec Ingestion (PDF/MD) -&gt; Port &amp; Protocol Extraction -&gt; Transaction Item Definition -&gt; VIP Components -&gt; Behavioral Golden Reference Model -&gt; Scoreboard Comparator -&gt; Coverage Subscriber -&gt; Top-Level Testbench Module.
</a:t>
            </a:r>
          </a:p>
          <a:p>
            <a:r>
              <a:rPr b="1" sz="1050">
                <a:solidFill>
                  <a:srgbClr val="0F172A"/>
                </a:solidFill>
              </a:rPr>
              <a:t>• Complete 14-Component UVM VIP Suite:
</a:t>
            </a:r>
            <a:r>
              <a:rPr sz="950">
                <a:solidFill>
                  <a:srgbClr val="334155"/>
                </a:solidFill>
              </a:rPr>
              <a:t>Generates `_if.sv`, `_seq_item.sv`, `_sequencer.sv`, `_driver.sv`, `_monitor.sv`, `_agent.sv`, `_reference_model.sv`, `_scoreboard.sv`, `_coverage.sv`, `_sequence.sv`, `_env.sv`, `_test.sv`, `_pkg.sv`, and `_tb_top.sv`.
</a:t>
            </a:r>
          </a:p>
          <a:p>
            <a:r>
              <a:rPr b="1" sz="1050">
                <a:solidFill>
                  <a:srgbClr val="0F172A"/>
                </a:solidFill>
              </a:rPr>
              <a:t>• Static IEEE-1800 &amp; Sandbox Pre-Check:
</a:t>
            </a:r>
            <a:r>
              <a:rPr sz="950">
                <a:solidFill>
                  <a:srgbClr val="334155"/>
                </a:solidFill>
              </a:rPr>
              <a:t>Pre-validated with `pyslang` parser before delivery; guaranteed syntax validity, UVM 1.2 compliance, and zero warnings on VCS, Questa, and Xcelium.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Tn>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PLAN ARCHITECT  •  </a:t>
            </a:r>
            <a:r>
              <a:rPr sz="2100" b="1">
                <a:solidFill>
                  <a:srgbClr val="0B4D32"/>
                </a:solidFill>
                <a:latin typeface="Arial"/>
              </a:rPr>
              <a:t>Topic 9 (Cont.): Dynamic Coverage Closure &amp; 50+ Test Scaling — VeriSight Plan</a:t>
            </a:r>
          </a:p>
        </p:txBody>
      </p:sp>
      <p:sp>
        <p:nvSpPr>
          <p:cNvPr id="4" name="Rounded Rectangle 3"/>
          <p:cNvSpPr/>
          <p:nvPr/>
        </p:nvSpPr>
        <p:spPr>
          <a:xfrm>
            <a:off x="731520" y="1371600"/>
            <a:ext cx="502920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if_02_coverage_closure.gif"/>
          <p:cNvPicPr>
            <a:picLocks noChangeAspect="1"/>
          </p:cNvPicPr>
          <p:nvPr/>
        </p:nvPicPr>
        <p:blipFill>
          <a:blip r:embed="rId3"/>
          <a:stretch>
            <a:fillRect/>
          </a:stretch>
        </p:blipFill>
        <p:spPr>
          <a:xfrm>
            <a:off x="822960" y="1508760"/>
            <a:ext cx="4846320" cy="3931920"/>
          </a:xfrm>
          <a:prstGeom prst="rect">
            <a:avLst/>
          </a:prstGeom>
        </p:spPr>
      </p:pic>
      <p:sp>
        <p:nvSpPr>
          <p:cNvPr id="6" name="TextBox 5"/>
          <p:cNvSpPr txBox="1"/>
          <p:nvPr/>
        </p:nvSpPr>
        <p:spPr>
          <a:xfrm>
            <a:off x="822960" y="5532120"/>
            <a:ext cx="4846320" cy="548640"/>
          </a:xfrm>
          <a:prstGeom prst="rect">
            <a:avLst/>
          </a:prstGeom>
          <a:noFill/>
        </p:spPr>
        <p:txBody>
          <a:bodyPr wrap="none">
            <a:spAutoFit/>
          </a:bodyPr>
          <a:lstStyle/>
          <a:p>
            <a:r>
              <a:rPr sz="950" b="1">
                <a:solidFill>
                  <a:srgbClr val="64748B"/>
                </a:solidFill>
              </a:rPr>
              <a:t>Animated Dynamic Coverage Closure Progression (42% -&gt; 100%)</a:t>
            </a:r>
          </a:p>
        </p:txBody>
      </p:sp>
      <p:sp>
        <p:nvSpPr>
          <p:cNvPr id="7" name="Rounded Rectangle 6"/>
          <p:cNvSpPr/>
          <p:nvPr/>
        </p:nvSpPr>
        <p:spPr>
          <a:xfrm>
            <a:off x="5943600" y="1371600"/>
            <a:ext cx="548640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1508760"/>
            <a:ext cx="5120640" cy="4572000"/>
          </a:xfrm>
          <a:prstGeom prst="rect">
            <a:avLst/>
          </a:prstGeom>
          <a:noFill/>
        </p:spPr>
        <p:txBody>
          <a:bodyPr wrap="square">
            <a:spAutoFit/>
          </a:bodyPr>
          <a:lstStyle/>
          <a:p>
            <a:r>
              <a:rPr sz="1400" b="1">
                <a:solidFill>
                  <a:srgbClr val="0B4D32"/>
                </a:solidFill>
              </a:rPr>
              <a:t>Scaled Verification Plan &amp; Pure Spec-Driven Execution
</a:t>
            </a:r>
          </a:p>
          <a:p>
            <a:r>
              <a:rPr b="1" sz="1050">
                <a:solidFill>
                  <a:srgbClr val="0F172A"/>
                </a:solidFill>
              </a:rPr>
              <a:t>• Pure Spec-Driven Mode (Optional RTL): </a:t>
            </a:r>
            <a:r>
              <a:rPr sz="950">
                <a:solidFill>
                  <a:srgbClr val="334155"/>
                </a:solidFill>
              </a:rPr>
              <a:t>Ingests architectural datasheets (PDF, Markdown, text). RTL is optional — eliminating default fallback hallucinations and enabling shift-left pre-RTL verification planning directly from specs.
</a:t>
            </a:r>
          </a:p>
          <a:p>
            <a:r>
              <a:rPr b="1" sz="1050">
                <a:solidFill>
                  <a:srgbClr val="0F172A"/>
                </a:solidFill>
              </a:rPr>
              <a:t>• 50+ Scaled Tests across 8 Categories: </a:t>
            </a:r>
            <a:r>
              <a:rPr sz="950">
                <a:solidFill>
                  <a:srgbClr val="334155"/>
                </a:solidFill>
              </a:rPr>
              <a:t>Synthesizes Directed, Constrained-Random, Reset/Init, Boundary/Corner, Error/Negative, Performance/Backpressure, Concurrency, and Protocol-Specific test scenarios.
</a:t>
            </a:r>
          </a:p>
          <a:p>
            <a:r>
              <a:rPr b="1" sz="1050">
                <a:solidFill>
                  <a:srgbClr val="0F172A"/>
                </a:solidFill>
              </a:rPr>
              <a:t>• Multi-Covergroups with 90+ CPs &amp; 150+ Bins: </a:t>
            </a:r>
            <a:r>
              <a:rPr sz="950">
                <a:solidFill>
                  <a:srgbClr val="334155"/>
                </a:solidFill>
              </a:rPr>
              <a:t>Defines protocol state transitions, illegal state avoidance, cross-coverage matrices, and FIFO/bus boundary conditions.
</a:t>
            </a:r>
          </a:p>
          <a:p>
            <a:r>
              <a:rPr b="1" sz="1050">
                <a:solidFill>
                  <a:srgbClr val="0F172A"/>
                </a:solidFill>
              </a:rPr>
              <a:t>• 30+ SystemVerilog Assertions (SVA): </a:t>
            </a:r>
            <a:r>
              <a:rPr sz="950">
                <a:solidFill>
                  <a:srgbClr val="334155"/>
                </a:solidFill>
              </a:rPr>
              <a:t>Synthesizes formal protocol timing checks, handshake assertions, and safety properties directly from specification requirements.
</a:t>
            </a:r>
          </a:p>
          <a:p>
            <a:r>
              <a:rPr b="1" sz="1050">
                <a:solidFill>
                  <a:srgbClr val="0F172A"/>
                </a:solidFill>
              </a:rPr>
              <a:t>• Simulator UCDB Ingestion &amp; ISO 26262 Matrix: </a:t>
            </a:r>
            <a:r>
              <a:rPr sz="950">
                <a:solidFill>
                  <a:srgbClr val="334155"/>
                </a:solidFill>
              </a:rPr>
              <a:t>Ingests Questa UCDB / Synopsys vDB to identify zero-hit holes and outputs bi-directional traceability matrices (`traceability_matrix.csv`).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Tn>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GUI DIAGNOSTIC  •  </a:t>
            </a:r>
            <a:r>
              <a:rPr sz="2100" b="1">
                <a:solidFill>
                  <a:srgbClr val="0B4D32"/>
                </a:solidFill>
                <a:latin typeface="Arial"/>
              </a:rPr>
              <a:t>Topic 9 (Cont.): Root-Cause Studio &amp; Waveform Inspector</a:t>
            </a:r>
          </a:p>
        </p:txBody>
      </p:sp>
      <p:sp>
        <p:nvSpPr>
          <p:cNvPr id="4" name="Rounded Rectangle 3"/>
          <p:cNvSpPr/>
          <p:nvPr/>
        </p:nvSpPr>
        <p:spPr>
          <a:xfrm>
            <a:off x="731520" y="1371600"/>
            <a:ext cx="566928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reenshot_12_rca_dashboard_gui.png"/>
          <p:cNvPicPr>
            <a:picLocks noChangeAspect="1"/>
          </p:cNvPicPr>
          <p:nvPr/>
        </p:nvPicPr>
        <p:blipFill>
          <a:blip r:embed="rId3"/>
          <a:stretch>
            <a:fillRect/>
          </a:stretch>
        </p:blipFill>
        <p:spPr>
          <a:xfrm>
            <a:off x="822960" y="1508760"/>
            <a:ext cx="5486400" cy="3931920"/>
          </a:xfrm>
          <a:prstGeom prst="rect">
            <a:avLst/>
          </a:prstGeom>
        </p:spPr>
      </p:pic>
      <p:sp>
        <p:nvSpPr>
          <p:cNvPr id="6" name="TextBox 5"/>
          <p:cNvSpPr txBox="1"/>
          <p:nvPr/>
        </p:nvSpPr>
        <p:spPr>
          <a:xfrm>
            <a:off x="822960" y="5532120"/>
            <a:ext cx="5486400" cy="548640"/>
          </a:xfrm>
          <a:prstGeom prst="rect">
            <a:avLst/>
          </a:prstGeom>
          <a:noFill/>
        </p:spPr>
        <p:txBody>
          <a:bodyPr wrap="none">
            <a:spAutoFit/>
          </a:bodyPr>
          <a:lstStyle/>
          <a:p>
            <a:r>
              <a:rPr sz="950" b="1">
                <a:solidFill>
                  <a:srgbClr val="64748B"/>
                </a:solidFill>
              </a:rPr>
              <a:t>Interactive RCA Dashboard &amp; Waveform Studio with Cursor Synchronization</a:t>
            </a:r>
          </a:p>
        </p:txBody>
      </p:sp>
      <p:sp>
        <p:nvSpPr>
          <p:cNvPr id="7" name="Rounded Rectangle 6"/>
          <p:cNvSpPr/>
          <p:nvPr/>
        </p:nvSpPr>
        <p:spPr>
          <a:xfrm>
            <a:off x="6583680" y="1371600"/>
            <a:ext cx="484632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508760"/>
            <a:ext cx="4480560" cy="4572000"/>
          </a:xfrm>
          <a:prstGeom prst="rect">
            <a:avLst/>
          </a:prstGeom>
          <a:noFill/>
        </p:spPr>
        <p:txBody>
          <a:bodyPr wrap="square">
            <a:spAutoFit/>
          </a:bodyPr>
          <a:lstStyle/>
          <a:p>
            <a:r>
              <a:rPr sz="1400" b="1">
                <a:solidFill>
                  <a:srgbClr val="0B4D32"/>
                </a:solidFill>
              </a:rPr>
              <a:t>Sub-Cycle Waveform Correlation Features
</a:t>
            </a:r>
          </a:p>
          <a:p>
            <a:r>
              <a:rPr b="1" sz="1050">
                <a:solidFill>
                  <a:srgbClr val="0F172A"/>
                </a:solidFill>
              </a:rPr>
              <a:t>• Unified Failure Timeline:
</a:t>
            </a:r>
            <a:r>
              <a:rPr sz="950">
                <a:solidFill>
                  <a:srgbClr val="334155"/>
                </a:solidFill>
              </a:rPr>
              <a:t>Correlates simulation log errors with exact physical clock edges and transaction markers.
</a:t>
            </a:r>
          </a:p>
          <a:p>
            <a:r>
              <a:rPr b="1" sz="1050">
                <a:solidFill>
                  <a:srgbClr val="0F172A"/>
                </a:solidFill>
              </a:rPr>
              <a:t>• Multi-Signal Bus Radix View:
</a:t>
            </a:r>
            <a:r>
              <a:rPr sz="950">
                <a:solidFill>
                  <a:srgbClr val="334155"/>
                </a:solidFill>
              </a:rPr>
              <a:t>Decodes binary, hexadecimal, and one-hot FSM states dynamically in browser canvas.
</a:t>
            </a:r>
          </a:p>
          <a:p>
            <a:r>
              <a:rPr b="1" sz="1050">
                <a:solidFill>
                  <a:srgbClr val="0F172A"/>
                </a:solidFill>
              </a:rPr>
              <a:t>• Failure Marker Cursor:
</a:t>
            </a:r>
            <a:r>
              <a:rPr sz="950">
                <a:solidFill>
                  <a:srgbClr val="334155"/>
                </a:solidFill>
              </a:rPr>
              <a:t>Automatically places inspection cursor at exact assertion trip timestamp (e.g. 450ns).
</a:t>
            </a:r>
          </a:p>
          <a:p>
            <a:r>
              <a:rPr b="1" sz="1050">
                <a:solidFill>
                  <a:srgbClr val="0F172A"/>
                </a:solidFill>
              </a:rPr>
              <a:t>• pyslang Fan-In Cone Tracing:
</a:t>
            </a:r>
            <a:r>
              <a:rPr sz="950">
                <a:solidFill>
                  <a:srgbClr val="334155"/>
                </a:solidFill>
              </a:rPr>
              <a:t>Cross-probes failing signals backward to active drivers, uninitialized registers, and clock boundaries.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Tn>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AUTOMATED REPAIR  •  </a:t>
            </a:r>
            <a:r>
              <a:rPr sz="2100" b="1">
                <a:solidFill>
                  <a:srgbClr val="0B4D32"/>
                </a:solidFill>
                <a:latin typeface="Arial"/>
              </a:rPr>
              <a:t>Topic 9 (Cont.): Automated Unified Patching &amp; Sandbox Safety</a:t>
            </a:r>
          </a:p>
        </p:txBody>
      </p:sp>
      <p:sp>
        <p:nvSpPr>
          <p:cNvPr id="4" name="Rounded Rectangle 3"/>
          <p:cNvSpPr/>
          <p:nvPr/>
        </p:nvSpPr>
        <p:spPr>
          <a:xfrm>
            <a:off x="731520" y="1371600"/>
            <a:ext cx="566928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reenshot_13_automated_patch.png"/>
          <p:cNvPicPr>
            <a:picLocks noChangeAspect="1"/>
          </p:cNvPicPr>
          <p:nvPr/>
        </p:nvPicPr>
        <p:blipFill>
          <a:blip r:embed="rId3"/>
          <a:stretch>
            <a:fillRect/>
          </a:stretch>
        </p:blipFill>
        <p:spPr>
          <a:xfrm>
            <a:off x="822960" y="1508760"/>
            <a:ext cx="5486400" cy="3931920"/>
          </a:xfrm>
          <a:prstGeom prst="rect">
            <a:avLst/>
          </a:prstGeom>
        </p:spPr>
      </p:pic>
      <p:sp>
        <p:nvSpPr>
          <p:cNvPr id="6" name="TextBox 5"/>
          <p:cNvSpPr txBox="1"/>
          <p:nvPr/>
        </p:nvSpPr>
        <p:spPr>
          <a:xfrm>
            <a:off x="822960" y="5532120"/>
            <a:ext cx="5486400" cy="548640"/>
          </a:xfrm>
          <a:prstGeom prst="rect">
            <a:avLst/>
          </a:prstGeom>
          <a:noFill/>
        </p:spPr>
        <p:txBody>
          <a:bodyPr wrap="none">
            <a:spAutoFit/>
          </a:bodyPr>
          <a:lstStyle/>
          <a:p>
            <a:r>
              <a:rPr sz="950" b="1">
                <a:solidFill>
                  <a:srgbClr val="64748B"/>
                </a:solidFill>
              </a:rPr>
              <a:t>VeriSight Unified Git Diff Patch with Automated Sandbox Verification</a:t>
            </a:r>
          </a:p>
        </p:txBody>
      </p:sp>
      <p:sp>
        <p:nvSpPr>
          <p:cNvPr id="7" name="Rounded Rectangle 6"/>
          <p:cNvSpPr/>
          <p:nvPr/>
        </p:nvSpPr>
        <p:spPr>
          <a:xfrm>
            <a:off x="6583680" y="1371600"/>
            <a:ext cx="484632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508760"/>
            <a:ext cx="4480560" cy="4572000"/>
          </a:xfrm>
          <a:prstGeom prst="rect">
            <a:avLst/>
          </a:prstGeom>
          <a:noFill/>
        </p:spPr>
        <p:txBody>
          <a:bodyPr wrap="square">
            <a:spAutoFit/>
          </a:bodyPr>
          <a:lstStyle/>
          <a:p>
            <a:r>
              <a:rPr sz="1400" b="1">
                <a:solidFill>
                  <a:srgbClr val="0B4D32"/>
                </a:solidFill>
              </a:rPr>
              <a:t>The Zero-Touch Repair Loop
</a:t>
            </a:r>
          </a:p>
          <a:p>
            <a:r>
              <a:rPr b="1" sz="1050">
                <a:solidFill>
                  <a:srgbClr val="0F172A"/>
                </a:solidFill>
              </a:rPr>
              <a:t>1. Minimal Git Diff
</a:t>
            </a:r>
            <a:r>
              <a:rPr sz="950">
                <a:solidFill>
                  <a:srgbClr val="334155"/>
                </a:solidFill>
              </a:rPr>
              <a:t>Synthesizes surgical diff altering only the root-cause bug line without unintended side effects.
</a:t>
            </a:r>
          </a:p>
          <a:p>
            <a:r>
              <a:rPr b="1" sz="1050">
                <a:solidFill>
                  <a:srgbClr val="0F172A"/>
                </a:solidFill>
              </a:rPr>
              <a:t>2. AST Syntax Pre-Check
</a:t>
            </a:r>
            <a:r>
              <a:rPr sz="950">
                <a:solidFill>
                  <a:srgbClr val="334155"/>
                </a:solidFill>
              </a:rPr>
              <a:t>Parses modified HDL with pyslang (Slang frontend) to catch genuine syntax errors before saving — distinguishing syntax errors from missing macros.
</a:t>
            </a:r>
          </a:p>
          <a:p>
            <a:r>
              <a:rPr b="1" sz="1050">
                <a:solidFill>
                  <a:srgbClr val="0F172A"/>
                </a:solidFill>
              </a:rPr>
              <a:t>3. Isolated Sandbox Simulation
</a:t>
            </a:r>
            <a:r>
              <a:rPr sz="950">
                <a:solidFill>
                  <a:srgbClr val="334155"/>
                </a:solidFill>
              </a:rPr>
              <a:t>Copies patched design into /tmp sandbox and re-executes original simulation using the active EDA tool.
</a:t>
            </a:r>
          </a:p>
          <a:p>
            <a:r>
              <a:rPr b="1" sz="1050">
                <a:solidFill>
                  <a:srgbClr val="0F172A"/>
                </a:solidFill>
              </a:rPr>
              <a:t>4. Regression Clean Sign-Off
</a:t>
            </a:r>
            <a:r>
              <a:rPr sz="950">
                <a:solidFill>
                  <a:srgbClr val="334155"/>
                </a:solidFill>
              </a:rPr>
              <a:t>Confirms failing assertion is eliminated and all existing regression tests continue to pass.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Tn>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COST EFFICIENCY  •  </a:t>
            </a:r>
            <a:r>
              <a:rPr sz="2100" b="1">
                <a:solidFill>
                  <a:srgbClr val="0B4D32"/>
                </a:solidFill>
                <a:latin typeface="Arial"/>
              </a:rPr>
              <a:t>Topic 10: Token Utilization Over Cost — Sovereign Economics</a:t>
            </a:r>
          </a:p>
        </p:txBody>
      </p:sp>
      <p:sp>
        <p:nvSpPr>
          <p:cNvPr id="4" name="Rounded Rectangle 3"/>
          <p:cNvSpPr/>
          <p:nvPr/>
        </p:nvSpPr>
        <p:spPr>
          <a:xfrm>
            <a:off x="731520" y="1371600"/>
            <a:ext cx="342900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63240" cy="4297680"/>
          </a:xfrm>
          <a:prstGeom prst="rect">
            <a:avLst/>
          </a:prstGeom>
          <a:noFill/>
        </p:spPr>
        <p:txBody>
          <a:bodyPr wrap="square">
            <a:spAutoFit/>
          </a:bodyPr>
          <a:lstStyle/>
          <a:p>
            <a:r>
              <a:rPr sz="1300" b="1">
                <a:solidFill>
                  <a:srgbClr val="0F172A"/>
                </a:solidFill>
              </a:rPr>
              <a:t>Cloud API Cost per Run
</a:t>
            </a:r>
          </a:p>
          <a:p>
            <a:r>
              <a:rPr sz="2100" b="1">
                <a:solidFill>
                  <a:srgbClr val="0B4D32"/>
                </a:solidFill>
              </a:rPr>
              <a:t>$0.02 - $0.05
</a:t>
            </a:r>
          </a:p>
          <a:p>
            <a:r>
              <a:rPr sz="1000">
                <a:solidFill>
                  <a:srgbClr val="334155"/>
                </a:solidFill>
              </a:rPr>
              <a:t>• Using Gemini 2.5 Flash or Claude 3.5 Sonnet: Average 12k tokens per complete debug run.
• An entire 1,000-test regression costs under $35 total.
• Over 99% cheaper than human engineer hourly rates ($75-$150/hr).</a:t>
            </a:r>
          </a:p>
        </p:txBody>
      </p:sp>
      <p:sp>
        <p:nvSpPr>
          <p:cNvPr id="6" name="Rounded Rectangle 5"/>
          <p:cNvSpPr/>
          <p:nvPr/>
        </p:nvSpPr>
        <p:spPr>
          <a:xfrm>
            <a:off x="4343400" y="1371600"/>
            <a:ext cx="3429000" cy="48463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063240" cy="4297680"/>
          </a:xfrm>
          <a:prstGeom prst="rect">
            <a:avLst/>
          </a:prstGeom>
          <a:noFill/>
        </p:spPr>
        <p:txBody>
          <a:bodyPr wrap="square">
            <a:spAutoFit/>
          </a:bodyPr>
          <a:lstStyle/>
          <a:p>
            <a:r>
              <a:rPr sz="1300" b="1">
                <a:solidFill>
                  <a:srgbClr val="0F172A"/>
                </a:solidFill>
              </a:rPr>
              <a:t>Sovereign Offline Cost
</a:t>
            </a:r>
          </a:p>
          <a:p>
            <a:r>
              <a:rPr sz="2100" b="1">
                <a:solidFill>
                  <a:srgbClr val="0284C7"/>
                </a:solidFill>
              </a:rPr>
              <a:t>$0.00 Marginal Cost
</a:t>
            </a:r>
          </a:p>
          <a:p>
            <a:r>
              <a:rPr sz="1000">
                <a:solidFill>
                  <a:srgbClr val="334155"/>
                </a:solidFill>
              </a:rPr>
              <a:t>• Deployable on on-premise GPU servers using local Ollama or vLLM.
• Runs DeepSeek-Coder-V2 or Llama-3-70B with air-gapped zero external data transfer.
• Guarantees 100% silicon IP confidentiality and IT security compliance.</a:t>
            </a:r>
          </a:p>
        </p:txBody>
      </p:sp>
      <p:sp>
        <p:nvSpPr>
          <p:cNvPr id="8" name="Rounded Rectangle 7"/>
          <p:cNvSpPr/>
          <p:nvPr/>
        </p:nvSpPr>
        <p:spPr>
          <a:xfrm>
            <a:off x="7955280" y="1371600"/>
            <a:ext cx="3429000" cy="484632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645920"/>
            <a:ext cx="3063240" cy="4297680"/>
          </a:xfrm>
          <a:prstGeom prst="rect">
            <a:avLst/>
          </a:prstGeom>
          <a:noFill/>
        </p:spPr>
        <p:txBody>
          <a:bodyPr wrap="square">
            <a:spAutoFit/>
          </a:bodyPr>
          <a:lstStyle/>
          <a:p>
            <a:r>
              <a:rPr sz="1300" b="1">
                <a:solidFill>
                  <a:srgbClr val="0F172A"/>
                </a:solidFill>
              </a:rPr>
              <a:t>AST Token Optimization
</a:t>
            </a:r>
          </a:p>
          <a:p>
            <a:r>
              <a:rPr sz="2100" b="1">
                <a:solidFill>
                  <a:srgbClr val="D97706"/>
                </a:solidFill>
              </a:rPr>
              <a:t>84% Token Reduction
</a:t>
            </a:r>
          </a:p>
          <a:p>
            <a:r>
              <a:rPr sz="1000">
                <a:solidFill>
                  <a:srgbClr val="334155"/>
                </a:solidFill>
              </a:rPr>
              <a:t>• pyslang AST pruning and targeted log slicing strip out 84% of irrelevant tokens before reaching LLM context.
• Feeds strictly relevant logic cone to context.
• Prevents prompt bloat and achieves sub-15s response latency.</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STRATEGIC ADVANTAGE  •  </a:t>
            </a:r>
            <a:r>
              <a:rPr sz="2100" b="1">
                <a:solidFill>
                  <a:srgbClr val="0B4D32"/>
                </a:solidFill>
                <a:latin typeface="Arial"/>
              </a:rPr>
              <a:t>Topic 11: Summary — The VeriSight Defensible Moat</a:t>
            </a:r>
          </a:p>
        </p:txBody>
      </p:sp>
      <p:sp>
        <p:nvSpPr>
          <p:cNvPr id="4" name="Rounded Rectangle 3"/>
          <p:cNvSpPr/>
          <p:nvPr/>
        </p:nvSpPr>
        <p:spPr>
          <a:xfrm>
            <a:off x="731520" y="1371600"/>
            <a:ext cx="5212080" cy="228600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754880" cy="1920240"/>
          </a:xfrm>
          <a:prstGeom prst="rect">
            <a:avLst/>
          </a:prstGeom>
          <a:noFill/>
        </p:spPr>
        <p:txBody>
          <a:bodyPr wrap="square">
            <a:spAutoFit/>
          </a:bodyPr>
          <a:lstStyle/>
          <a:p>
            <a:r>
              <a:rPr sz="1350" b="1">
                <a:solidFill>
                  <a:srgbClr val="0B4D32"/>
                </a:solidFill>
              </a:rPr>
              <a:t>Deep Domain Grounding
</a:t>
            </a:r>
          </a:p>
          <a:p>
            <a:r>
              <a:rPr sz="1000">
                <a:solidFill>
                  <a:srgbClr val="334155"/>
                </a:solidFill>
              </a:rPr>
              <a:t>• Not a generic LLM wrapper: Built on 9 formal decision rules, pyslang elaborated AST, and temporal waveform slicing.
• Truly understands 4-state simulation (X/Z), CDC synchronizers, and UVM TLM transactions.</a:t>
            </a:r>
          </a:p>
        </p:txBody>
      </p:sp>
      <p:sp>
        <p:nvSpPr>
          <p:cNvPr id="6" name="Rounded Rectangle 5"/>
          <p:cNvSpPr/>
          <p:nvPr/>
        </p:nvSpPr>
        <p:spPr>
          <a:xfrm>
            <a:off x="6126480" y="1371600"/>
            <a:ext cx="5212080" cy="228600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554480"/>
            <a:ext cx="4754880" cy="1920240"/>
          </a:xfrm>
          <a:prstGeom prst="rect">
            <a:avLst/>
          </a:prstGeom>
          <a:noFill/>
        </p:spPr>
        <p:txBody>
          <a:bodyPr wrap="square">
            <a:spAutoFit/>
          </a:bodyPr>
          <a:lstStyle/>
          <a:p>
            <a:r>
              <a:rPr sz="1350" b="1">
                <a:solidFill>
                  <a:srgbClr val="0284C7"/>
                </a:solidFill>
              </a:rPr>
              <a:t>Air-Gapped Sovereign Security
</a:t>
            </a:r>
          </a:p>
          <a:p>
            <a:r>
              <a:rPr sz="1000">
                <a:solidFill>
                  <a:srgbClr val="334155"/>
                </a:solidFill>
              </a:rPr>
              <a:t>• Semiconductor IP never leaves customer premises when running sovereign local mode.
• Compatible with defense, aerospace, and high-security fabless semiconductor security policies.</a:t>
            </a:r>
          </a:p>
        </p:txBody>
      </p:sp>
      <p:sp>
        <p:nvSpPr>
          <p:cNvPr id="8" name="Rounded Rectangle 7"/>
          <p:cNvSpPr/>
          <p:nvPr/>
        </p:nvSpPr>
        <p:spPr>
          <a:xfrm>
            <a:off x="731520" y="3840480"/>
            <a:ext cx="5212080" cy="228600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023360"/>
            <a:ext cx="4754880" cy="1920240"/>
          </a:xfrm>
          <a:prstGeom prst="rect">
            <a:avLst/>
          </a:prstGeom>
          <a:noFill/>
        </p:spPr>
        <p:txBody>
          <a:bodyPr wrap="square">
            <a:spAutoFit/>
          </a:bodyPr>
          <a:lstStyle/>
          <a:p>
            <a:r>
              <a:rPr sz="1350" b="1">
                <a:solidFill>
                  <a:srgbClr val="D97706"/>
                </a:solidFill>
              </a:rPr>
              <a:t>Zero Vendor Lock-In
</a:t>
            </a:r>
          </a:p>
          <a:p>
            <a:r>
              <a:rPr sz="1000">
                <a:solidFill>
                  <a:srgbClr val="334155"/>
                </a:solidFill>
              </a:rPr>
              <a:t>• Seamless Day-1 abstraction layer sitting above Synopsys VCS, Siemens Questa, Cadence Xcelium, and Verilator.
• Drop-in integration into existing Makefiles, run scripts, and regression managers.</a:t>
            </a:r>
          </a:p>
        </p:txBody>
      </p:sp>
      <p:sp>
        <p:nvSpPr>
          <p:cNvPr id="10" name="Rounded Rectangle 9"/>
          <p:cNvSpPr/>
          <p:nvPr/>
        </p:nvSpPr>
        <p:spPr>
          <a:xfrm>
            <a:off x="6126480" y="3840480"/>
            <a:ext cx="5212080" cy="228600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023360"/>
            <a:ext cx="4754880" cy="1920240"/>
          </a:xfrm>
          <a:prstGeom prst="rect">
            <a:avLst/>
          </a:prstGeom>
          <a:noFill/>
        </p:spPr>
        <p:txBody>
          <a:bodyPr wrap="square">
            <a:spAutoFit/>
          </a:bodyPr>
          <a:lstStyle/>
          <a:p>
            <a:r>
              <a:rPr sz="1350" b="1">
                <a:solidFill>
                  <a:srgbClr val="0B4D32"/>
                </a:solidFill>
              </a:rPr>
              <a:t>Massive Enterprise ROI
</a:t>
            </a:r>
          </a:p>
          <a:p>
            <a:r>
              <a:rPr sz="1000">
                <a:solidFill>
                  <a:srgbClr val="334155"/>
                </a:solidFill>
              </a:rPr>
              <a:t>• Reduces triage turnaround time from 4-6 hours to &lt;15 seconds (99.3% acceleration).
• Eliminates multi-million dollar physical mask re-spins and accelerates time-to-market by 6-10 weeks.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Tn>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PRODUCT ROADMAP  •  </a:t>
            </a:r>
            <a:r>
              <a:rPr sz="2100" b="1">
                <a:solidFill>
                  <a:srgbClr val="0B4D32"/>
                </a:solidFill>
                <a:latin typeface="Arial"/>
              </a:rPr>
              <a:t>Topic 12: Future Scope — The Autonomous Silicon Roadmap</a:t>
            </a:r>
          </a:p>
        </p:txBody>
      </p:sp>
      <p:sp>
        <p:nvSpPr>
          <p:cNvPr id="4" name="Rounded Rectangle 3"/>
          <p:cNvSpPr/>
          <p:nvPr/>
        </p:nvSpPr>
        <p:spPr>
          <a:xfrm>
            <a:off x="731520" y="1371600"/>
            <a:ext cx="342900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63240" cy="4480560"/>
          </a:xfrm>
          <a:prstGeom prst="rect">
            <a:avLst/>
          </a:prstGeom>
          <a:noFill/>
        </p:spPr>
        <p:txBody>
          <a:bodyPr wrap="square">
            <a:spAutoFit/>
          </a:bodyPr>
          <a:lstStyle/>
          <a:p>
            <a:r>
              <a:rPr sz="1300" b="1">
                <a:solidFill>
                  <a:srgbClr val="0B4D32"/>
                </a:solidFill>
              </a:rPr>
              <a:t>Phase 1: Present (v2.4)
</a:t>
            </a:r>
          </a:p>
          <a:p>
            <a:r>
              <a:rPr sz="1100" b="1">
                <a:solidFill>
                  <a:srgbClr val="0F172A"/>
                </a:solidFill>
              </a:rPr>
              <a:t>Production Tri-Engine Architecture
</a:t>
            </a:r>
          </a:p>
          <a:p>
            <a:r>
              <a:rPr sz="950">
                <a:solidFill>
                  <a:srgbClr val="334155"/>
                </a:solidFill>
              </a:rPr>
              <a:t>• Tri-Engine Suite: Debug, Plan &amp; TestBench
• Spec-Driven UVM 1.2 Synthesis Agent
• 9 Formal RCA Decision Rules
• pyslang IEEE-1800 AST X-Tracer
• Live Coverage Cockpit &amp; Waveform Studio
• Zero-Touch Sandbox Auto-Patching</a:t>
            </a:r>
          </a:p>
        </p:txBody>
      </p:sp>
      <p:sp>
        <p:nvSpPr>
          <p:cNvPr id="6" name="Rounded Rectangle 5"/>
          <p:cNvSpPr/>
          <p:nvPr/>
        </p:nvSpPr>
        <p:spPr>
          <a:xfrm>
            <a:off x="4343400" y="1371600"/>
            <a:ext cx="3429000" cy="48463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54480"/>
            <a:ext cx="3063240" cy="4480560"/>
          </a:xfrm>
          <a:prstGeom prst="rect">
            <a:avLst/>
          </a:prstGeom>
          <a:noFill/>
        </p:spPr>
        <p:txBody>
          <a:bodyPr wrap="square">
            <a:spAutoFit/>
          </a:bodyPr>
          <a:lstStyle/>
          <a:p>
            <a:r>
              <a:rPr sz="1300" b="1">
                <a:solidFill>
                  <a:srgbClr val="0284C7"/>
                </a:solidFill>
              </a:rPr>
              <a:t>Phase 2: Q1-Q2 2027
</a:t>
            </a:r>
          </a:p>
          <a:p>
            <a:r>
              <a:rPr sz="1100" b="1">
                <a:solidFill>
                  <a:srgbClr val="0F172A"/>
                </a:solidFill>
              </a:rPr>
              <a:t>Continuous Regression Intelligence
</a:t>
            </a:r>
          </a:p>
          <a:p>
            <a:r>
              <a:rPr sz="950">
                <a:solidFill>
                  <a:srgbClr val="334155"/>
                </a:solidFill>
              </a:rPr>
              <a:t>• Nightly farm log clustering &amp; anomaly grouping
• Automated test deduplication
• Bayesian stimulus tuning for coverage holes
• Cross-project historical defect memory
• Automated Git Pull Request review comments</a:t>
            </a:r>
          </a:p>
        </p:txBody>
      </p:sp>
      <p:sp>
        <p:nvSpPr>
          <p:cNvPr id="8" name="Rounded Rectangle 7"/>
          <p:cNvSpPr/>
          <p:nvPr/>
        </p:nvSpPr>
        <p:spPr>
          <a:xfrm>
            <a:off x="7955280" y="1371600"/>
            <a:ext cx="3429000" cy="484632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554480"/>
            <a:ext cx="3063240" cy="4480560"/>
          </a:xfrm>
          <a:prstGeom prst="rect">
            <a:avLst/>
          </a:prstGeom>
          <a:noFill/>
        </p:spPr>
        <p:txBody>
          <a:bodyPr wrap="square">
            <a:spAutoFit/>
          </a:bodyPr>
          <a:lstStyle/>
          <a:p>
            <a:r>
              <a:rPr sz="1300" b="1">
                <a:solidFill>
                  <a:srgbClr val="D97706"/>
                </a:solidFill>
              </a:rPr>
              <a:t>Phase 3: Q3-Q4 2027
</a:t>
            </a:r>
          </a:p>
          <a:p>
            <a:r>
              <a:rPr sz="1100" b="1">
                <a:solidFill>
                  <a:srgbClr val="0F172A"/>
                </a:solidFill>
              </a:rPr>
              <a:t>Silicon-to-Software Autonomous Loop
</a:t>
            </a:r>
          </a:p>
          <a:p>
            <a:r>
              <a:rPr sz="950">
                <a:solidFill>
                  <a:srgbClr val="334155"/>
                </a:solidFill>
              </a:rPr>
              <a:t>• Post-silicon ATE automated tester link
• Scan chain fault diagnosis &amp; silicon debug
• Automated ATPG test vector synthesis
• Formal mathematical theorem proving
• ISO 26262 ASIL-D safety lifecycle sign-off</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ENTERPRISE INTEGRATION  •  </a:t>
            </a:r>
            <a:r>
              <a:rPr sz="2100" b="1">
                <a:solidFill>
                  <a:srgbClr val="0B4D32"/>
                </a:solidFill>
                <a:latin typeface="Arial"/>
              </a:rPr>
              <a:t>Topic 13: Integration Into Real World Chip Design</a:t>
            </a:r>
          </a:p>
        </p:txBody>
      </p:sp>
      <p:sp>
        <p:nvSpPr>
          <p:cNvPr id="4" name="Rounded Rectangle 3"/>
          <p:cNvSpPr/>
          <p:nvPr/>
        </p:nvSpPr>
        <p:spPr>
          <a:xfrm>
            <a:off x="731520" y="1371600"/>
            <a:ext cx="5486400" cy="484632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5120640" cy="4572000"/>
          </a:xfrm>
          <a:prstGeom prst="rect">
            <a:avLst/>
          </a:prstGeom>
          <a:noFill/>
        </p:spPr>
        <p:txBody>
          <a:bodyPr wrap="square">
            <a:spAutoFit/>
          </a:bodyPr>
          <a:lstStyle/>
          <a:p>
            <a:r>
              <a:rPr sz="1400" b="1">
                <a:solidFill>
                  <a:srgbClr val="0B4D32"/>
                </a:solidFill>
              </a:rPr>
              <a:t>Day-1 Frictionless CI/CD Deployment
</a:t>
            </a:r>
          </a:p>
          <a:p>
            <a:r>
              <a:rPr b="1" sz="1050">
                <a:solidFill>
                  <a:srgbClr val="0F172A"/>
                </a:solidFill>
              </a:rPr>
              <a:t>• CI/CD Pipeline Hooks: </a:t>
            </a:r>
            <a:r>
              <a:rPr sz="950">
                <a:solidFill>
                  <a:srgbClr val="334155"/>
                </a:solidFill>
              </a:rPr>
              <a:t>Integrates natively into Jenkins, GitLab CI, GitHub Actions via headless CLI.
</a:t>
            </a:r>
          </a:p>
          <a:p>
            <a:r>
              <a:rPr b="1" sz="1050">
                <a:solidFill>
                  <a:srgbClr val="0F172A"/>
                </a:solidFill>
              </a:rPr>
              <a:t>• Zero EDA Toolchain Disruption: </a:t>
            </a:r>
            <a:r>
              <a:rPr sz="950">
                <a:solidFill>
                  <a:srgbClr val="334155"/>
                </a:solidFill>
              </a:rPr>
              <a:t>Wraps around existing Synopsys, Siemens, and Cadence regression scripts without modifying Makefiles.
</a:t>
            </a:r>
          </a:p>
          <a:p>
            <a:r>
              <a:rPr b="1" sz="1050">
                <a:solidFill>
                  <a:srgbClr val="0F172A"/>
                </a:solidFill>
              </a:rPr>
              <a:t>• Standard Format Ingestion: </a:t>
            </a:r>
            <a:r>
              <a:rPr sz="950">
                <a:solidFill>
                  <a:srgbClr val="334155"/>
                </a:solidFill>
              </a:rPr>
              <a:t>Parses industry standard formats: SystemVerilog (.sv), VCD, FSDB, UCDB, and JUnit XML.
</a:t>
            </a:r>
          </a:p>
          <a:p>
            <a:r>
              <a:rPr b="1" sz="1050">
                <a:solidFill>
                  <a:srgbClr val="0F172A"/>
                </a:solidFill>
              </a:rPr>
              <a:t>• Strict Enterprise Security Boundary: </a:t>
            </a:r>
            <a:r>
              <a:rPr sz="950">
                <a:solidFill>
                  <a:srgbClr val="334155"/>
                </a:solidFill>
              </a:rPr>
              <a:t>Air-gapped on-premise execution with local Ollama/vLLM endpoints and complete RTL IP sanitization.
</a:t>
            </a:r>
          </a:p>
        </p:txBody>
      </p:sp>
      <p:sp>
        <p:nvSpPr>
          <p:cNvPr id="6" name="Rounded Rectangle 5"/>
          <p:cNvSpPr/>
          <p:nvPr/>
        </p:nvSpPr>
        <p:spPr>
          <a:xfrm>
            <a:off x="6400800" y="1371600"/>
            <a:ext cx="502920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reenshot_15_ci_cd_regression.png"/>
          <p:cNvPicPr>
            <a:picLocks noChangeAspect="1"/>
          </p:cNvPicPr>
          <p:nvPr/>
        </p:nvPicPr>
        <p:blipFill>
          <a:blip r:embed="rId3"/>
          <a:stretch>
            <a:fillRect/>
          </a:stretch>
        </p:blipFill>
        <p:spPr>
          <a:xfrm>
            <a:off x="6492240" y="1508760"/>
            <a:ext cx="4846320" cy="3931920"/>
          </a:xfrm>
          <a:prstGeom prst="rect">
            <a:avLst/>
          </a:prstGeom>
        </p:spPr>
      </p:pic>
      <p:sp>
        <p:nvSpPr>
          <p:cNvPr id="8" name="TextBox 7"/>
          <p:cNvSpPr txBox="1"/>
          <p:nvPr/>
        </p:nvSpPr>
        <p:spPr>
          <a:xfrm>
            <a:off x="6492240" y="5532120"/>
            <a:ext cx="4846320" cy="548640"/>
          </a:xfrm>
          <a:prstGeom prst="rect">
            <a:avLst/>
          </a:prstGeom>
          <a:noFill/>
        </p:spPr>
        <p:txBody>
          <a:bodyPr wrap="none">
            <a:spAutoFit/>
          </a:bodyPr>
          <a:lstStyle/>
          <a:p>
            <a:r>
              <a:rPr sz="950" b="1">
                <a:solidFill>
                  <a:srgbClr val="64748B"/>
                </a:solidFill>
              </a:rPr>
              <a:t>Headless CI/CD Nightly Regression Triage Automation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594360"/>
            <a:ext cx="10698480" cy="777240"/>
          </a:xfrm>
          <a:prstGeom prst="rect">
            <a:avLst/>
          </a:prstGeom>
          <a:noFill/>
        </p:spPr>
        <p:txBody>
          <a:bodyPr wrap="square" lIns="0" tIns="0" rIns="0" bIns="0">
            <a:spAutoFit/>
          </a:bodyPr>
          <a:lstStyle/>
          <a:p>
            <a:r>
              <a:rPr sz="1000" b="1">
                <a:solidFill>
                  <a:srgbClr val="0284C7"/>
                </a:solidFill>
                <a:latin typeface="Arial"/>
              </a:rPr>
              <a:t>VERIFICATION STANDARDS  •  </a:t>
            </a:r>
            <a:r>
              <a:rPr sz="2100" b="1">
                <a:solidFill>
                  <a:srgbClr val="0B4D32"/>
                </a:solidFill>
                <a:latin typeface="Arial"/>
              </a:rPr>
              <a:t>Topic 14: Appendix — Supporting Documents &amp; Compliance</a:t>
            </a:r>
          </a:p>
        </p:txBody>
      </p:sp>
      <p:sp>
        <p:nvSpPr>
          <p:cNvPr id="4" name="Rounded Rectangle 3"/>
          <p:cNvSpPr/>
          <p:nvPr/>
        </p:nvSpPr>
        <p:spPr>
          <a:xfrm>
            <a:off x="731520" y="1371600"/>
            <a:ext cx="5212080" cy="228600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754880" cy="1920240"/>
          </a:xfrm>
          <a:prstGeom prst="rect">
            <a:avLst/>
          </a:prstGeom>
          <a:noFill/>
        </p:spPr>
        <p:txBody>
          <a:bodyPr wrap="square">
            <a:spAutoFit/>
          </a:bodyPr>
          <a:lstStyle/>
          <a:p>
            <a:r>
              <a:rPr sz="1300" b="1">
                <a:solidFill>
                  <a:srgbClr val="0B4D32"/>
                </a:solidFill>
              </a:rPr>
              <a:t>ISO 26262 ASIL-D &amp; DO-254
</a:t>
            </a:r>
          </a:p>
          <a:p>
            <a:r>
              <a:rPr sz="950">
                <a:solidFill>
                  <a:srgbClr val="334155"/>
                </a:solidFill>
              </a:rPr>
              <a:t>• Bi-directional traceability matrix guarantees complete requirement-to-test tracking required for safety-critical silicon.
• Automated export to CSV and HTML for safety audit readiness.</a:t>
            </a:r>
          </a:p>
        </p:txBody>
      </p:sp>
      <p:sp>
        <p:nvSpPr>
          <p:cNvPr id="6" name="Rounded Rectangle 5"/>
          <p:cNvSpPr/>
          <p:nvPr/>
        </p:nvSpPr>
        <p:spPr>
          <a:xfrm>
            <a:off x="6126480" y="1371600"/>
            <a:ext cx="5212080" cy="228600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554480"/>
            <a:ext cx="4754880" cy="1920240"/>
          </a:xfrm>
          <a:prstGeom prst="rect">
            <a:avLst/>
          </a:prstGeom>
          <a:noFill/>
        </p:spPr>
        <p:txBody>
          <a:bodyPr wrap="square">
            <a:spAutoFit/>
          </a:bodyPr>
          <a:lstStyle/>
          <a:p>
            <a:r>
              <a:rPr sz="1300" b="1">
                <a:solidFill>
                  <a:srgbClr val="0284C7"/>
                </a:solidFill>
              </a:rPr>
              <a:t>IEEE 1800 &amp; UVM 1.2 Standards
</a:t>
            </a:r>
          </a:p>
          <a:p>
            <a:r>
              <a:rPr sz="950">
                <a:solidFill>
                  <a:srgbClr val="334155"/>
                </a:solidFill>
              </a:rPr>
              <a:t>• Full support for IEEE 1800-2023 SystemVerilog language constructs, packages, and interfaces via pyslang.
• Synthesis of complete UVM 1.2 VIP environments: sequence items, sequencers, drivers, monitors, golden reference models, and scoreboards.</a:t>
            </a:r>
          </a:p>
        </p:txBody>
      </p:sp>
      <p:sp>
        <p:nvSpPr>
          <p:cNvPr id="8" name="Rounded Rectangle 7"/>
          <p:cNvSpPr/>
          <p:nvPr/>
        </p:nvSpPr>
        <p:spPr>
          <a:xfrm>
            <a:off x="731520" y="3840480"/>
            <a:ext cx="5212080" cy="228600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023360"/>
            <a:ext cx="4754880" cy="1920240"/>
          </a:xfrm>
          <a:prstGeom prst="rect">
            <a:avLst/>
          </a:prstGeom>
          <a:noFill/>
        </p:spPr>
        <p:txBody>
          <a:bodyPr wrap="square">
            <a:spAutoFit/>
          </a:bodyPr>
          <a:lstStyle/>
          <a:p>
            <a:r>
              <a:rPr sz="1300" b="1">
                <a:solidFill>
                  <a:srgbClr val="D97706"/>
                </a:solidFill>
              </a:rPr>
              <a:t>107-Page Master Operations Journal
</a:t>
            </a:r>
          </a:p>
          <a:p>
            <a:r>
              <a:rPr sz="950">
                <a:solidFill>
                  <a:srgbClr val="334155"/>
                </a:solidFill>
              </a:rPr>
              <a:t>• Exhaustive field engineering documentation with 75 technical annexes, formal theorems, and SVA assertion libraries.
• Comprehensive interview prep and architectural Q&amp;A guide (VeriSight_QnA_Master_Interview_Prep.pdf).</a:t>
            </a:r>
          </a:p>
        </p:txBody>
      </p:sp>
      <p:sp>
        <p:nvSpPr>
          <p:cNvPr id="10" name="Rounded Rectangle 9"/>
          <p:cNvSpPr/>
          <p:nvPr/>
        </p:nvSpPr>
        <p:spPr>
          <a:xfrm>
            <a:off x="6126480" y="3840480"/>
            <a:ext cx="5212080" cy="2286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023360"/>
            <a:ext cx="4754880" cy="1920240"/>
          </a:xfrm>
          <a:prstGeom prst="rect">
            <a:avLst/>
          </a:prstGeom>
          <a:noFill/>
        </p:spPr>
        <p:txBody>
          <a:bodyPr wrap="square">
            <a:spAutoFit/>
          </a:bodyPr>
          <a:lstStyle/>
          <a:p>
            <a:r>
              <a:rPr sz="1300" b="1">
                <a:solidFill>
                  <a:srgbClr val="0F172A"/>
                </a:solidFill>
              </a:rPr>
              <a:t>ChromaDB Vector Telemetry
</a:t>
            </a:r>
          </a:p>
          <a:p>
            <a:r>
              <a:rPr sz="950">
                <a:solidFill>
                  <a:srgbClr val="334155"/>
                </a:solidFill>
              </a:rPr>
              <a:t>• 11 persistent collections storing indexed specification paragraphs, register maps, and historical defect signatures.
• Semantic chunking and fast vector similarity search for cross-block bug correlation.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Tn>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Tn>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Tn>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Tn>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Tn>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Tn>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slid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371600" y="1371600"/>
            <a:ext cx="9418320" cy="4754880"/>
          </a:xfrm>
          <a:prstGeom prst="roundRect">
            <a:avLst/>
          </a:prstGeom>
          <a:solidFill>
            <a:srgbClr val="FFFFFF"/>
          </a:solidFill>
          <a:ln w="12700">
            <a:solidFill>
              <a:srgbClr val="0B4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645920"/>
            <a:ext cx="8869680" cy="4206240"/>
          </a:xfrm>
          <a:prstGeom prst="rect">
            <a:avLst/>
          </a:prstGeom>
          <a:noFill/>
        </p:spPr>
        <p:txBody>
          <a:bodyPr wrap="square">
            <a:spAutoFit/>
          </a:bodyPr>
          <a:lstStyle/>
          <a:p>
            <a:r>
              <a:rPr sz="3600" b="1">
                <a:solidFill>
                  <a:srgbClr val="0B4D32"/>
                </a:solidFill>
              </a:rPr>
              <a:t>VERISIGHT™
</a:t>
            </a:r>
          </a:p>
          <a:p>
            <a:r>
              <a:rPr sz="1800" b="1">
                <a:solidFill>
                  <a:srgbClr val="0F172A"/>
                </a:solidFill>
              </a:rPr>
              <a:t>The Future of Silicon Verification is Autonomous.
</a:t>
            </a:r>
          </a:p>
          <a:p>
            <a:r>
              <a:rPr sz="1250">
                <a:solidFill>
                  <a:srgbClr val="334155"/>
                </a:solidFill>
              </a:rPr>
              <a:t>Thank you for your time. We are now open for Questions &amp; Answers.
• Ready for Enterprise Pilot Deployments across VCS, Questa, and Xcelium
• Available for Custom SoC Benchmark Evaluations and RTL Auto-Repair
• Live Web Studio available at http://localhost:8000
</a:t>
            </a:r>
          </a:p>
          <a:p>
            <a:r>
              <a:rPr sz="1300" b="1">
                <a:solidFill>
                  <a:srgbClr val="0B4D32"/>
                </a:solidFill>
              </a:rPr>
              <a:t>Lead Architect: Patel Kittu (@KITTUV03)   |   Co-Lead: Vinod Nikhil Monterio
</a:t>
            </a:r>
            <a:r>
              <a:rPr sz="1100">
                <a:solidFill>
                  <a:srgbClr val="64748B"/>
                </a:solidFill>
              </a:rPr>
              <a:t>VeriSight Production Release v2.4 • Confidential Enterprise Edition • October 2026</a:t>
            </a:r>
          </a:p>
        </p:txBody>
      </p:sp>
    </p:spTree>
  </p:cSld>
  <p:clrMapOvr>
    <a:masterClrMapping/>
  </p:clrMapOvr>
  <p:transition>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Tn>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Tn>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