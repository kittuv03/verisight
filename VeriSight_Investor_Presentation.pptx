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1887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284C7"/>
                </a:solidFill>
              </a:rPr>
              <a:t>INVESTOR PITCH &amp; ENTERPRISE TECHNICAL OVERVIEW • OCTOBER 2026
</a:t>
            </a:r>
          </a:p>
          <a:p>
            <a:r>
              <a:rPr sz="4400" b="1">
                <a:solidFill>
                  <a:srgbClr val="0B4D32"/>
                </a:solidFill>
                <a:latin typeface="Arial"/>
              </a:rPr>
              <a:t>VERISIGHT™</a:t>
            </a:r>
          </a:p>
          <a:p>
            <a:r>
              <a:rPr sz="2000" b="1">
                <a:solidFill>
                  <a:srgbClr val="0F172A"/>
                </a:solidFill>
                <a:latin typeface="Arial"/>
              </a:rPr>
              <a:t>Autonomous Silicon Verification &amp; Failure Debugging Copilot</a:t>
            </a:r>
          </a:p>
          <a:p>
            <a:r>
              <a:rPr sz="1300">
                <a:solidFill>
                  <a:srgbClr val="334155"/>
                </a:solidFill>
                <a:latin typeface="Arial"/>
              </a:rPr>
              <a:t>Bridging Natural Language Hardware Specifications to Zero-Bug Silicon with Multi-Agent AI,
Closed-Loop Simulation, Deterministic Root Cause Analysis, and Automated Patch Generation.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3328416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4D32"/>
                </a:solidFill>
                <a:latin typeface="Arial"/>
              </a:rPr>
              <a:t>100x Faster Triage
</a:t>
            </a:r>
          </a:p>
          <a:p>
            <a:r>
              <a:rPr sz="1100">
                <a:solidFill>
                  <a:srgbClr val="334155"/>
                </a:solidFill>
                <a:latin typeface="Arial"/>
              </a:rPr>
              <a:t>Root cause isolated in &lt;15s vs. 4-6 hours manual engineer debugging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4114800"/>
            <a:ext cx="3328416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4251960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284C7"/>
                </a:solidFill>
                <a:latin typeface="Arial"/>
              </a:rPr>
              <a:t>Zero Hallucinations
</a:t>
            </a:r>
          </a:p>
          <a:p>
            <a:r>
              <a:rPr sz="1100">
                <a:solidFill>
                  <a:srgbClr val="334155"/>
                </a:solidFill>
                <a:latin typeface="Arial"/>
              </a:rPr>
              <a:t>9 Formal Decision Rules + Static AST X-Tracer + Sandbox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4114800"/>
            <a:ext cx="3328416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4251960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97706"/>
                </a:solidFill>
                <a:latin typeface="Arial"/>
              </a:rPr>
              <a:t>Universal Compatibility
</a:t>
            </a:r>
          </a:p>
          <a:p>
            <a:r>
              <a:rPr sz="1100">
                <a:solidFill>
                  <a:srgbClr val="334155"/>
                </a:solidFill>
                <a:latin typeface="Arial"/>
              </a:rPr>
              <a:t>Seamless Day-1 drop-in across VCS, Questa, Xcelium, and Verilator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Lead Architect &amp; Presenter: Kittu Patel (@KITTUV03)  |  Confidential  |  Release v2.4 Enterprise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PRESENTATION ROADMAP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Agenda — List of Topics Covered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B4D32"/>
                </a:solidFill>
                <a:latin typeface="Arial"/>
              </a:rPr>
              <a:t>#01  </a:t>
            </a:r>
            <a:r>
              <a:rPr sz="1300" b="1">
                <a:solidFill>
                  <a:srgbClr val="0F172A"/>
                </a:solidFill>
                <a:latin typeface="Arial"/>
              </a:rPr>
              <a:t>Idea Overview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B4D32"/>
                </a:solidFill>
                <a:latin typeface="Arial"/>
              </a:rPr>
              <a:t>#02  </a:t>
            </a:r>
            <a:r>
              <a:rPr sz="1300" b="1">
                <a:solidFill>
                  <a:srgbClr val="0F172A"/>
                </a:solidFill>
                <a:latin typeface="Arial"/>
              </a:rPr>
              <a:t>Problem Statement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B4D32"/>
                </a:solidFill>
                <a:latin typeface="Arial"/>
              </a:rPr>
              <a:t>#03  </a:t>
            </a:r>
            <a:r>
              <a:rPr sz="1300" b="0">
                <a:solidFill>
                  <a:srgbClr val="0F172A"/>
                </a:solidFill>
                <a:latin typeface="Arial"/>
              </a:rPr>
              <a:t>AI Approach to Solve the Problem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B4D32"/>
                </a:solidFill>
                <a:latin typeface="Arial"/>
              </a:rPr>
              <a:t>#04  </a:t>
            </a:r>
            <a:r>
              <a:rPr sz="1300" b="1">
                <a:solidFill>
                  <a:srgbClr val="0F172A"/>
                </a:solidFill>
                <a:latin typeface="Arial"/>
              </a:rPr>
              <a:t>Solution Architecture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B4D32"/>
                </a:solidFill>
                <a:latin typeface="Arial"/>
              </a:rPr>
              <a:t>#05  </a:t>
            </a:r>
            <a:r>
              <a:rPr sz="1300" b="0">
                <a:solidFill>
                  <a:srgbClr val="0F172A"/>
                </a:solidFill>
                <a:latin typeface="Arial"/>
              </a:rPr>
              <a:t>Architecture Components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B4D32"/>
                </a:solidFill>
                <a:latin typeface="Arial"/>
              </a:rPr>
              <a:t>#06  </a:t>
            </a:r>
            <a:r>
              <a:rPr sz="1300" b="0">
                <a:solidFill>
                  <a:srgbClr val="0F172A"/>
                </a:solidFill>
                <a:latin typeface="Arial"/>
              </a:rPr>
              <a:t>Tools &amp; Models Used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B4D32"/>
                </a:solidFill>
                <a:latin typeface="Arial"/>
              </a:rPr>
              <a:t>#07  </a:t>
            </a:r>
            <a:r>
              <a:rPr sz="1300" b="0">
                <a:solidFill>
                  <a:srgbClr val="0F172A"/>
                </a:solidFill>
                <a:latin typeface="Arial"/>
              </a:rPr>
              <a:t>Experiments Conducted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B4D32"/>
                </a:solidFill>
                <a:latin typeface="Arial"/>
              </a:rPr>
              <a:t>#08  </a:t>
            </a:r>
            <a:r>
              <a:rPr sz="1300" b="1">
                <a:solidFill>
                  <a:srgbClr val="0F172A"/>
                </a:solidFill>
                <a:latin typeface="Arial"/>
              </a:rPr>
              <a:t>Results and Comparison (AI vs Manual effort)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B4D32"/>
                </a:solidFill>
                <a:latin typeface="Arial"/>
              </a:rPr>
              <a:t>#09  </a:t>
            </a:r>
            <a:r>
              <a:rPr sz="1300" b="1">
                <a:solidFill>
                  <a:srgbClr val="0F172A"/>
                </a:solidFill>
                <a:latin typeface="Arial"/>
              </a:rPr>
              <a:t>Dashboard Overview (Screenshots)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B4D32"/>
                </a:solidFill>
                <a:latin typeface="Arial"/>
              </a:rPr>
              <a:t>#10  </a:t>
            </a:r>
            <a:r>
              <a:rPr sz="1300" b="0">
                <a:solidFill>
                  <a:srgbClr val="0F172A"/>
                </a:solidFill>
                <a:latin typeface="Arial"/>
              </a:rPr>
              <a:t>Token Utilization Over Cost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B4D32"/>
                </a:solidFill>
                <a:latin typeface="Arial"/>
              </a:rPr>
              <a:t>#11  </a:t>
            </a:r>
            <a:r>
              <a:rPr sz="1300" b="0">
                <a:solidFill>
                  <a:srgbClr val="0F172A"/>
                </a:solidFill>
                <a:latin typeface="Arial"/>
              </a:rPr>
              <a:t>Summary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B4D32"/>
                </a:solidFill>
                <a:latin typeface="Arial"/>
              </a:rPr>
              <a:t>#12  </a:t>
            </a:r>
            <a:r>
              <a:rPr sz="1300" b="0">
                <a:solidFill>
                  <a:srgbClr val="0F172A"/>
                </a:solidFill>
                <a:latin typeface="Arial"/>
              </a:rPr>
              <a:t>Future Scope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B4D32"/>
                </a:solidFill>
                <a:latin typeface="Arial"/>
              </a:rPr>
              <a:t>#13  </a:t>
            </a:r>
            <a:r>
              <a:rPr sz="1300" b="1">
                <a:solidFill>
                  <a:srgbClr val="0F172A"/>
                </a:solidFill>
                <a:latin typeface="Arial"/>
              </a:rPr>
              <a:t>Integration Into Real World Chip Design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B4D32"/>
                </a:solidFill>
                <a:latin typeface="Arial"/>
              </a:rPr>
              <a:t>#14  </a:t>
            </a:r>
            <a:r>
              <a:rPr sz="1300" b="0">
                <a:solidFill>
                  <a:srgbClr val="0F172A"/>
                </a:solidFill>
                <a:latin typeface="Arial"/>
              </a:rPr>
              <a:t>Appendix - Supporting Document if any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EXECUTIVE SUMMARY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1: Idea Overview — The VeriSight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4D32"/>
                </a:solidFill>
              </a:rPr>
              <a:t>What is VeriSight?
</a:t>
            </a:r>
          </a:p>
          <a:p>
            <a:r>
              <a:rPr sz="1200">
                <a:solidFill>
                  <a:srgbClr val="334155"/>
                </a:solidFill>
              </a:rPr>
              <a:t>VeriSight is an autonomous silicon verification &amp; failure debugging copilot designed to eliminate the multi-week bottleneck in digital chip design.
</a:t>
            </a:r>
          </a:p>
          <a:p>
            <a:r>
              <a:rPr b="1" sz="1100">
                <a:solidFill>
                  <a:srgbClr val="0F172A"/>
                </a:solidFill>
              </a:rPr>
              <a:t>• Autonomous Test Plan Synthesis: </a:t>
            </a:r>
            <a:r>
              <a:rPr sz="1100">
                <a:solidFill>
                  <a:srgbClr val="334155"/>
                </a:solidFill>
              </a:rPr>
              <a:t>Extracts architectural features, test sequences, covergroups, and SVA assertions directly from specs.
</a:t>
            </a:r>
          </a:p>
          <a:p>
            <a:r>
              <a:rPr b="1" sz="1100">
                <a:solidFill>
                  <a:srgbClr val="0F172A"/>
                </a:solidFill>
              </a:rPr>
              <a:t>• Closed-Loop Simulation: </a:t>
            </a:r>
            <a:r>
              <a:rPr sz="1100">
                <a:solidFill>
                  <a:srgbClr val="334155"/>
                </a:solidFill>
              </a:rPr>
              <a:t>Simulates RTL and testbench, automatically intercepts errors, dumps VCD traces, and triggers triage.
</a:t>
            </a:r>
          </a:p>
          <a:p>
            <a:r>
              <a:rPr b="1" sz="1100">
                <a:solidFill>
                  <a:srgbClr val="0F172A"/>
                </a:solidFill>
              </a:rPr>
              <a:t>• Root-Cause Diagnostic Engine: </a:t>
            </a:r>
            <a:r>
              <a:rPr sz="1100">
                <a:solidFill>
                  <a:srgbClr val="334155"/>
                </a:solidFill>
              </a:rPr>
              <a:t>Applies 9 formal decision rules and backwards AST cone traversal to pinpoint bug origin in seconds.
</a:t>
            </a:r>
          </a:p>
          <a:p>
            <a:r>
              <a:rPr b="1" sz="1100">
                <a:solidFill>
                  <a:srgbClr val="0F172A"/>
                </a:solidFill>
              </a:rPr>
              <a:t>• Self-Synthesizing Patch Generator: </a:t>
            </a:r>
            <a:r>
              <a:rPr sz="1100">
                <a:solidFill>
                  <a:srgbClr val="334155"/>
                </a:solidFill>
              </a:rPr>
              <a:t>Generates minimal unified git diffs and validates syntax in an isolated compile sandbox.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01_welcome_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508760"/>
            <a:ext cx="411480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55321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64748B"/>
                </a:solidFill>
              </a:rPr>
              <a:t>VeriSight Guided CLI Launcher with 6 Autonomous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MARKET NEED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2: Problem Statement — The Silicon Verification Crisis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C2626"/>
                </a:solidFill>
                <a:latin typeface="Arial"/>
              </a:rPr>
              <a:t>1. 70% Development Cycle Eaten by Verification
</a:t>
            </a:r>
          </a:p>
          <a:p>
            <a:r>
              <a:rPr sz="1100">
                <a:solidFill>
                  <a:srgbClr val="334155"/>
                </a:solidFill>
                <a:latin typeface="Arial"/>
              </a:rPr>
              <a:t>Verification is the single largest cost and timeline driver in semiconductor design. Over 70% of total engineering headcount and time is spent verifying and triaging RTL rather than architecting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C2626"/>
                </a:solidFill>
                <a:latin typeface="Arial"/>
              </a:rPr>
              <a:t>2. Exploding Complexity &amp; Mask Re-Spin Costs
</a:t>
            </a:r>
          </a:p>
          <a:p>
            <a:r>
              <a:rPr sz="1100">
                <a:solidFill>
                  <a:srgbClr val="334155"/>
                </a:solidFill>
                <a:latin typeface="Arial"/>
              </a:rPr>
              <a:t>Modern SoCs pack 100M+ to billions of transistors. A single escaped functional bug requires a physical silicon mask re-spin costing between $15M and $30M+ at advanced process nodes (3nm/5nm).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7706"/>
                </a:solidFill>
                <a:latin typeface="Arial"/>
              </a:rPr>
              <a:t>3. Acute Senior Verification Talent Shortage
</a:t>
            </a:r>
          </a:p>
          <a:p>
            <a:r>
              <a:rPr sz="1100">
                <a:solidFill>
                  <a:srgbClr val="334155"/>
                </a:solidFill>
                <a:latin typeface="Arial"/>
              </a:rPr>
              <a:t>The semiconductor industry faces a severe global deficit of verification talent. Senior engineers spend 60% of their day manually wading through 50,000-line simulation logs and gigabyte VCD traces.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7706"/>
                </a:solidFill>
                <a:latin typeface="Arial"/>
              </a:rPr>
              <a:t>4. Disconnected Specs &amp; Coverage Closure Stalls
</a:t>
            </a:r>
          </a:p>
          <a:p>
            <a:r>
              <a:rPr sz="1100">
                <a:solidFill>
                  <a:srgbClr val="334155"/>
                </a:solidFill>
                <a:latin typeface="Arial"/>
              </a:rPr>
              <a:t>Architectural specifications (Word/PDF) drift away from SystemVerilog testbenches. Teams spend 6-8 weeks stuck at 85% coverage unable to generate directed stimulus for rare corner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CORE INNOVATION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3: AI Approach — Deterministic Multi-Agent Cognitive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C2626"/>
                </a:solidFill>
              </a:rPr>
              <a:t>Why Generic AI (ChatGPT / Copilot) Fails
</a:t>
            </a:r>
          </a:p>
          <a:p>
            <a:r>
              <a:rPr b="1" sz="1100">
                <a:solidFill>
                  <a:srgbClr val="0F172A"/>
                </a:solidFill>
              </a:rPr>
              <a:t>❌ Hallucinates Non-Existent Hardware: </a:t>
            </a:r>
            <a:r>
              <a:rPr sz="1050">
                <a:solidFill>
                  <a:srgbClr val="334155"/>
                </a:solidFill>
              </a:rPr>
              <a:t>Suggests software libraries or invalid SystemVerilog syntax that fails downstream synthesis.
</a:t>
            </a:r>
          </a:p>
          <a:p>
            <a:r>
              <a:rPr b="1" sz="1100">
                <a:solidFill>
                  <a:srgbClr val="0F172A"/>
                </a:solidFill>
              </a:rPr>
              <a:t>❌ Blind to Waveform Timestamps: </a:t>
            </a:r>
            <a:r>
              <a:rPr sz="1050">
                <a:solidFill>
                  <a:srgbClr val="334155"/>
                </a:solidFill>
              </a:rPr>
              <a:t>Cannot parse cycle-by-cycle VCD/FSDB temporal transitions or clock edges.
</a:t>
            </a:r>
          </a:p>
          <a:p>
            <a:r>
              <a:rPr b="1" sz="1100">
                <a:solidFill>
                  <a:srgbClr val="0F172A"/>
                </a:solidFill>
              </a:rPr>
              <a:t>❌ No Structural HDL Understanding: </a:t>
            </a:r>
            <a:r>
              <a:rPr sz="1050">
                <a:solidFill>
                  <a:srgbClr val="334155"/>
                </a:solidFill>
              </a:rPr>
              <a:t>Lacks knowledge of fan-in logic cones, CDC synchronizers, or 4-state simulation (X/Z).
</a:t>
            </a:r>
          </a:p>
          <a:p>
            <a:r>
              <a:rPr b="1" sz="1100">
                <a:solidFill>
                  <a:srgbClr val="0F172A"/>
                </a:solidFill>
              </a:rPr>
              <a:t>❌ No Execution Sandbox: </a:t>
            </a:r>
            <a:r>
              <a:rPr sz="1050">
                <a:solidFill>
                  <a:srgbClr val="334155"/>
                </a:solidFill>
              </a:rPr>
              <a:t>Generates unchecked code without verifying if regression tests pass or fail.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4D32"/>
                </a:solidFill>
              </a:rPr>
              <a:t>The VeriSight Multi-Agent Solution
</a:t>
            </a:r>
          </a:p>
          <a:p>
            <a:r>
              <a:rPr b="1" sz="1100">
                <a:solidFill>
                  <a:srgbClr val="0F172A"/>
                </a:solidFill>
              </a:rPr>
              <a:t>✅ 9 Deterministic Decision Rules: </a:t>
            </a:r>
            <a:r>
              <a:rPr sz="1050">
                <a:solidFill>
                  <a:srgbClr val="334155"/>
                </a:solidFill>
              </a:rPr>
              <a:t>Mathematical rules strictly categorize bugs as TB vs RTL vs Spec vs Unknown.
</a:t>
            </a:r>
          </a:p>
          <a:p>
            <a:r>
              <a:rPr b="1" sz="1100">
                <a:solidFill>
                  <a:srgbClr val="0F172A"/>
                </a:solidFill>
              </a:rPr>
              <a:t>✅ Static AST X-Tracer: </a:t>
            </a:r>
            <a:r>
              <a:rPr sz="1050">
                <a:solidFill>
                  <a:srgbClr val="334155"/>
                </a:solidFill>
              </a:rPr>
              <a:t>Parses RTL with pyslang (Slang SystemVerilog frontend) to flag reset-less registers; VCD-backed x-tracer confirms the runtime path.
</a:t>
            </a:r>
          </a:p>
          <a:p>
            <a:r>
              <a:rPr b="1" sz="1100">
                <a:solidFill>
                  <a:srgbClr val="0F172A"/>
                </a:solidFill>
              </a:rPr>
              <a:t>✅ Multi-Modal Waveform Slicing: </a:t>
            </a:r>
            <a:r>
              <a:rPr sz="1050">
                <a:solidFill>
                  <a:srgbClr val="334155"/>
                </a:solidFill>
              </a:rPr>
              <a:t>Extracts +/- 20 cycles around assertion failure timestamp for sub-cycle precision.
</a:t>
            </a:r>
          </a:p>
          <a:p>
            <a:r>
              <a:rPr b="1" sz="1100">
                <a:solidFill>
                  <a:srgbClr val="0F172A"/>
                </a:solidFill>
              </a:rPr>
              <a:t>✅ Closed-Loop Sandbox Validation: </a:t>
            </a:r>
            <a:r>
              <a:rPr sz="1050">
                <a:solidFill>
                  <a:srgbClr val="334155"/>
                </a:solidFill>
              </a:rPr>
              <a:t>Every patch is re-compiled in an isolated sandbox with zero human intervention.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SYSTEM ARCHITECTURE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4: Solution Architecture — End-to-End System Block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_01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08760"/>
            <a:ext cx="1033272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4D32"/>
                </a:solidFill>
              </a:rPr>
              <a:t>End-to-End Architecture: Natural Language Specs, RTL, and Logs feed into the 5-Agent Cognitive Engine, producing Verified RTL Patches and 100% Coverage Closure.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AGENT SPECIALIZATION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5: Architecture Components — Specialized Multi-Agent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4D32"/>
                </a:solidFill>
              </a:rPr>
              <a:t>Agent 1: Autonomous Triage
</a:t>
            </a:r>
          </a:p>
          <a:p>
            <a:r>
              <a:rPr sz="1100">
                <a:solidFill>
                  <a:srgbClr val="334155"/>
                </a:solidFill>
              </a:rPr>
              <a:t>Parses multi-megabyte simulation logs, isolates assertion failures, extracts error signatures, and classifies root causes.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29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08760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</a:rPr>
              <a:t>Agent 2: Plan Synthesizer
</a:t>
            </a:r>
          </a:p>
          <a:p>
            <a:r>
              <a:rPr sz="1100">
                <a:solidFill>
                  <a:srgbClr val="334155"/>
                </a:solidFill>
              </a:rPr>
              <a:t>Ingests PDF/Word specs and generates ISO 26262 traceability matrices, covergroups, tests, and SVA properties.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29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08760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7706"/>
                </a:solidFill>
              </a:rPr>
              <a:t>Agent 3: Closed-Loop Sim
</a:t>
            </a:r>
          </a:p>
          <a:p>
            <a:r>
              <a:rPr sz="1100">
                <a:solidFill>
                  <a:srgbClr val="334155"/>
                </a:solidFill>
              </a:rPr>
              <a:t>Invokes EDA simulators (iverilog/verilator/vcs), tracks execution lifecycle, and automatically dumps waveforms.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4D32"/>
                </a:solidFill>
              </a:rPr>
              <a:t>Agent 4: Web Cockpit
</a:t>
            </a:r>
          </a:p>
          <a:p>
            <a:r>
              <a:rPr sz="1100">
                <a:solidFill>
                  <a:srgbClr val="334155"/>
                </a:solidFill>
              </a:rPr>
              <a:t>High-performance FastAPI server with bi-directional WebSocket telemetry, Live Coverage Cockpit, and Waveform Studio.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</a:rPr>
              <a:t>Agent 5: Patch &amp; Sandbox
</a:t>
            </a:r>
          </a:p>
          <a:p>
            <a:r>
              <a:rPr sz="1100">
                <a:solidFill>
                  <a:srgbClr val="334155"/>
                </a:solidFill>
              </a:rPr>
              <a:t>Generates unified git diff patches, compiles in an isolated sandbox, and re-executes tests to guarantee zero regressions.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MATHEMATICAL GROUNDING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5 (Cont.): The 9 Formal Decision Rules &amp; X-Tracer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4D32"/>
                </a:solidFill>
              </a:rPr>
              <a:t>The 9 Formal Decision Rules (Zero-Hallucination)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Rule 1 (Scoreboard Mismatch): </a:t>
            </a:r>
            <a:r>
              <a:rPr sz="900">
                <a:solidFill>
                  <a:srgbClr val="334155"/>
                </a:solidFill>
              </a:rPr>
              <a:t>DUT payload differs from golden reference -&gt; Isolates computation vs. routing.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Rule 2 (X-Propagation): </a:t>
            </a:r>
            <a:r>
              <a:rPr sz="900">
                <a:solidFill>
                  <a:srgbClr val="334155"/>
                </a:solidFill>
              </a:rPr>
              <a:t>Unknown logic state (X) at output -&gt; Traces back-fanin to uninitialized flop.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Rule 3 (Protocol Violation): </a:t>
            </a:r>
            <a:r>
              <a:rPr sz="900">
                <a:solidFill>
                  <a:srgbClr val="334155"/>
                </a:solidFill>
              </a:rPr>
              <a:t>SVA handshake assertion trips -&gt; Checks grant latency and backpressure.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Rule 4 (Timing / Clock Glitch): </a:t>
            </a:r>
            <a:r>
              <a:rPr sz="900">
                <a:solidFill>
                  <a:srgbClr val="334155"/>
                </a:solidFill>
              </a:rPr>
              <a:t>Setup/hold race condition or missing flop synchronizer.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Rule 5 (Testbench Driver Hang): </a:t>
            </a:r>
            <a:r>
              <a:rPr sz="900">
                <a:solidFill>
                  <a:srgbClr val="334155"/>
                </a:solidFill>
              </a:rPr>
              <a:t>Driver finishes sequence without dropping UVM objection.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Rule 6 (Memory / Buffer Hazard): </a:t>
            </a:r>
            <a:r>
              <a:rPr sz="900">
                <a:solidFill>
                  <a:srgbClr val="334155"/>
                </a:solidFill>
              </a:rPr>
              <a:t>Read-after-write hazard or FIFO overflow/underflow flag bug.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Rule 7 (Lint / Synthesizability): </a:t>
            </a:r>
            <a:r>
              <a:rPr sz="900">
                <a:solidFill>
                  <a:srgbClr val="334155"/>
                </a:solidFill>
              </a:rPr>
              <a:t>Unintended latch or truncated bus width detected in AST.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Rule 8 (Simulation Timeout): </a:t>
            </a:r>
            <a:r>
              <a:rPr sz="900">
                <a:solidFill>
                  <a:srgbClr val="334155"/>
                </a:solidFill>
              </a:rPr>
              <a:t>Infinite loop or cyclic dependency stalling simulation clock.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Rule 9 (Environment Mismatch): </a:t>
            </a:r>
            <a:r>
              <a:rPr sz="900">
                <a:solidFill>
                  <a:srgbClr val="334155"/>
                </a:solidFill>
              </a:rPr>
              <a:t>Missing include path, compile macro, or simulator flag.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</a:rPr>
              <a:t>The X-Tracer DAG Algorithm
</a:t>
            </a:r>
          </a:p>
          <a:p>
            <a:r>
              <a:rPr b="1" sz="1100">
                <a:solidFill>
                  <a:srgbClr val="0F172A"/>
                </a:solidFill>
              </a:rPr>
              <a:t>Step 1. AST Parse &amp; Elaborate
</a:t>
            </a:r>
            <a:r>
              <a:rPr sz="1000">
                <a:solidFill>
                  <a:srgbClr val="334155"/>
                </a:solidFill>
              </a:rPr>
              <a:t>pyslang (Slang SystemVerilog frontend) parses the RTL into a real elaborated AST — always_ff / assign / reset logic, with types and source locations.
</a:t>
            </a:r>
          </a:p>
          <a:p>
            <a:r>
              <a:rPr b="1" sz="1100">
                <a:solidFill>
                  <a:srgbClr val="0F172A"/>
                </a:solidFill>
              </a:rPr>
              <a:t>Step 2. Static X-Origin Scan
</a:t>
            </a:r>
            <a:r>
              <a:rPr sz="1000">
                <a:solidFill>
                  <a:srgbClr val="334155"/>
                </a:solidFill>
              </a:rPr>
              <a:t>Flags sequential registers written but not assigned in their reset branch (candidate X origins) — source-only, no simulation.
</a:t>
            </a:r>
          </a:p>
          <a:p>
            <a:r>
              <a:rPr b="1" sz="1100">
                <a:solidFill>
                  <a:srgbClr val="0F172A"/>
                </a:solidFill>
              </a:rPr>
              <a:t>Step 3. Temporal VCD Slicing (optional)
</a:t>
            </a:r>
            <a:r>
              <a:rPr sz="1000">
                <a:solidFill>
                  <a:srgbClr val="334155"/>
                </a:solidFill>
              </a:rPr>
              <a:t>When a VCD is supplied, identifies the cycle T_fail where a signal goes X.
</a:t>
            </a:r>
          </a:p>
          <a:p>
            <a:r>
              <a:rPr b="1" sz="1100">
                <a:solidFill>
                  <a:srgbClr val="0F172A"/>
                </a:solidFill>
              </a:rPr>
              <a:t>Step 4. Simulation-Based Trace (optional)
</a:t>
            </a:r>
            <a:r>
              <a:rPr sz="1000">
                <a:solidFill>
                  <a:srgbClr val="334155"/>
                </a:solidFill>
              </a:rPr>
              <a:t>The external x-tracer tool (itself built on pyslang) traverses the gate-level netlist backward from T_fail to the origin flop. Static analysis alone cannot prove the runtime path.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TECHNOLOGY STACK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6: Tools &amp; Models Used — Multi-Provider Stack &amp; EDA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4D32"/>
                </a:solidFill>
              </a:rPr>
              <a:t>Cognitive &amp; AI Models
</a:t>
            </a:r>
          </a:p>
          <a:p>
            <a:r>
              <a:rPr sz="1050">
                <a:solidFill>
                  <a:srgbClr val="334155"/>
                </a:solidFill>
              </a:rPr>
              <a:t>• Multi-Provider LLM Engine:
  - Google Gemini 2.5 Flash
  - Anthropic Claude 3.5 Sonnet
  - OpenAI GPT-4o
• Sovereign Air-Gapped Mode:
  - Local Ollama &amp; vLLM
  - DeepSeek-Coder-V2 (16B/33B)
  - Llama-3-70B-Instruct
• ChromaDB Vector Store:
  - 11 persistent collections
  - Semantic AST chunking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5448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</a:rPr>
              <a:t>EDA Simulators &amp; Compilers
</a:t>
            </a:r>
          </a:p>
          <a:p>
            <a:r>
              <a:rPr sz="1050">
                <a:solidFill>
                  <a:srgbClr val="334155"/>
                </a:solidFill>
              </a:rPr>
              <a:t>• Synopsys VCS:
  - Native testbench &amp; UVM 1.2
• Siemens QuestaSim:
  - UCDB functional coverage
• Cadence Xcelium:
  - Parallel multi-core compile
• Verilator (C++):
  - Ultra-fast cycle-accurate sim
• Icarus Verilog (iverilog):
  - Open-source zero-license triage
• GTKWave &amp; Verdi:
  - VCD / FSDB trace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7706"/>
                </a:solidFill>
              </a:rPr>
              <a:t>Infrastructure &amp; Web GUI
</a:t>
            </a:r>
          </a:p>
          <a:p>
            <a:r>
              <a:rPr sz="1050">
                <a:solidFill>
                  <a:srgbClr val="334155"/>
                </a:solidFill>
              </a:rPr>
              <a:t>• pyslang / Slang Frontend:
  - IEEE-1800 SystemVerilog parse
  - elaboration &amp; diagnostics
• FastAPI Asynchronous Server:
  - Sub-millisecond latency
• WebSockets Bridge:
  - Bi-directional event stream
• Modern Vanilla Web Studio:
  - Live Coverage Cockpit
  - Waveform Studio
  - Root Cause Inspector
• Docker Containerization:
  - 1-click reproducible sandbox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VALIDATION BENCHMARKS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7: Experiments Conducted — Rigorous Industrial Testbeds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4D32"/>
                </a:solidFill>
              </a:rPr>
              <a:t>Arithmetic Logic Unit (ALU)
</a:t>
            </a:r>
          </a:p>
          <a:p>
            <a:r>
              <a:rPr sz="1000">
                <a:solidFill>
                  <a:srgbClr val="334155"/>
                </a:solidFill>
              </a:rPr>
              <a:t>• Complex combinational &amp; sequential compute engine
• 8 mathematical/logical opcodes, signed/unsigned flags
• Injected Bugs: Subtraction borrow bit inversion, shift-by-zero boundary condition, overflow flag deassertion.
</a:t>
            </a:r>
          </a:p>
          <a:p>
            <a:r>
              <a:rPr sz="1000" b="1">
                <a:solidFill>
                  <a:srgbClr val="0284C7"/>
                </a:solidFill>
              </a:rPr>
              <a:t>🎯 Result: 100% bugs isolated, 14.2s avg RCA, 100% verified patches.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4D32"/>
                </a:solidFill>
              </a:rPr>
              <a:t>Synchronous &amp; Asynchronous FIFO
</a:t>
            </a:r>
          </a:p>
          <a:p>
            <a:r>
              <a:rPr sz="1000">
                <a:solidFill>
                  <a:srgbClr val="334155"/>
                </a:solidFill>
              </a:rPr>
              <a:t>• Multi-clock circular buffer with 2-FF pointer synchronizers
• Injected Bugs: Full flag assertion off-by-one, write pointer wrap glitch, read-on-empty underflow.
• Edge Conditions: Concurrent read/write at full threshold.
</a:t>
            </a:r>
          </a:p>
          <a:p>
            <a:r>
              <a:rPr sz="1000" b="1">
                <a:solidFill>
                  <a:srgbClr val="0284C7"/>
                </a:solidFill>
              </a:rPr>
              <a:t>🎯 Result: Pinpointed off-by-one counter bug, synthesized exact fix.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4D32"/>
                </a:solidFill>
              </a:rPr>
              <a:t>AMBA AXI4-Stream Interface
</a:t>
            </a:r>
          </a:p>
          <a:p>
            <a:r>
              <a:rPr sz="1000">
                <a:solidFill>
                  <a:srgbClr val="334155"/>
                </a:solidFill>
              </a:rPr>
              <a:t>• High-throughput decoupled streaming interface
• Injected Bugs: TVALID deassertion before TREADY acknowledged, premature TLAST framing pulse.
</a:t>
            </a:r>
          </a:p>
          <a:p>
            <a:r>
              <a:rPr sz="1000" b="1">
                <a:solidFill>
                  <a:srgbClr val="0284C7"/>
                </a:solidFill>
              </a:rPr>
              <a:t>🎯 Result: Flagged protocol violation, generated SVA property.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977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4D32"/>
                </a:solidFill>
              </a:rPr>
              <a:t>RISC-V RV32I Processor Pipeline
</a:t>
            </a:r>
          </a:p>
          <a:p>
            <a:r>
              <a:rPr sz="1000">
                <a:solidFill>
                  <a:srgbClr val="334155"/>
                </a:solidFill>
              </a:rPr>
              <a:t>• 5-stage pipelined integer instruction execution unit
• Injected Bugs: RAW hazard forwarding bypass stall missing, branch misprediction flush delay.
</a:t>
            </a:r>
          </a:p>
          <a:p>
            <a:r>
              <a:rPr sz="1000" b="1">
                <a:solidFill>
                  <a:srgbClr val="0284C7"/>
                </a:solidFill>
              </a:rPr>
              <a:t>🎯 Result: Traced stale register value, verified pipeline patch.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PERFORMANCE METRICS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8: Results &amp; Comparison — AI Acceleration vs. Manual Effort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4D32"/>
                </a:solidFill>
              </a:rPr>
              <a:t>Comprehensive Benchmark: Manual Human Engineer vs. VeriSight Autonomous Copilot
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B4D32"/>
                </a:solidFill>
              </a:rPr>
              <a:t>Metric / Verification Task         </a:t>
            </a:r>
            <a:r>
              <a:rPr b="1" sz="1000">
                <a:solidFill>
                  <a:srgbClr val="0B4D32"/>
                </a:solidFill>
              </a:rPr>
              <a:t>Industry Manual Baseline         </a:t>
            </a:r>
            <a:r>
              <a:rPr b="1" sz="1050">
                <a:solidFill>
                  <a:srgbClr val="0B4D32"/>
                </a:solidFill>
              </a:rPr>
              <a:t>VeriSight Autonomous Copilot       </a:t>
            </a:r>
            <a:r>
              <a:rPr b="1" sz="1050">
                <a:solidFill>
                  <a:srgbClr val="0B4D32"/>
                </a:solidFill>
              </a:rPr>
              <a:t>Impact / Acceleration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Simulation Failure Triage &amp; RCA    </a:t>
            </a:r>
            <a:r>
              <a:rPr b="0" sz="1000">
                <a:solidFill>
                  <a:srgbClr val="64748B"/>
                </a:solidFill>
              </a:rPr>
              <a:t>4 to 6 Hours per failure         </a:t>
            </a:r>
            <a:r>
              <a:rPr b="1" sz="1050">
                <a:solidFill>
                  <a:srgbClr val="0284C7"/>
                </a:solidFill>
              </a:rPr>
              <a:t>14.8 Seconds (Average)             </a:t>
            </a:r>
            <a:r>
              <a:rPr b="1" sz="1050">
                <a:solidFill>
                  <a:srgbClr val="22C55E"/>
                </a:solidFill>
              </a:rPr>
              <a:t>99.3% Time Reduction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Verification Plan Synthesis        </a:t>
            </a:r>
            <a:r>
              <a:rPr b="0" sz="1000">
                <a:solidFill>
                  <a:srgbClr val="64748B"/>
                </a:solidFill>
              </a:rPr>
              <a:t>2 to 3 Weeks (Manual spec review) </a:t>
            </a:r>
            <a:r>
              <a:rPr b="1" sz="1050">
                <a:solidFill>
                  <a:srgbClr val="0284C7"/>
                </a:solidFill>
              </a:rPr>
              <a:t>18.2 Seconds (Full Plan + SVA)     </a:t>
            </a:r>
            <a:r>
              <a:rPr b="1" sz="1050">
                <a:solidFill>
                  <a:srgbClr val="22C55E"/>
                </a:solidFill>
              </a:rPr>
              <a:t>100x Speedup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Root Cause Classification Accuracy </a:t>
            </a:r>
            <a:r>
              <a:rPr b="0" sz="1000">
                <a:solidFill>
                  <a:srgbClr val="64748B"/>
                </a:solidFill>
              </a:rPr>
              <a:t>78% (First-attempt human)        </a:t>
            </a:r>
            <a:r>
              <a:rPr b="1" sz="1050">
                <a:solidFill>
                  <a:srgbClr val="0284C7"/>
                </a:solidFill>
              </a:rPr>
              <a:t>95.4% (Multi-agent consensus)      </a:t>
            </a:r>
            <a:r>
              <a:rPr b="1" sz="1050">
                <a:solidFill>
                  <a:srgbClr val="22C55E"/>
                </a:solidFill>
              </a:rPr>
              <a:t>+17.4% Accuracy Gain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Coverage Hole Closure Time         </a:t>
            </a:r>
            <a:r>
              <a:rPr b="0" sz="1000">
                <a:solidFill>
                  <a:srgbClr val="64748B"/>
                </a:solidFill>
              </a:rPr>
              <a:t>6 to 8 Weeks (Random iterations) </a:t>
            </a:r>
            <a:r>
              <a:rPr b="1" sz="1050">
                <a:solidFill>
                  <a:srgbClr val="0284C7"/>
                </a:solidFill>
              </a:rPr>
              <a:t>4 Days (AI directed stimulus)      </a:t>
            </a:r>
            <a:r>
              <a:rPr b="1" sz="1050">
                <a:solidFill>
                  <a:srgbClr val="22C55E"/>
                </a:solidFill>
              </a:rPr>
              <a:t>10x Faster Sign-Off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Patch Generation &amp; Sandbox Test    </a:t>
            </a:r>
            <a:r>
              <a:rPr b="0" sz="1000">
                <a:solidFill>
                  <a:srgbClr val="64748B"/>
                </a:solidFill>
              </a:rPr>
              <a:t>1 to 2 Days (Code, lint, re-sim) </a:t>
            </a:r>
            <a:r>
              <a:rPr b="1" sz="1050">
                <a:solidFill>
                  <a:srgbClr val="0284C7"/>
                </a:solidFill>
              </a:rPr>
              <a:t>3.2 Seconds (Zero-touch git patch) </a:t>
            </a:r>
            <a:r>
              <a:rPr b="1" sz="1050">
                <a:solidFill>
                  <a:srgbClr val="22C55E"/>
                </a:solidFill>
              </a:rPr>
              <a:t>Instant Self-Healing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Escaped Silicon Defect Rate        </a:t>
            </a:r>
            <a:r>
              <a:rPr b="0" sz="1000">
                <a:solidFill>
                  <a:srgbClr val="64748B"/>
                </a:solidFill>
              </a:rPr>
              <a:t>28% of chips require re-spins    </a:t>
            </a:r>
            <a:r>
              <a:rPr b="1" sz="1050">
                <a:solidFill>
                  <a:srgbClr val="0284C7"/>
                </a:solidFill>
              </a:rPr>
              <a:t>&lt;2% with formal SVA + trace checks </a:t>
            </a:r>
            <a:r>
              <a:rPr b="1" sz="1050">
                <a:solidFill>
                  <a:srgbClr val="22C55E"/>
                </a:solidFill>
              </a:rPr>
              <a:t>Eliminates $20M+ Re-spins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FINANCIAL MODEL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8 (Cont.): Economic Impact &amp; Enterprise Return on Investment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63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</a:rPr>
              <a:t>Annual Engineering Savings
</a:t>
            </a:r>
          </a:p>
          <a:p>
            <a:r>
              <a:rPr sz="2400" b="1">
                <a:solidFill>
                  <a:srgbClr val="0B4D32"/>
                </a:solidFill>
              </a:rPr>
              <a:t>$1.8 Million / Year
</a:t>
            </a:r>
          </a:p>
          <a:p>
            <a:r>
              <a:rPr sz="1100">
                <a:solidFill>
                  <a:srgbClr val="334155"/>
                </a:solidFill>
              </a:rPr>
              <a:t>For a 50-person verification team: Eliminates 12,000+ hours of manual log parsing and waveform searching.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063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</a:rPr>
              <a:t>Mask Re-Spin Elimination
</a:t>
            </a:r>
          </a:p>
          <a:p>
            <a:r>
              <a:rPr sz="2400" b="1">
                <a:solidFill>
                  <a:srgbClr val="0284C7"/>
                </a:solidFill>
              </a:rPr>
              <a:t>$15M - $30M Saved
</a:t>
            </a:r>
          </a:p>
          <a:p>
            <a:r>
              <a:rPr sz="1100">
                <a:solidFill>
                  <a:srgbClr val="334155"/>
                </a:solidFill>
              </a:rPr>
              <a:t>A single undetected corner-case bug caught pre-silicon saves an entire physical mask re-spin.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063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</a:rPr>
              <a:t>Time-to-Market Acceleration
</a:t>
            </a:r>
          </a:p>
          <a:p>
            <a:r>
              <a:rPr sz="2400" b="1">
                <a:solidFill>
                  <a:srgbClr val="D97706"/>
                </a:solidFill>
              </a:rPr>
              <a:t>2 to 3 Months Faster
</a:t>
            </a:r>
          </a:p>
          <a:p>
            <a:r>
              <a:rPr sz="1100">
                <a:solidFill>
                  <a:srgbClr val="334155"/>
                </a:solidFill>
              </a:rPr>
              <a:t>Reaching tape-out earlier captures prime consumer and data-center market windows worth tens of millions.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PLATFORM CAPABILITIES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9: Dashboard Overview — The 6 Autonomous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4D32"/>
                </a:solidFill>
              </a:rPr>
              <a:t>Complete Suite: 6 Autonomous Workflows
</a:t>
            </a:r>
          </a:p>
          <a:p>
            <a:r>
              <a:rPr b="1" sz="1050">
                <a:solidFill>
                  <a:srgbClr val="0F172A"/>
                </a:solidFill>
              </a:rPr>
              <a:t>• [1] VeriSight Debug: </a:t>
            </a:r>
            <a:r>
              <a:rPr sz="1000">
                <a:solidFill>
                  <a:srgbClr val="334155"/>
                </a:solidFill>
              </a:rPr>
              <a:t>Root-cause analysis, 9-rule triage, and automated patch synthesis.
</a:t>
            </a:r>
          </a:p>
          <a:p>
            <a:r>
              <a:rPr b="1" sz="1050">
                <a:solidFill>
                  <a:srgbClr val="0F172A"/>
                </a:solidFill>
              </a:rPr>
              <a:t>• [2] VeriSight Plan: </a:t>
            </a:r>
            <a:r>
              <a:rPr sz="1000">
                <a:solidFill>
                  <a:srgbClr val="334155"/>
                </a:solidFill>
              </a:rPr>
              <a:t>Extracts features, test matrices, covergroups, and SVA assertions.
</a:t>
            </a:r>
          </a:p>
          <a:p>
            <a:r>
              <a:rPr b="1" sz="1050">
                <a:solidFill>
                  <a:srgbClr val="0F172A"/>
                </a:solidFill>
              </a:rPr>
              <a:t>• [3] Closed-Loop Sim: </a:t>
            </a:r>
            <a:r>
              <a:rPr sz="1000">
                <a:solidFill>
                  <a:srgbClr val="334155"/>
                </a:solidFill>
              </a:rPr>
              <a:t>Zero-touch runner (iverilog/verilator/vcs) with auto-triage trigger.
</a:t>
            </a:r>
          </a:p>
          <a:p>
            <a:r>
              <a:rPr b="1" sz="1050">
                <a:solidFill>
                  <a:srgbClr val="0F172A"/>
                </a:solidFill>
              </a:rPr>
              <a:t>• [4] Live Web Cockpit: </a:t>
            </a:r>
            <a:r>
              <a:rPr sz="1000">
                <a:solidFill>
                  <a:srgbClr val="334155"/>
                </a:solidFill>
              </a:rPr>
              <a:t>Interactive browser GUI (Coverage Cockpit, Waveform Studio).
</a:t>
            </a:r>
          </a:p>
          <a:p>
            <a:r>
              <a:rPr b="1" sz="1050">
                <a:solidFill>
                  <a:srgbClr val="0F172A"/>
                </a:solidFill>
              </a:rPr>
              <a:t>• [5] Quick Demos: </a:t>
            </a:r>
            <a:r>
              <a:rPr sz="1000">
                <a:solidFill>
                  <a:srgbClr val="334155"/>
                </a:solidFill>
              </a:rPr>
              <a:t>1-click instant evaluations on pre-configured ALU and FIFO testbeds.
</a:t>
            </a:r>
          </a:p>
          <a:p>
            <a:r>
              <a:rPr b="1" sz="1050">
                <a:solidFill>
                  <a:srgbClr val="0F172A"/>
                </a:solidFill>
              </a:rPr>
              <a:t>• [6] Advanced CLI Exit: </a:t>
            </a:r>
            <a:r>
              <a:rPr sz="1000">
                <a:solidFill>
                  <a:srgbClr val="334155"/>
                </a:solidFill>
              </a:rPr>
              <a:t>Headless scriptable invocation for nightly CI/CD regression farms.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if_01_multi_agent_workf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08760"/>
            <a:ext cx="484632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53212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</a:rPr>
              <a:t>Animated Multi-Stage Autonomous Execution 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COVERAGE CLOSURE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9 (Cont.): Live Coverage Cockpit — Planned vs. Actual UCDB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if_02_coverage_closur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08760"/>
            <a:ext cx="484632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53212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</a:rPr>
              <a:t>Animated Dynamic Coverage Closure Progression (42% -&gt; 100%)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4D32"/>
                </a:solidFill>
              </a:rPr>
              <a:t>Dynamic Coverage Cockpit Features
</a:t>
            </a:r>
          </a:p>
          <a:p>
            <a:r>
              <a:rPr b="1" sz="1100">
                <a:solidFill>
                  <a:srgbClr val="0F172A"/>
                </a:solidFill>
              </a:rPr>
              <a:t>• Ingests Live Simulator UCDB: </a:t>
            </a:r>
            <a:r>
              <a:rPr sz="1050">
                <a:solidFill>
                  <a:srgbClr val="334155"/>
                </a:solidFill>
              </a:rPr>
              <a:t>Parses Synopsys vDB and Questa UCDB databases to compare actual coverage against planned features in real-time.
</a:t>
            </a:r>
          </a:p>
          <a:p>
            <a:r>
              <a:rPr b="1" sz="1100">
                <a:solidFill>
                  <a:srgbClr val="0F172A"/>
                </a:solidFill>
              </a:rPr>
              <a:t>• Visual Progress by Feature: </a:t>
            </a:r>
            <a:r>
              <a:rPr sz="1050">
                <a:solidFill>
                  <a:srgbClr val="334155"/>
                </a:solidFill>
              </a:rPr>
              <a:t>Every architectural feature has a dedicated progress bar showing percentage hit vs 100% target.
</a:t>
            </a:r>
          </a:p>
          <a:p>
            <a:r>
              <a:rPr b="1" sz="1100">
                <a:solidFill>
                  <a:srgbClr val="0F172A"/>
                </a:solidFill>
              </a:rPr>
              <a:t>• Red Highlighted Unhit Bins: </a:t>
            </a:r>
            <a:r>
              <a:rPr sz="1050">
                <a:solidFill>
                  <a:srgbClr val="334155"/>
                </a:solidFill>
              </a:rPr>
              <a:t>Zero-hit bins (e.g. rare FIFO backpressure corner cases) are highlighted in red with direct drill-down.
</a:t>
            </a:r>
          </a:p>
          <a:p>
            <a:r>
              <a:rPr b="1" sz="1100">
                <a:solidFill>
                  <a:srgbClr val="0F172A"/>
                </a:solidFill>
              </a:rPr>
              <a:t>• 1-Click AI Directed Stimulus: </a:t>
            </a:r>
            <a:r>
              <a:rPr sz="1050">
                <a:solidFill>
                  <a:srgbClr val="334155"/>
                </a:solidFill>
              </a:rPr>
              <a:t>Engineers click 'Generate Directed Sequence' to automatically synthesize constrained-random sequences targeting unhit bins.
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GUI DIAGNOSTIC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9 (Cont.): Root-Cause Studio &amp; Waveform Inspector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12_rca_dashboard_g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08760"/>
            <a:ext cx="54864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5321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</a:rPr>
              <a:t>Interactive RCA Dashboard &amp; Waveform Studio with Cursor Synchronization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4846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50876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4D32"/>
                </a:solidFill>
              </a:rPr>
              <a:t>Sub-Cycle Waveform Correlation
</a:t>
            </a:r>
          </a:p>
          <a:p>
            <a:r>
              <a:rPr b="1" sz="1100">
                <a:solidFill>
                  <a:srgbClr val="0F172A"/>
                </a:solidFill>
              </a:rPr>
              <a:t>• Unified Failure Timeline:
</a:t>
            </a:r>
            <a:r>
              <a:rPr sz="1000">
                <a:solidFill>
                  <a:srgbClr val="334155"/>
                </a:solidFill>
              </a:rPr>
              <a:t>Correlates simulation log errors with exact physical clock edges.
</a:t>
            </a:r>
          </a:p>
          <a:p>
            <a:r>
              <a:rPr b="1" sz="1100">
                <a:solidFill>
                  <a:srgbClr val="0F172A"/>
                </a:solidFill>
              </a:rPr>
              <a:t>• Multi-Signal Bus Radix View:
</a:t>
            </a:r>
            <a:r>
              <a:rPr sz="1000">
                <a:solidFill>
                  <a:srgbClr val="334155"/>
                </a:solidFill>
              </a:rPr>
              <a:t>Decodes binary, hexadecimal, and one-hot FSM states dynamically.
</a:t>
            </a:r>
          </a:p>
          <a:p>
            <a:r>
              <a:rPr b="1" sz="1100">
                <a:solidFill>
                  <a:srgbClr val="0F172A"/>
                </a:solidFill>
              </a:rPr>
              <a:t>• Failure Marker Cursor:
</a:t>
            </a:r>
            <a:r>
              <a:rPr sz="1000">
                <a:solidFill>
                  <a:srgbClr val="334155"/>
                </a:solidFill>
              </a:rPr>
              <a:t>Automatically places inspection cursor at exact assertion trip timestamp (e.g. 450ns).
</a:t>
            </a:r>
          </a:p>
          <a:p>
            <a:r>
              <a:rPr b="1" sz="1100">
                <a:solidFill>
                  <a:srgbClr val="0F172A"/>
                </a:solidFill>
              </a:rPr>
              <a:t>• Signal Fan-In Tracing:
</a:t>
            </a:r>
            <a:r>
              <a:rPr sz="1000">
                <a:solidFill>
                  <a:srgbClr val="334155"/>
                </a:solidFill>
              </a:rPr>
              <a:t>Highlights upstream driving signals directly in the browser waveform canvas.
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AUTOMATED REPAIR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9 (Cont.): Automated Unified Patching &amp; Sandbox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13_automated_p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08760"/>
            <a:ext cx="54864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5321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</a:rPr>
              <a:t>VeriSight Unified Git Diff Patch with Automated Sandbox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4846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50876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4D32"/>
                </a:solidFill>
              </a:rPr>
              <a:t>The Zero-Touch Repair Loop
</a:t>
            </a:r>
          </a:p>
          <a:p>
            <a:r>
              <a:rPr b="1" sz="1100">
                <a:solidFill>
                  <a:srgbClr val="0F172A"/>
                </a:solidFill>
              </a:rPr>
              <a:t>1. Minimal Git Diff
</a:t>
            </a:r>
            <a:r>
              <a:rPr sz="1000">
                <a:solidFill>
                  <a:srgbClr val="334155"/>
                </a:solidFill>
              </a:rPr>
              <a:t>Synthesizes surgical diff altering only the root-cause bug line without side effects.
</a:t>
            </a:r>
          </a:p>
          <a:p>
            <a:r>
              <a:rPr b="1" sz="1100">
                <a:solidFill>
                  <a:srgbClr val="0F172A"/>
                </a:solidFill>
              </a:rPr>
              <a:t>2. AST Syntax Pre-Check
</a:t>
            </a:r>
            <a:r>
              <a:rPr sz="1000">
                <a:solidFill>
                  <a:srgbClr val="334155"/>
                </a:solidFill>
              </a:rPr>
              <a:t>Parses modified HDL with pyslang (Slang frontend) to catch genuine syntax errors before saving — distinguishing them from missing-include / unresolved-dependency diagnostics.
</a:t>
            </a:r>
          </a:p>
          <a:p>
            <a:r>
              <a:rPr b="1" sz="1100">
                <a:solidFill>
                  <a:srgbClr val="0F172A"/>
                </a:solidFill>
              </a:rPr>
              <a:t>3. Isolated Sandbox Simulation
</a:t>
            </a:r>
            <a:r>
              <a:rPr sz="1000">
                <a:solidFill>
                  <a:srgbClr val="334155"/>
                </a:solidFill>
              </a:rPr>
              <a:t>Copies patched design into /tmp sandbox and re-executes original simulation.
</a:t>
            </a:r>
          </a:p>
          <a:p>
            <a:r>
              <a:rPr b="1" sz="1100">
                <a:solidFill>
                  <a:srgbClr val="0F172A"/>
                </a:solidFill>
              </a:rPr>
              <a:t>4. Regression Clean Sign-Off
</a:t>
            </a:r>
            <a:r>
              <a:rPr sz="1000">
                <a:solidFill>
                  <a:srgbClr val="334155"/>
                </a:solidFill>
              </a:rPr>
              <a:t>Confirms failing assertion is eliminated and all existing tests continue to pass.
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COST EFFICIENCY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10: Token Utilization Over Cost — Sovereign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63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</a:rPr>
              <a:t>Cloud API Cost per Run
</a:t>
            </a:r>
          </a:p>
          <a:p>
            <a:r>
              <a:rPr sz="2200" b="1">
                <a:solidFill>
                  <a:srgbClr val="0B4D32"/>
                </a:solidFill>
              </a:rPr>
              <a:t>$0.02 - $0.05
</a:t>
            </a:r>
          </a:p>
          <a:p>
            <a:r>
              <a:rPr sz="1100">
                <a:solidFill>
                  <a:srgbClr val="334155"/>
                </a:solidFill>
              </a:rPr>
              <a:t>Using Gemini 2.5 Flash or Claude 3.5 Sonnet: Average 12k tokens per complete debug run. An entire 1,000-test regression costs under $35.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063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</a:rPr>
              <a:t>Sovereign Offline Cost
</a:t>
            </a:r>
          </a:p>
          <a:p>
            <a:r>
              <a:rPr sz="2200" b="1">
                <a:solidFill>
                  <a:srgbClr val="0284C7"/>
                </a:solidFill>
              </a:rPr>
              <a:t>$0.00 Marginal Cost
</a:t>
            </a:r>
          </a:p>
          <a:p>
            <a:r>
              <a:rPr sz="1100">
                <a:solidFill>
                  <a:srgbClr val="334155"/>
                </a:solidFill>
              </a:rPr>
              <a:t>Using local Ollama or vLLM running DeepSeek-Coder / Llama-3 on on-premise GPUs. Air-gapped zero external data transfer.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063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</a:rPr>
              <a:t>AST Token Optimization
</a:t>
            </a:r>
          </a:p>
          <a:p>
            <a:r>
              <a:rPr sz="2200" b="1">
                <a:solidFill>
                  <a:srgbClr val="D97706"/>
                </a:solidFill>
              </a:rPr>
              <a:t>Targeted Context
</a:t>
            </a:r>
          </a:p>
          <a:p>
            <a:r>
              <a:rPr sz="1100">
                <a:solidFill>
                  <a:srgbClr val="334155"/>
                </a:solidFill>
              </a:rPr>
              <a:t>pyslang AST pruning and targeted log slicing strip irrelevant modules/comments, feeding only the relevant logic cone to the LLM context.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STRATEGIC ADVANTAGE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11: Summary — The VeriSight Defensible Moat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4D32"/>
                </a:solidFill>
              </a:rPr>
              <a:t>Deep Domain Grounding
</a:t>
            </a:r>
          </a:p>
          <a:p>
            <a:r>
              <a:rPr sz="1100">
                <a:solidFill>
                  <a:srgbClr val="334155"/>
                </a:solidFill>
              </a:rPr>
              <a:t>Not just a wrapper on an LLM: Integrates 9 formal decision rules, AST netlist traversal, and temporal waveform slicing.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</a:rPr>
              <a:t>Air-Gapped Sovereign Security
</a:t>
            </a:r>
          </a:p>
          <a:p>
            <a:r>
              <a:rPr sz="1100">
                <a:solidFill>
                  <a:srgbClr val="334155"/>
                </a:solidFill>
              </a:rPr>
              <a:t>Semiconductor IP is protected by sovereign on-premise inference options (Ollama/vLLM). Zero IP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7706"/>
                </a:solidFill>
              </a:rPr>
              <a:t>Zero Vendor Lock-In
</a:t>
            </a:r>
          </a:p>
          <a:p>
            <a:r>
              <a:rPr sz="1100">
                <a:solidFill>
                  <a:srgbClr val="334155"/>
                </a:solidFill>
              </a:rPr>
              <a:t>Agnostic layer sitting above Synopsys VCS, Siemens Questa, Cadence Xcelium, and open-source Verilator.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4D32"/>
                </a:solidFill>
              </a:rPr>
              <a:t>Massive Enterprise ROI
</a:t>
            </a:r>
          </a:p>
          <a:p>
            <a:r>
              <a:rPr sz="1100">
                <a:solidFill>
                  <a:srgbClr val="334155"/>
                </a:solidFill>
              </a:rPr>
              <a:t>Reduces debug turnaround from hours to seconds; prevents multi-million dollar physical silicon re-spins.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PRODUCT ROADMAP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12: Future Scope — The Autonomous Silicon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4D32"/>
                </a:solidFill>
              </a:rPr>
              <a:t>Phase 1: Present (v2.4)
</a:t>
            </a:r>
          </a:p>
          <a:p>
            <a:r>
              <a:rPr sz="1100" b="1">
                <a:solidFill>
                  <a:srgbClr val="0F172A"/>
                </a:solidFill>
              </a:rPr>
              <a:t>Production Multi-Agent Triage
</a:t>
            </a:r>
          </a:p>
          <a:p>
            <a:r>
              <a:rPr sz="1050">
                <a:solidFill>
                  <a:srgbClr val="334155"/>
                </a:solidFill>
              </a:rPr>
              <a:t>• 6 Guided Workflows
• 9 Formal RCA Rules
• Live Coverage Cockpit
• Sandbox Auto-Patch
• FastAPI Web Studio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5448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284C7"/>
                </a:solidFill>
              </a:rPr>
              <a:t>Phase 2: Q1-Q2 2027
</a:t>
            </a:r>
          </a:p>
          <a:p>
            <a:r>
              <a:rPr sz="1100" b="1">
                <a:solidFill>
                  <a:srgbClr val="0F172A"/>
                </a:solidFill>
              </a:rPr>
              <a:t>Continuous Regression Learning
</a:t>
            </a:r>
          </a:p>
          <a:p>
            <a:r>
              <a:rPr sz="1050">
                <a:solidFill>
                  <a:srgbClr val="334155"/>
                </a:solidFill>
              </a:rPr>
              <a:t>• Nightly farm log clustering
• Automated test deduping
• Bayesian stimulus tuning
• Cross-project bug memory
• Git PR auto-commenting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97706"/>
                </a:solidFill>
              </a:rPr>
              <a:t>Phase 3: Q3-Q4 2027
</a:t>
            </a:r>
          </a:p>
          <a:p>
            <a:r>
              <a:rPr sz="1100" b="1">
                <a:solidFill>
                  <a:srgbClr val="0F172A"/>
                </a:solidFill>
              </a:rPr>
              <a:t>Silicon-to-Software Feedback
</a:t>
            </a:r>
          </a:p>
          <a:p>
            <a:r>
              <a:rPr sz="1050">
                <a:solidFill>
                  <a:srgbClr val="334155"/>
                </a:solidFill>
              </a:rPr>
              <a:t>• Post-silicon ATE tester link
• Scan chain fault diagnosis
• Automated ATPG vectors
• Formal theorem proving
• ISO 26262 ASIL-D certified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ENTERPRISE INTEGRATION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13: Integration Into Real World Chip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4D32"/>
                </a:solidFill>
              </a:rPr>
              <a:t>Day-1 Frictionless CI/CD Deployment
</a:t>
            </a:r>
          </a:p>
          <a:p>
            <a:r>
              <a:rPr b="1" sz="1100">
                <a:solidFill>
                  <a:srgbClr val="0F172A"/>
                </a:solidFill>
              </a:rPr>
              <a:t>• CI/CD Pipeline Hooks: </a:t>
            </a:r>
            <a:r>
              <a:rPr sz="1000">
                <a:solidFill>
                  <a:srgbClr val="334155"/>
                </a:solidFill>
              </a:rPr>
              <a:t>Integrates natively into Jenkins, GitLab CI, GitHub Actions via headless CLI.
</a:t>
            </a:r>
          </a:p>
          <a:p>
            <a:r>
              <a:rPr b="1" sz="1100">
                <a:solidFill>
                  <a:srgbClr val="0F172A"/>
                </a:solidFill>
              </a:rPr>
              <a:t>• Zero EDA Toolchain Disruption: </a:t>
            </a:r>
            <a:r>
              <a:rPr sz="1000">
                <a:solidFill>
                  <a:srgbClr val="334155"/>
                </a:solidFill>
              </a:rPr>
              <a:t>Wraps around existing Synopsys, Siemens, and Cadence regression scripts without modifying Makefiles.
</a:t>
            </a:r>
          </a:p>
          <a:p>
            <a:r>
              <a:rPr b="1" sz="1100">
                <a:solidFill>
                  <a:srgbClr val="0F172A"/>
                </a:solidFill>
              </a:rPr>
              <a:t>• Standard Format Ingestion: </a:t>
            </a:r>
            <a:r>
              <a:rPr sz="1000">
                <a:solidFill>
                  <a:srgbClr val="334155"/>
                </a:solidFill>
              </a:rPr>
              <a:t>Parses industry standard formats: SystemVerilog (.sv), VCD, FSDB, UCDB, and JUnit XML.
</a:t>
            </a:r>
          </a:p>
          <a:p>
            <a:r>
              <a:rPr b="1" sz="1100">
                <a:solidFill>
                  <a:srgbClr val="0F172A"/>
                </a:solidFill>
              </a:rPr>
              <a:t>• Slack &amp; Teams Notifications: </a:t>
            </a:r>
            <a:r>
              <a:rPr sz="1000">
                <a:solidFill>
                  <a:srgbClr val="334155"/>
                </a:solidFill>
              </a:rPr>
              <a:t>Posts triage summaries, root-cause confidence scores, and patch diffs directly into team channels.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15_ci_cd_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08760"/>
            <a:ext cx="484632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53212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</a:rPr>
              <a:t>Headless CI/CD Nightly Regression Triage Automation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Arial"/>
              </a:rPr>
              <a:t>VERIFICATION STANDARDS  •  </a:t>
            </a:r>
            <a:r>
              <a:rPr sz="2200" b="1">
                <a:solidFill>
                  <a:srgbClr val="0B4D32"/>
                </a:solidFill>
                <a:latin typeface="Arial"/>
              </a:rPr>
              <a:t>Topic 14: Appendix — Supporting Documents &amp;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4D32"/>
                </a:solidFill>
              </a:rPr>
              <a:t>ISO 26262 ASIL-D &amp; DO-254
</a:t>
            </a:r>
          </a:p>
          <a:p>
            <a:r>
              <a:rPr sz="1100">
                <a:solidFill>
                  <a:srgbClr val="334155"/>
                </a:solidFill>
              </a:rPr>
              <a:t>Bi-directional traceability matrix guarantees complete requirement-to-test tracking required for safety-critical automotive and aerospace silicon.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284C7"/>
                </a:solidFill>
              </a:rPr>
              <a:t>IEEE 1800 &amp; UVM 1.2 Standards
</a:t>
            </a:r>
          </a:p>
          <a:p>
            <a:r>
              <a:rPr sz="1100">
                <a:solidFill>
                  <a:srgbClr val="334155"/>
                </a:solidFill>
              </a:rPr>
              <a:t>Full support for standard SystemVerilog, TLM 2.0 communication ports, sequence items, drivers, monitors, and scoreboards.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7706"/>
                </a:solidFill>
              </a:rPr>
              <a:t>107-Page Master Operations Journal
</a:t>
            </a:r>
          </a:p>
          <a:p>
            <a:r>
              <a:rPr sz="1100">
                <a:solidFill>
                  <a:srgbClr val="334155"/>
                </a:solidFill>
              </a:rPr>
              <a:t>Exhaustive field engineering documentation with 75 technical annexes, formal theorems, SVA assertion libraries, and simulator flags.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ChromaDB Vector Telemetry
</a:t>
            </a:r>
          </a:p>
          <a:p>
            <a:r>
              <a:rPr sz="1100">
                <a:solidFill>
                  <a:srgbClr val="334155"/>
                </a:solidFill>
              </a:rPr>
              <a:t>11 persistent collections storing indexed specification paragraphs, register maps, and historical defect signatures.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1371600"/>
            <a:ext cx="9418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4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4D32"/>
                </a:solidFill>
              </a:rPr>
              <a:t>VERISIGHT™
</a:t>
            </a:r>
          </a:p>
          <a:p>
            <a:r>
              <a:rPr sz="1800" b="1">
                <a:solidFill>
                  <a:srgbClr val="0F172A"/>
                </a:solidFill>
              </a:rPr>
              <a:t>The Future of Silicon Verification is Autonomous.
</a:t>
            </a:r>
          </a:p>
          <a:p>
            <a:r>
              <a:rPr sz="1300">
                <a:solidFill>
                  <a:srgbClr val="334155"/>
                </a:solidFill>
              </a:rPr>
              <a:t>Thank you for your time. We are now open for Questions &amp; Answers.
• Ready for Enterprise Pilot Deployments
• Available for Custom SoC Benchmark Evaluations
</a:t>
            </a:r>
          </a:p>
          <a:p>
            <a:r>
              <a:rPr sz="1300" b="1">
                <a:solidFill>
                  <a:srgbClr val="0B4D32"/>
                </a:solidFill>
              </a:rPr>
              <a:t>Lead Architect &amp; Presenter: Kittu Patel (@KITTUV03)
</a:t>
            </a:r>
            <a:r>
              <a:rPr sz="1100">
                <a:solidFill>
                  <a:srgbClr val="64748B"/>
                </a:solidFill>
              </a:rPr>
              <a:t>VeriSight Production Release v2.4 • October 20,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