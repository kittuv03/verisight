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0584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284C7"/>
                </a:solidFill>
              </a:rPr>
              <a:t>INVESTOR PITCH &amp; ENTERPRISE TECHNICAL OVERVIEW • OCTOBER 2026
</a:t>
            </a:r>
          </a:p>
          <a:p>
            <a:r>
              <a:rPr sz="4400" b="1">
                <a:solidFill>
                  <a:srgbClr val="0B4D32"/>
                </a:solidFill>
                <a:latin typeface="Arial"/>
              </a:rPr>
              <a:t>VERISIGHT™</a:t>
            </a:r>
          </a:p>
          <a:p>
            <a:r>
              <a:rPr sz="2000" b="1">
                <a:solidFill>
                  <a:srgbClr val="0F172A"/>
                </a:solidFill>
                <a:latin typeface="Arial"/>
              </a:rPr>
              <a:t>Autonomous Silicon Verification &amp; Failure Debugging Copilot</a:t>
            </a:r>
          </a:p>
          <a:p>
            <a:r>
              <a:rPr sz="1300">
                <a:solidFill>
                  <a:srgbClr val="334155"/>
                </a:solidFill>
                <a:latin typeface="Arial"/>
              </a:rPr>
              <a:t>Bridging Natural Language Hardware Specifications to Zero-Bug Silicon with Multi-Agent AI,
Closed-Loop Simulation, Deterministic Root Cause Analysis, and Automated Patch Generation.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77639"/>
            <a:ext cx="3328416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799"/>
            <a:ext cx="296265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4D32"/>
                </a:solidFill>
                <a:latin typeface="Arial"/>
              </a:rPr>
              <a:t>100x Faster Triage
</a:t>
            </a:r>
          </a:p>
          <a:p>
            <a:r>
              <a:rPr sz="1100">
                <a:solidFill>
                  <a:srgbClr val="334155"/>
                </a:solidFill>
                <a:latin typeface="Arial"/>
              </a:rPr>
              <a:t>Root cause isolated in &lt;15s vs. 4-6 hours manual engineer debugging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3977639"/>
            <a:ext cx="3328416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9432" y="4114799"/>
            <a:ext cx="296265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284C7"/>
                </a:solidFill>
                <a:latin typeface="Arial"/>
              </a:rPr>
              <a:t>Zero Hallucinations
</a:t>
            </a:r>
          </a:p>
          <a:p>
            <a:r>
              <a:rPr sz="1100">
                <a:solidFill>
                  <a:srgbClr val="334155"/>
                </a:solidFill>
                <a:latin typeface="Arial"/>
              </a:rPr>
              <a:t>9 Formal Decision Rules + Static pyslang AST X-Tracer + Sandbox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4" y="3977639"/>
            <a:ext cx="3328416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84464" y="4114799"/>
            <a:ext cx="296265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97706"/>
                </a:solidFill>
                <a:latin typeface="Arial"/>
              </a:rPr>
              <a:t>Universal Compatibility
</a:t>
            </a:r>
          </a:p>
          <a:p>
            <a:r>
              <a:rPr sz="1100">
                <a:solidFill>
                  <a:srgbClr val="334155"/>
                </a:solidFill>
                <a:latin typeface="Arial"/>
              </a:rPr>
              <a:t>Seamless Day-1 drop-in across VCS, Questa, Xcelium, and Verilator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064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F172A"/>
                </a:solidFill>
              </a:rPr>
              <a:t>Team Members: Patel Kittu &amp; Vinod Nikhil Monterio   |   Lead Architect: Kittu Patel (@KITTUV03)
</a:t>
            </a:r>
            <a:r>
              <a:rPr sz="1000">
                <a:solidFill>
                  <a:srgbClr val="64748B"/>
                </a:solidFill>
              </a:rPr>
              <a:t>VeriSight Production Release v2.4 • Confidential Enterprise Edition • October 2026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>
                                          <p:tgtEl>
                                            <p:spTgt spid="9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>
                                          <p:tgtEl>
                                            <p:spTgt spid="10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  <p:bldP spid="10" grpId="0" bldLvl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AGENDA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Presentation Roadmap &amp; Table of Contents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4D32"/>
                </a:solidFill>
              </a:rPr>
              <a:t>PART I: FOUNDATIONAL TECHNOLOGY
</a:t>
            </a:r>
          </a:p>
          <a:p>
            <a:r>
              <a:rPr b="1" sz="1050">
                <a:solidFill>
                  <a:srgbClr val="0F172A"/>
                </a:solidFill>
              </a:rPr>
              <a:t>01  Idea Overview — </a:t>
            </a:r>
            <a:r>
              <a:rPr sz="950">
                <a:solidFill>
                  <a:srgbClr val="334155"/>
                </a:solidFill>
              </a:rPr>
              <a:t>The VeriSight Vision &amp; Autonomous Triage
</a:t>
            </a:r>
          </a:p>
          <a:p>
            <a:r>
              <a:rPr b="1" sz="1050">
                <a:solidFill>
                  <a:srgbClr val="0F172A"/>
                </a:solidFill>
              </a:rPr>
              <a:t>02  Problem Statement — </a:t>
            </a:r>
            <a:r>
              <a:rPr sz="950">
                <a:solidFill>
                  <a:srgbClr val="334155"/>
                </a:solidFill>
              </a:rPr>
              <a:t>The Silicon Verification Crisis ($30M+ Re-Spins)
</a:t>
            </a:r>
          </a:p>
          <a:p>
            <a:r>
              <a:rPr b="1" sz="1050">
                <a:solidFill>
                  <a:srgbClr val="0F172A"/>
                </a:solidFill>
              </a:rPr>
              <a:t>03  AI Approach to Solve Problem — </a:t>
            </a:r>
            <a:r>
              <a:rPr sz="950">
                <a:solidFill>
                  <a:srgbClr val="334155"/>
                </a:solidFill>
              </a:rPr>
              <a:t>Deterministic Multi-Agent Cognitive Pipeline
</a:t>
            </a:r>
          </a:p>
          <a:p>
            <a:r>
              <a:rPr b="1" sz="1050">
                <a:solidFill>
                  <a:srgbClr val="0F172A"/>
                </a:solidFill>
              </a:rPr>
              <a:t>04  Solution Architecture — </a:t>
            </a:r>
            <a:r>
              <a:rPr sz="950">
                <a:solidFill>
                  <a:srgbClr val="334155"/>
                </a:solidFill>
              </a:rPr>
              <a:t>End-to-End System Block Diagram &amp; Fabric
</a:t>
            </a:r>
          </a:p>
          <a:p>
            <a:r>
              <a:rPr b="1" sz="1050">
                <a:solidFill>
                  <a:srgbClr val="0F172A"/>
                </a:solidFill>
              </a:rPr>
              <a:t>05  Architecture Components — </a:t>
            </a:r>
            <a:r>
              <a:rPr sz="950">
                <a:solidFill>
                  <a:srgbClr val="334155"/>
                </a:solidFill>
              </a:rPr>
              <a:t>5-Agent Breakdown &amp; 9 Formal RCA Rules
</a:t>
            </a:r>
          </a:p>
          <a:p>
            <a:r>
              <a:rPr b="1" sz="1050">
                <a:solidFill>
                  <a:srgbClr val="0F172A"/>
                </a:solidFill>
              </a:rPr>
              <a:t>06  Tools &amp; Models Used — </a:t>
            </a:r>
            <a:r>
              <a:rPr sz="950">
                <a:solidFill>
                  <a:srgbClr val="334155"/>
                </a:solidFill>
              </a:rPr>
              <a:t>Multi-Provider Stack, pyslang &amp; EDA Ecosystem
</a:t>
            </a:r>
          </a:p>
          <a:p>
            <a:r>
              <a:rPr b="1" sz="1050">
                <a:solidFill>
                  <a:srgbClr val="0F172A"/>
                </a:solidFill>
              </a:rPr>
              <a:t>07  Experiments Conducted — </a:t>
            </a:r>
            <a:r>
              <a:rPr sz="950">
                <a:solidFill>
                  <a:srgbClr val="334155"/>
                </a:solidFill>
              </a:rPr>
              <a:t>Rigorous Testbeds (ALU, FIFO, AXI-Stream, RISC-V)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84C7"/>
                </a:solidFill>
              </a:rPr>
              <a:t>PART II: WORKFLOWS, METRICS &amp; DEPLOYMENT
</a:t>
            </a:r>
          </a:p>
          <a:p>
            <a:r>
              <a:rPr b="1" sz="1050">
                <a:solidFill>
                  <a:srgbClr val="0F172A"/>
                </a:solidFill>
              </a:rPr>
              <a:t>08  Results &amp; Comparison — </a:t>
            </a:r>
            <a:r>
              <a:rPr sz="950">
                <a:solidFill>
                  <a:srgbClr val="334155"/>
                </a:solidFill>
              </a:rPr>
              <a:t>AI vs. Manual Effort Benchmark &amp; Enterprise ROI
</a:t>
            </a:r>
          </a:p>
          <a:p>
            <a:r>
              <a:rPr b="1" sz="1050">
                <a:solidFill>
                  <a:srgbClr val="0F172A"/>
                </a:solidFill>
              </a:rPr>
              <a:t>09  Dashboard &amp; 6 Workflows — </a:t>
            </a:r>
            <a:r>
              <a:rPr sz="950">
                <a:solidFill>
                  <a:srgbClr val="334155"/>
                </a:solidFill>
              </a:rPr>
              <a:t>Live Coverage Cockpit, Waveform Studio &amp; Repair
</a:t>
            </a:r>
          </a:p>
          <a:p>
            <a:r>
              <a:rPr b="1" sz="1050">
                <a:solidFill>
                  <a:srgbClr val="0F172A"/>
                </a:solidFill>
              </a:rPr>
              <a:t>10  Token Utilization Over Cost — </a:t>
            </a:r>
            <a:r>
              <a:rPr sz="950">
                <a:solidFill>
                  <a:srgbClr val="334155"/>
                </a:solidFill>
              </a:rPr>
              <a:t>Sovereign Offline Economics &amp; AST Optimization
</a:t>
            </a:r>
          </a:p>
          <a:p>
            <a:r>
              <a:rPr b="1" sz="1050">
                <a:solidFill>
                  <a:srgbClr val="0F172A"/>
                </a:solidFill>
              </a:rPr>
              <a:t>11  Summary &amp; Defensible Moat — </a:t>
            </a:r>
            <a:r>
              <a:rPr sz="950">
                <a:solidFill>
                  <a:srgbClr val="334155"/>
                </a:solidFill>
              </a:rPr>
              <a:t>Domain Grounding, Security &amp; Zero Vendor Lock-In
</a:t>
            </a:r>
          </a:p>
          <a:p>
            <a:r>
              <a:rPr b="1" sz="1050">
                <a:solidFill>
                  <a:srgbClr val="0F172A"/>
                </a:solidFill>
              </a:rPr>
              <a:t>12  Future Scope &amp; Roadmap — </a:t>
            </a:r>
            <a:r>
              <a:rPr sz="950">
                <a:solidFill>
                  <a:srgbClr val="334155"/>
                </a:solidFill>
              </a:rPr>
              <a:t>Autonomous Silicon Evolution (Phase 1, 2, 3)
</a:t>
            </a:r>
          </a:p>
          <a:p>
            <a:r>
              <a:rPr b="1" sz="1050">
                <a:solidFill>
                  <a:srgbClr val="0F172A"/>
                </a:solidFill>
              </a:rPr>
              <a:t>13  Real-World Chip Integration — </a:t>
            </a:r>
            <a:r>
              <a:rPr sz="950">
                <a:solidFill>
                  <a:srgbClr val="334155"/>
                </a:solidFill>
              </a:rPr>
              <a:t>Day-1 Frictionless CI/CD &amp; EDA Tool Wrapping
</a:t>
            </a:r>
          </a:p>
          <a:p>
            <a:r>
              <a:rPr b="1" sz="1050">
                <a:solidFill>
                  <a:srgbClr val="0F172A"/>
                </a:solidFill>
              </a:rPr>
              <a:t>14  Appendix &amp; Standards — </a:t>
            </a:r>
            <a:r>
              <a:rPr sz="950">
                <a:solidFill>
                  <a:srgbClr val="334155"/>
                </a:solidFill>
              </a:rPr>
              <a:t>ISO 26262 ASIL-D, DO-254, IEEE 1800 &amp; UVM 1.2
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IDEA OVERVIEW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1: Idea Overview — The VeriSight Vision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2179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5852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What is VeriSight?
</a:t>
            </a:r>
          </a:p>
          <a:p>
            <a:r>
              <a:rPr b="1">
                <a:solidFill>
                  <a:srgbClr val="0B4D32"/>
                </a:solidFill>
              </a:rPr>
              <a:t>• </a:t>
            </a:r>
            <a:r>
              <a:rPr sz="1050">
                <a:solidFill>
                  <a:srgbClr val="334155"/>
                </a:solidFill>
              </a:rPr>
              <a:t>Autonomous silicon verification &amp; failure debugging copilot designed for digital ASIC &amp; SoC design.
</a:t>
            </a:r>
          </a:p>
          <a:p>
            <a:r>
              <a:rPr b="1">
                <a:solidFill>
                  <a:srgbClr val="0B4D32"/>
                </a:solidFill>
              </a:rPr>
              <a:t>• </a:t>
            </a:r>
            <a:r>
              <a:rPr sz="1050">
                <a:solidFill>
                  <a:srgbClr val="334155"/>
                </a:solidFill>
              </a:rPr>
              <a:t>Eliminates the multi-week verification bottleneck between RTL design freeze and tape-out sign-off.
</a:t>
            </a:r>
          </a:p>
          <a:p>
            <a:r>
              <a:rPr b="1">
                <a:solidFill>
                  <a:srgbClr val="0B4D32"/>
                </a:solidFill>
              </a:rPr>
              <a:t>• </a:t>
            </a:r>
            <a:r>
              <a:rPr sz="1050">
                <a:solidFill>
                  <a:srgbClr val="334155"/>
                </a:solidFill>
              </a:rPr>
              <a:t>Deep closed-loop integration: Directly invokes EDA simulators (VCS, Questa, Verilator) and parses waveforms.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62179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5852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84C7"/>
                </a:solidFill>
              </a:rPr>
              <a:t>Core Autonomous Capabilities
</a:t>
            </a:r>
          </a:p>
          <a:p>
            <a:r>
              <a:rPr b="1" sz="950">
                <a:solidFill>
                  <a:srgbClr val="0F172A"/>
                </a:solidFill>
              </a:rPr>
              <a:t>• Autonomous Test Plan Synthesis: </a:t>
            </a:r>
            <a:r>
              <a:rPr sz="950">
                <a:solidFill>
                  <a:srgbClr val="334155"/>
                </a:solidFill>
              </a:rPr>
              <a:t>Extracts features, test sequences, covergroups, and SVA assertions directly from specs.</a:t>
            </a:r>
          </a:p>
          <a:p>
            <a:r>
              <a:rPr b="1" sz="950">
                <a:solidFill>
                  <a:srgbClr val="0F172A"/>
                </a:solidFill>
              </a:rPr>
              <a:t>• Closed-Loop Simulation: </a:t>
            </a:r>
            <a:r>
              <a:rPr sz="950">
                <a:solidFill>
                  <a:srgbClr val="334155"/>
                </a:solidFill>
              </a:rPr>
              <a:t>Simulates RTL and testbench, intercepts errors, dumps VCD traces, and auto-triggers triage.</a:t>
            </a:r>
          </a:p>
          <a:p>
            <a:r>
              <a:rPr b="1" sz="950">
                <a:solidFill>
                  <a:srgbClr val="0F172A"/>
                </a:solidFill>
              </a:rPr>
              <a:t>• Root-Cause Diagnostic Engine: </a:t>
            </a:r>
            <a:r>
              <a:rPr sz="950">
                <a:solidFill>
                  <a:srgbClr val="334155"/>
                </a:solidFill>
              </a:rPr>
              <a:t>Applies 9 formal decision rules and backwards AST cone traversal to isolate bugs in &lt;15s.</a:t>
            </a:r>
          </a:p>
          <a:p>
            <a:r>
              <a:rPr b="1" sz="950">
                <a:solidFill>
                  <a:srgbClr val="0F172A"/>
                </a:solidFill>
              </a:rPr>
              <a:t>• Self-Synthesizing Patch Generator: </a:t>
            </a:r>
            <a:r>
              <a:rPr sz="950">
                <a:solidFill>
                  <a:srgbClr val="334155"/>
                </a:solidFill>
              </a:rPr>
              <a:t>Generates minimal unified git diffs and validates syntax in an isolated compile sandbox.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371600"/>
            <a:ext cx="42976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reenshot_01_welcome_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554480"/>
            <a:ext cx="3931920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0" y="566928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64748B"/>
                </a:solidFill>
              </a:rPr>
              <a:t>VeriSight Guided CLI Launcher with 6 Autonomous Workflows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>
                                          <p:tgtEl>
                                            <p:spTgt spid="9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>
                                          <p:tgtEl>
                                            <p:spTgt spid="10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  <p:bldP spid="10" grpId="0" bldLvl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MARKET NEED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2: Problem Statement — The Silicon Verification Crisis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0876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C2626"/>
                </a:solidFill>
              </a:rPr>
              <a:t>1. 70% Development Cycle Eaten by Verification
</a:t>
            </a:r>
          </a:p>
          <a:p>
            <a:r>
              <a:rPr sz="1000">
                <a:solidFill>
                  <a:srgbClr val="334155"/>
                </a:solidFill>
              </a:rPr>
              <a:t>• Verification is the single largest cost and timeline driver in semiconductor design.
• Over 70% of total engineering headcount and project schedule is spent triaging RTL.
• Regressions tie up compute clusters for days waiting for failure classification.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0876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97706"/>
                </a:solidFill>
              </a:rPr>
              <a:t>2. Exploding Complexity &amp; Mask Re-Spin Costs
</a:t>
            </a:r>
          </a:p>
          <a:p>
            <a:r>
              <a:rPr sz="1000">
                <a:solidFill>
                  <a:srgbClr val="334155"/>
                </a:solidFill>
              </a:rPr>
              <a:t>• Modern SoCs pack 100M+ to tens of billions of transistors with complex clock domains.
• A single escaped functional bug requires a physical silicon mask re-spin costing $15M to $30M+.
• Tape-out slips lead to severe market share erosion and revenue loss.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776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4D32"/>
                </a:solidFill>
              </a:rPr>
              <a:t>3. Acute Senior Verification Talent Shortage
</a:t>
            </a:r>
          </a:p>
          <a:p>
            <a:r>
              <a:rPr sz="1000">
                <a:solidFill>
                  <a:srgbClr val="334155"/>
                </a:solidFill>
              </a:rPr>
              <a:t>• The global semiconductor industry faces a deficit of 30,000+ verification engineers.
• Senior engineers spend 60% of their day manually wading through 50,000-line simulation logs.
• Repetitive manual triage causes engineer burnout and high turnover.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9776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84C7"/>
                </a:solidFill>
              </a:rPr>
              <a:t>4. Disconnected Specs &amp; Coverage Closure Stalls
</a:t>
            </a:r>
          </a:p>
          <a:p>
            <a:r>
              <a:rPr sz="1000">
                <a:solidFill>
                  <a:srgbClr val="334155"/>
                </a:solidFill>
              </a:rPr>
              <a:t>• Architectural specifications (Word/PDF) drift away from SystemVerilog testbenches.
• Verification teams spend 6-8 weeks stuck at 85% coverage unable to hit corner-case bins.
• Lack of automated requirement-to-test traceability creates ISO 26262 audit compliance risk.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>
                                          <p:tgtEl>
                                            <p:spTgt spid="9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>
                                          <p:tgtEl>
                                            <p:spTgt spid="10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>
                                          <p:tgtEl>
                                            <p:spTgt spid="11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  <p:bldP spid="10" grpId="0" bldLvl="0" animBg="1"/>
      <p:bldP spid="11" grpId="0" bldLvl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CORE INNOVATION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3: AI Approach — Deterministic Multi-Agent Cognitive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C2626"/>
                </a:solidFill>
              </a:rPr>
              <a:t>Why Generic AI (ChatGPT / Copilot) Fails in Silicon
</a:t>
            </a:r>
          </a:p>
          <a:p>
            <a:r>
              <a:rPr b="1" sz="1050">
                <a:solidFill>
                  <a:srgbClr val="0F172A"/>
                </a:solidFill>
              </a:rPr>
              <a:t>❌ Hallucinates Non-Existent Hardware: </a:t>
            </a:r>
            <a:r>
              <a:rPr sz="1000">
                <a:solidFill>
                  <a:srgbClr val="334155"/>
                </a:solidFill>
              </a:rPr>
              <a:t>Suggests software libraries or invalid SystemVerilog syntax that fails downstream synthesis.
</a:t>
            </a:r>
          </a:p>
          <a:p>
            <a:r>
              <a:rPr b="1" sz="1050">
                <a:solidFill>
                  <a:srgbClr val="0F172A"/>
                </a:solidFill>
              </a:rPr>
              <a:t>❌ Blind to Waveform Timestamps: </a:t>
            </a:r>
            <a:r>
              <a:rPr sz="1000">
                <a:solidFill>
                  <a:srgbClr val="334155"/>
                </a:solidFill>
              </a:rPr>
              <a:t>Cannot parse cycle-by-cycle VCD/FSDB temporal transitions or physical clock edges.
</a:t>
            </a:r>
          </a:p>
          <a:p>
            <a:r>
              <a:rPr b="1" sz="1050">
                <a:solidFill>
                  <a:srgbClr val="0F172A"/>
                </a:solidFill>
              </a:rPr>
              <a:t>❌ No Structural HDL Understanding: </a:t>
            </a:r>
            <a:r>
              <a:rPr sz="1000">
                <a:solidFill>
                  <a:srgbClr val="334155"/>
                </a:solidFill>
              </a:rPr>
              <a:t>Lacks semantic knowledge of fan-in logic cones, CDC synchronizers, or 4-state simulation (X/Z).
</a:t>
            </a:r>
          </a:p>
          <a:p>
            <a:r>
              <a:rPr b="1" sz="1050">
                <a:solidFill>
                  <a:srgbClr val="0F172A"/>
                </a:solidFill>
              </a:rPr>
              <a:t>❌ No Execution Sandbox: </a:t>
            </a:r>
            <a:r>
              <a:rPr sz="1000">
                <a:solidFill>
                  <a:srgbClr val="334155"/>
                </a:solidFill>
              </a:rPr>
              <a:t>Generates unchecked code without verifying whether regression tests pass or fail.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The VeriSight Multi-Agent Solution
</a:t>
            </a:r>
          </a:p>
          <a:p>
            <a:r>
              <a:rPr b="1" sz="1050">
                <a:solidFill>
                  <a:srgbClr val="0F172A"/>
                </a:solidFill>
              </a:rPr>
              <a:t>✅ 9 Deterministic Decision Rules: </a:t>
            </a:r>
            <a:r>
              <a:rPr sz="1000">
                <a:solidFill>
                  <a:srgbClr val="334155"/>
                </a:solidFill>
              </a:rPr>
              <a:t>Mathematical rules strictly categorize bugs as RTL vs TB vs Spec vs Unknown (Zero Hallucination).
</a:t>
            </a:r>
          </a:p>
          <a:p>
            <a:r>
              <a:rPr b="1" sz="1050">
                <a:solidFill>
                  <a:srgbClr val="0F172A"/>
                </a:solidFill>
              </a:rPr>
              <a:t>✅ Static pyslang AST X-Tracer: </a:t>
            </a:r>
            <a:r>
              <a:rPr sz="1000">
                <a:solidFill>
                  <a:srgbClr val="334155"/>
                </a:solidFill>
              </a:rPr>
              <a:t>Traverses genuine elaborated SystemVerilog AST to flag reset-less sequential registers without simulation.
</a:t>
            </a:r>
          </a:p>
          <a:p>
            <a:r>
              <a:rPr b="1" sz="1050">
                <a:solidFill>
                  <a:srgbClr val="0F172A"/>
                </a:solidFill>
              </a:rPr>
              <a:t>✅ Multi-Modal Waveform Slicing: </a:t>
            </a:r>
            <a:r>
              <a:rPr sz="1000">
                <a:solidFill>
                  <a:srgbClr val="334155"/>
                </a:solidFill>
              </a:rPr>
              <a:t>Extracts +/- 20 cycles around assertion failure timestamp for sub-cycle precision using pywellen.
</a:t>
            </a:r>
          </a:p>
          <a:p>
            <a:r>
              <a:rPr b="1" sz="1050">
                <a:solidFill>
                  <a:srgbClr val="0F172A"/>
                </a:solidFill>
              </a:rPr>
              <a:t>✅ Closed-Loop Sandbox Validation: </a:t>
            </a:r>
            <a:r>
              <a:rPr sz="1000">
                <a:solidFill>
                  <a:srgbClr val="334155"/>
                </a:solidFill>
              </a:rPr>
              <a:t>Every patch is re-compiled in an isolated sandbox with zero human intervention.
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/>
        </p:nvSpPr>
        <p:spPr>
          <a:xfrm>
            <a:off x="381000" y="457200"/>
            <a:ext cx="10515600" cy="705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>
                <a:latin typeface="Calibri" panose="020F0502020204030204" charset="0"/>
                <a:ea typeface="Calibri" panose="020F0502020204030204"/>
                <a:cs typeface="Calibri" panose="020F0502020204030204" charset="0"/>
              </a:rPr>
              <a:t>VERISIGHT SYSTEM ARCHITECTURE</a:t>
            </a:r>
            <a:endParaRPr lang="en-US" sz="3200" b="1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10" name="Subtitle"/>
          <p:cNvSpPr txBox="1"/>
          <p:nvPr/>
        </p:nvSpPr>
        <p:spPr>
          <a:xfrm>
            <a:off x="521208" y="109728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lang="en-US" sz="1600" b="1">
                <a:solidFill>
                  <a:srgbClr val="475569"/>
                </a:solidFill>
                <a:latin typeface="Calibri" panose="020F0502020204030204"/>
              </a:rPr>
              <a:t>Multi-Agent Autonomous Fabric</a:t>
            </a:r>
            <a:endParaRPr lang="en-US" sz="1600" b="1">
              <a:solidFill>
                <a:srgbClr val="475569"/>
              </a:solidFill>
              <a:latin typeface="Calibri" panose="020F0502020204030204"/>
            </a:endParaRPr>
          </a:p>
        </p:txBody>
      </p:sp>
      <p:sp>
        <p:nvSpPr>
          <p:cNvPr id="11" name="Verification Inputs"/>
          <p:cNvSpPr/>
          <p:nvPr/>
        </p:nvSpPr>
        <p:spPr>
          <a:xfrm>
            <a:off x="457200" y="1554480"/>
            <a:ext cx="237744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0B5CAD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lang="en-US" sz="1500" b="1">
                <a:solidFill>
                  <a:srgbClr val="0B5CAD"/>
                </a:solidFill>
                <a:latin typeface="Calibri" panose="020F0502020204030204"/>
              </a:rPr>
              <a:t>VERIFICATION INPUTS</a:t>
            </a:r>
            <a:endParaRPr lang="en-US" sz="1500" b="1">
              <a:solidFill>
                <a:srgbClr val="0B5CAD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0B5CAD"/>
                </a:solidFill>
                <a:latin typeface="Calibri" panose="020F0502020204030204"/>
              </a:rPr>
              <a:t>Specification Docs</a:t>
            </a:r>
            <a:endParaRPr lang="en-US" sz="1400" b="1">
              <a:solidFill>
                <a:srgbClr val="0B5CAD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PDF, Markdown, Text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0B5CAD"/>
                </a:solidFill>
                <a:latin typeface="Calibri" panose="020F0502020204030204"/>
              </a:rPr>
              <a:t>RTL Source Code</a:t>
            </a:r>
            <a:endParaRPr lang="en-US" sz="1400" b="1">
              <a:solidFill>
                <a:srgbClr val="0B5CAD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SystemVerilog / Verilog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0B5CAD"/>
                </a:solidFill>
                <a:latin typeface="Calibri" panose="020F0502020204030204"/>
              </a:rPr>
              <a:t>UVM Testbench</a:t>
            </a:r>
            <a:endParaRPr lang="en-US" sz="1400" b="1">
              <a:solidFill>
                <a:srgbClr val="0B5CAD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Classes, Sequences, SB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0B5CAD"/>
                </a:solidFill>
                <a:latin typeface="Calibri" panose="020F0502020204030204"/>
              </a:rPr>
              <a:t>Simulation Logs</a:t>
            </a:r>
            <a:endParaRPr lang="en-US" sz="1400" b="1">
              <a:solidFill>
                <a:srgbClr val="0B5CAD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VCS, Questa, Icarus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0B5CAD"/>
                </a:solidFill>
                <a:latin typeface="Calibri" panose="020F0502020204030204"/>
              </a:rPr>
              <a:t>Coverage Reports</a:t>
            </a:r>
            <a:endParaRPr lang="en-US" sz="1400" b="1">
              <a:solidFill>
                <a:srgbClr val="0B5CAD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UCDB / vDB text reports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0B5CAD"/>
                </a:solidFill>
                <a:latin typeface="Calibri" panose="020F0502020204030204"/>
              </a:rPr>
              <a:t>VCD Waveforms</a:t>
            </a:r>
            <a:endParaRPr lang="en-US" sz="1400" b="1">
              <a:solidFill>
                <a:srgbClr val="0B5CAD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Value Change Dump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0B5CAD"/>
                </a:solidFill>
                <a:latin typeface="Calibri" panose="020F0502020204030204"/>
              </a:rPr>
              <a:t>Gate Netlists</a:t>
            </a:r>
            <a:endParaRPr lang="en-US" sz="1400" b="1">
              <a:solidFill>
                <a:srgbClr val="0B5CAD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Yosys / Foundry gates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</p:txBody>
      </p:sp>
      <p:sp>
        <p:nvSpPr>
          <p:cNvPr id="12" name="Arrow inputs to A1"/>
          <p:cNvSpPr/>
          <p:nvPr/>
        </p:nvSpPr>
        <p:spPr>
          <a:xfrm>
            <a:off x="2852928" y="2542032"/>
            <a:ext cx="365760" cy="36576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13" name="Agent 1"/>
          <p:cNvSpPr/>
          <p:nvPr/>
        </p:nvSpPr>
        <p:spPr>
          <a:xfrm>
            <a:off x="3246120" y="155448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0A7EA4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lang="en-US" sz="1400" b="1">
                <a:solidFill>
                  <a:srgbClr val="0A7EA4"/>
                </a:solidFill>
                <a:latin typeface="Calibri" panose="020F0502020204030204"/>
              </a:rPr>
              <a:t>AGENT 1: KNOWLEDGE ENGINE</a:t>
            </a:r>
            <a:endParaRPr lang="en-US" sz="1400" b="1">
              <a:solidFill>
                <a:srgbClr val="0A7EA4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Multi-Modal AST Extraction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Port Map &amp; Interface Hierarchy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Tokenized Simulation Log Index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VCD Waveform Parser (pywellen)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5803D"/>
              </a:buClr>
              <a:buFont typeface="Arial" panose="020B0604020202020204"/>
              <a:buChar char="•"/>
            </a:pPr>
            <a:r>
              <a:rPr lang="en-US" sz="1200" b="1">
                <a:solidFill>
                  <a:srgbClr val="15803D"/>
                </a:solidFill>
                <a:latin typeface="Calibri" panose="020F0502020204030204"/>
              </a:rPr>
              <a:t>Outputs: Unified knowledge.json</a:t>
            </a:r>
            <a:endParaRPr lang="en-US" sz="1200" b="1">
              <a:solidFill>
                <a:srgbClr val="15803D"/>
              </a:solidFill>
              <a:latin typeface="Calibri" panose="020F0502020204030204"/>
            </a:endParaRPr>
          </a:p>
        </p:txBody>
      </p:sp>
      <p:sp>
        <p:nvSpPr>
          <p:cNvPr id="14" name="Arrow A1 to A2"/>
          <p:cNvSpPr/>
          <p:nvPr/>
        </p:nvSpPr>
        <p:spPr>
          <a:xfrm>
            <a:off x="4407408" y="3858768"/>
            <a:ext cx="329184" cy="237744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15" name="Agent 2"/>
          <p:cNvSpPr/>
          <p:nvPr/>
        </p:nvSpPr>
        <p:spPr>
          <a:xfrm>
            <a:off x="3246120" y="4114800"/>
            <a:ext cx="26517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7A2FD0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lang="en-US" sz="1500" b="1">
                <a:solidFill>
                  <a:srgbClr val="7A2FD0"/>
                </a:solidFill>
                <a:latin typeface="Calibri" panose="020F0502020204030204"/>
              </a:rPr>
              <a:t>AGENT 2: CLASSIFIER</a:t>
            </a:r>
            <a:endParaRPr lang="en-US" sz="1500" b="1">
              <a:solidFill>
                <a:srgbClr val="7A2FD0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9 Formal Decision Rules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Multi-Hop Evidence Graph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RTL Bug vs TB Bug vs Spec Bug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Bayesian Confidence Scoring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Alternative Hypothesis Review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5803D"/>
              </a:buClr>
              <a:buFont typeface="Arial" panose="020B0604020202020204"/>
              <a:buChar char="•"/>
            </a:pPr>
            <a:r>
              <a:rPr lang="en-US" sz="1200" b="1">
                <a:solidFill>
                  <a:srgbClr val="15803D"/>
                </a:solidFill>
                <a:latin typeface="Calibri" panose="020F0502020204030204"/>
              </a:rPr>
              <a:t>Outputs: summary.json</a:t>
            </a:r>
            <a:endParaRPr lang="en-US" sz="1200" b="1">
              <a:solidFill>
                <a:srgbClr val="15803D"/>
              </a:solidFill>
              <a:latin typeface="Calibri" panose="020F0502020204030204"/>
            </a:endParaRPr>
          </a:p>
        </p:txBody>
      </p:sp>
      <p:sp>
        <p:nvSpPr>
          <p:cNvPr id="16" name="Arrow A2 to A3"/>
          <p:cNvSpPr/>
          <p:nvPr/>
        </p:nvSpPr>
        <p:spPr>
          <a:xfrm>
            <a:off x="5916168" y="5029200"/>
            <a:ext cx="365760" cy="36576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17" name="Agent 3"/>
          <p:cNvSpPr/>
          <p:nvPr/>
        </p:nvSpPr>
        <p:spPr>
          <a:xfrm>
            <a:off x="6309360" y="1554480"/>
            <a:ext cx="27432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B45309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lang="en-US" sz="1500" b="1">
                <a:solidFill>
                  <a:srgbClr val="B45309"/>
                </a:solidFill>
                <a:latin typeface="Calibri" panose="020F0502020204030204"/>
              </a:rPr>
              <a:t>AGENT 3: RTL ANALYZER</a:t>
            </a:r>
            <a:endParaRPr lang="en-US" sz="1500" b="1">
              <a:solidFill>
                <a:srgbClr val="B4530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B45309"/>
                </a:solidFill>
                <a:latin typeface="Calibri" panose="020F0502020204030204"/>
              </a:rPr>
              <a:t>1. X-Tracer</a:t>
            </a:r>
            <a:endParaRPr lang="en-US" sz="1400" b="1">
              <a:solidFill>
                <a:srgbClr val="B45309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Backward VCD Netlist Tracing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B45309"/>
                </a:solidFill>
                <a:latin typeface="Calibri" panose="020F0502020204030204"/>
              </a:rPr>
              <a:t>2. Functional</a:t>
            </a:r>
            <a:endParaRPr lang="en-US" sz="1400" b="1">
              <a:solidFill>
                <a:srgbClr val="B45309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Spec vs RTL Math Discrepancy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B45309"/>
                </a:solidFill>
                <a:latin typeface="Calibri" panose="020F0502020204030204"/>
              </a:rPr>
              <a:t>3. CDC Engine</a:t>
            </a:r>
            <a:endParaRPr lang="en-US" sz="1400" b="1">
              <a:solidFill>
                <a:srgbClr val="B45309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Async Clock &amp; Metastability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B45309"/>
                </a:solidFill>
                <a:latin typeface="Calibri" panose="020F0502020204030204"/>
              </a:rPr>
              <a:t>4. AST Lint</a:t>
            </a:r>
            <a:endParaRPr lang="en-US" sz="1400" b="1">
              <a:solidFill>
                <a:srgbClr val="B45309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Loops, Latches, Unassigned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B45309"/>
                </a:solidFill>
                <a:latin typeface="Calibri" panose="020F0502020204030204"/>
              </a:rPr>
              <a:t>5. Structural</a:t>
            </a:r>
            <a:endParaRPr lang="en-US" sz="1400" b="1">
              <a:solidFill>
                <a:srgbClr val="B45309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FSM Deadlock &amp; State Graph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B45309"/>
                </a:solidFill>
                <a:latin typeface="Calibri" panose="020F0502020204030204"/>
              </a:rPr>
              <a:t>6. Protocol</a:t>
            </a:r>
            <a:endParaRPr lang="en-US" sz="1400" b="1">
              <a:solidFill>
                <a:srgbClr val="B45309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AXI/AHB/APB Handshaking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  <a:p>
            <a:pPr algn="l"/>
            <a:r>
              <a:rPr lang="en-US" sz="1400" b="1">
                <a:solidFill>
                  <a:srgbClr val="B45309"/>
                </a:solidFill>
                <a:latin typeface="Calibri" panose="020F0502020204030204"/>
              </a:rPr>
              <a:t>7. Misc Timing</a:t>
            </a:r>
            <a:endParaRPr lang="en-US" sz="1400" b="1">
              <a:solidFill>
                <a:srgbClr val="B45309"/>
              </a:solidFill>
              <a:latin typeface="Calibri" panose="020F0502020204030204"/>
            </a:endParaRPr>
          </a:p>
          <a:p>
            <a:pPr algn="l">
              <a:spcAft>
                <a:spcPts val="500"/>
              </a:spcAft>
            </a:pPr>
            <a:r>
              <a:rPr lang="en-US" sz="1200">
                <a:solidFill>
                  <a:srgbClr val="475569"/>
                </a:solidFill>
                <a:latin typeface="Calibri" panose="020F0502020204030204"/>
              </a:rPr>
              <a:t>Races &amp; Reset Sequencing</a:t>
            </a:r>
            <a:endParaRPr lang="en-US" sz="1200">
              <a:solidFill>
                <a:srgbClr val="475569"/>
              </a:solidFill>
              <a:latin typeface="Calibri" panose="020F0502020204030204"/>
            </a:endParaRPr>
          </a:p>
        </p:txBody>
      </p:sp>
      <p:sp>
        <p:nvSpPr>
          <p:cNvPr id="18" name="Arrow A3 to A4"/>
          <p:cNvSpPr/>
          <p:nvPr/>
        </p:nvSpPr>
        <p:spPr>
          <a:xfrm>
            <a:off x="9070848" y="2542032"/>
            <a:ext cx="365760" cy="36576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19" name="Agent 4"/>
          <p:cNvSpPr/>
          <p:nvPr/>
        </p:nvSpPr>
        <p:spPr>
          <a:xfrm>
            <a:off x="9464040" y="1554480"/>
            <a:ext cx="226771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15803D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lang="en-US" sz="1500" b="1">
                <a:solidFill>
                  <a:srgbClr val="15803D"/>
                </a:solidFill>
                <a:latin typeface="Calibri" panose="020F0502020204030204"/>
              </a:rPr>
              <a:t>AGENT 4: REPORTER</a:t>
            </a:r>
            <a:endParaRPr lang="en-US" sz="1500" b="1">
              <a:solidFill>
                <a:srgbClr val="15803D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Interactive report.html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Waveform Studio Integration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Detailed report.md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Schema error.json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Executive summary.txt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ChromaDB Session Archive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</p:txBody>
      </p:sp>
      <p:sp>
        <p:nvSpPr>
          <p:cNvPr id="20" name="Agent 5"/>
          <p:cNvSpPr/>
          <p:nvPr/>
        </p:nvSpPr>
        <p:spPr>
          <a:xfrm>
            <a:off x="9464040" y="4114800"/>
            <a:ext cx="2267712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C81E3C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lang="en-US" sz="1400" b="1">
                <a:solidFill>
                  <a:srgbClr val="C81E3C"/>
                </a:solidFill>
                <a:latin typeface="Calibri" panose="020F0502020204030204"/>
              </a:rPr>
              <a:t>AGENT 5: FIX GENERATOR</a:t>
            </a:r>
            <a:endParaRPr lang="en-US" sz="1400" b="1">
              <a:solidFill>
                <a:srgbClr val="C81E3C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Minimal Code Region Fix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Strict Non-Hallucination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Unified proposed.patch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Sandbox Syntax Validation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B2A41"/>
              </a:buClr>
              <a:buFont typeface="Arial" panose="020B0604020202020204"/>
              <a:buChar char="•"/>
            </a:pPr>
            <a:r>
              <a:rPr lang="en-US" sz="1200">
                <a:solidFill>
                  <a:srgbClr val="1B2A41"/>
                </a:solidFill>
                <a:latin typeface="Calibri" panose="020F0502020204030204"/>
              </a:rPr>
              <a:t>Testbench Regression Run</a:t>
            </a:r>
            <a:endParaRPr lang="en-US" sz="1200">
              <a:solidFill>
                <a:srgbClr val="1B2A41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15803D"/>
              </a:buClr>
              <a:buFont typeface="Arial" panose="020B0604020202020204"/>
              <a:buChar char="•"/>
            </a:pPr>
            <a:r>
              <a:rPr lang="en-US" sz="1200" b="1">
                <a:solidFill>
                  <a:srgbClr val="15803D"/>
                </a:solidFill>
                <a:latin typeface="Calibri" panose="020F0502020204030204"/>
              </a:rPr>
              <a:t>Zero-Error Signoff Check</a:t>
            </a:r>
            <a:endParaRPr lang="en-US" sz="1200" b="1">
              <a:solidFill>
                <a:srgbClr val="15803D"/>
              </a:solidFill>
              <a:latin typeface="Calibri" panose="020F0502020204030204"/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2" grpId="0" bldLvl="0" animBg="1"/>
      <p:bldP spid="13" grpId="0" bldLvl="0" animBg="1"/>
      <p:bldP spid="14" grpId="0" bldLvl="0" animBg="1"/>
      <p:bldP spid="15" grpId="0" bldLvl="0" animBg="1"/>
      <p:bldP spid="16" grpId="0" bldLvl="0" animBg="1"/>
      <p:bldP spid="17" grpId="0" bldLvl="0" animBg="1"/>
      <p:bldP spid="18" grpId="0" bldLvl="0" animBg="1"/>
      <p:bldP spid="19" grpId="0" bldLvl="0" animBg="1"/>
      <p:bldP spid="20" grpId="0" bldLvl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AGENT SPECIALIZATION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5: Architecture Components — Specialized Multi-Agent Breakdown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4D32"/>
                </a:solidFill>
              </a:rPr>
              <a:t>Agent 1: Knowledge Engine
</a:t>
            </a:r>
          </a:p>
          <a:p>
            <a:r>
              <a:rPr sz="1000">
                <a:solidFill>
                  <a:srgbClr val="334155"/>
                </a:solidFill>
              </a:rPr>
              <a:t>• Multi-Modal AST Extraction with pyslang
• Port Map, Interfaces &amp; Clock Domain Hierarchy
• Tokenized Simulation Log Error Signatures
• Waveform parser (pywellen) -&gt; knowledge.json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508760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84C7"/>
                </a:solidFill>
              </a:rPr>
              <a:t>Agent 2: Root Cause Classifier
</a:t>
            </a:r>
          </a:p>
          <a:p>
            <a:r>
              <a:rPr sz="1000">
                <a:solidFill>
                  <a:srgbClr val="334155"/>
                </a:solidFill>
              </a:rPr>
              <a:t>• 9 Formal Deterministic Decision Rules
• Multi-Hop Evidence Graph Construction
• RTL Bug vs TB Bug vs Spec Bug vs Unknown
• Bayesian Confidence Scoring -&gt; summary.json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08760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97706"/>
                </a:solidFill>
              </a:rPr>
              <a:t>Agent 3: RTL Root Cause Analyzer
</a:t>
            </a:r>
          </a:p>
          <a:p>
            <a:r>
              <a:rPr sz="1000">
                <a:solidFill>
                  <a:srgbClr val="334155"/>
                </a:solidFill>
              </a:rPr>
              <a:t>• Static Reset-Less Register Scan via pyslang
• WaveTrace Backward Fan-In Cone Traversal
• Multi-Clock CDC Hazard &amp; FSM Deadlock Check
• Deterministic Evidence -&gt; rtl_analysis.json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799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4D32"/>
                </a:solidFill>
              </a:rPr>
              <a:t>Agent 4: Interactive Reporter
</a:t>
            </a:r>
          </a:p>
          <a:p>
            <a:r>
              <a:rPr sz="1000">
                <a:solidFill>
                  <a:srgbClr val="334155"/>
                </a:solidFill>
              </a:rPr>
              <a:t>• High-Performance FastAPI Asynchronous Server
• Interactive HTML Cockpit (`report.html`)
• Sub-Cycle Waveform Cursor Correlation
• Machine-Readable Schemas (`error.json`)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977639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114799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333EA"/>
                </a:solidFill>
              </a:rPr>
              <a:t>Agent 5: Fix Generator &amp; Sandbox
</a:t>
            </a:r>
          </a:p>
          <a:p>
            <a:r>
              <a:rPr sz="1000">
                <a:solidFill>
                  <a:srgbClr val="334155"/>
                </a:solidFill>
              </a:rPr>
              <a:t>• Synthesizes Minimal Surgical Git Diff Patches
• pyslang AST Syntax Pre-Check Before Write
• Isolated Compilation Sandbox (`/tmp`)
• Regression Re-Simulation Sign-Off Verification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>
                                          <p:tgtEl>
                                            <p:spTgt spid="9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>
                                          <p:tgtEl>
                                            <p:spTgt spid="10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>
                                          <p:tgtEl>
                                            <p:spTgt spid="11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>
                                          <p:tgtEl>
                                            <p:spTgt spid="12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>
                                          <p:tgtEl>
                                            <p:spTgt spid="13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  <p:bldP spid="10" grpId="0" bldLvl="0" animBg="1"/>
      <p:bldP spid="11" grpId="0" bldLvl="0" animBg="1"/>
      <p:bldP spid="12" grpId="0" bldLvl="0" animBg="1"/>
      <p:bldP spid="13" grpId="0" bldLvl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MATHEMATICAL GROUNDING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5 (Cont.): The 9 Formal Decision Rules &amp; X-Tracer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2179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0B4D32"/>
                </a:solidFill>
              </a:rPr>
              <a:t>The 9 Formal Decision Rules (Zero-Hallucination)
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1 (Scoreboard Mismatch): </a:t>
            </a:r>
            <a:r>
              <a:rPr sz="900">
                <a:solidFill>
                  <a:srgbClr val="334155"/>
                </a:solidFill>
              </a:rPr>
              <a:t>DUT payload differs from golden reference -&gt; Isolates computation vs. routing.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2 (X-Propagation): </a:t>
            </a:r>
            <a:r>
              <a:rPr sz="900">
                <a:solidFill>
                  <a:srgbClr val="334155"/>
                </a:solidFill>
              </a:rPr>
              <a:t>Unknown logic state (X) at output -&gt; Traces back-fanin to uninitialized flop.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3 (Protocol Violation): </a:t>
            </a:r>
            <a:r>
              <a:rPr sz="900">
                <a:solidFill>
                  <a:srgbClr val="334155"/>
                </a:solidFill>
              </a:rPr>
              <a:t>SVA handshake assertion trips -&gt; Checks grant latency, ready/valid backpressure.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4 (Timing / Clock Glitch): </a:t>
            </a:r>
            <a:r>
              <a:rPr sz="900">
                <a:solidFill>
                  <a:srgbClr val="334155"/>
                </a:solidFill>
              </a:rPr>
              <a:t>Setup/hold race condition or missing 2-FF synchronizer across CDC boundary.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5 (Testbench Driver Hang): </a:t>
            </a:r>
            <a:r>
              <a:rPr sz="900">
                <a:solidFill>
                  <a:srgbClr val="334155"/>
                </a:solidFill>
              </a:rPr>
              <a:t>UVM driver finishes sequence without dropping objection or hangs in loop.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6 (Memory / Buffer Hazard): </a:t>
            </a:r>
            <a:r>
              <a:rPr sz="900">
                <a:solidFill>
                  <a:srgbClr val="334155"/>
                </a:solidFill>
              </a:rPr>
              <a:t>Read-after-write hazard, FIFO overflow/underflow flag bug, or pointer wrap glitch.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7 (Lint / Synthesizability): </a:t>
            </a:r>
            <a:r>
              <a:rPr sz="900">
                <a:solidFill>
                  <a:srgbClr val="334155"/>
                </a:solidFill>
              </a:rPr>
              <a:t>Unintended inferred latch or truncated bus width detected in AST.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8 (Simulation Timeout): </a:t>
            </a:r>
            <a:r>
              <a:rPr sz="900">
                <a:solidFill>
                  <a:srgbClr val="334155"/>
                </a:solidFill>
              </a:rPr>
              <a:t>Infinite loop or cyclic combinational dependency stalling simulation clock.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Rule 9 (Environment Mismatch): </a:t>
            </a:r>
            <a:r>
              <a:rPr sz="900">
                <a:solidFill>
                  <a:srgbClr val="334155"/>
                </a:solidFill>
              </a:rPr>
              <a:t>Missing compiler include path, macro define, or simulator tool flag.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371600"/>
            <a:ext cx="42976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5087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0284C7"/>
                </a:solidFill>
              </a:rPr>
              <a:t>The pyslang X-Tracer DAG Algorithm
</a:t>
            </a:r>
          </a:p>
          <a:p>
            <a:r>
              <a:rPr b="1" sz="1050">
                <a:solidFill>
                  <a:srgbClr val="0F172A"/>
                </a:solidFill>
              </a:rPr>
              <a:t>Step 1. AST Parse &amp; Elaborate
</a:t>
            </a:r>
            <a:r>
              <a:rPr sz="950">
                <a:solidFill>
                  <a:srgbClr val="334155"/>
                </a:solidFill>
              </a:rPr>
              <a:t>pyslang (Slang SystemVerilog frontend) parses the RTL into a real elaborated AST — always_ff / assign / reset logic, with types and source locations.
</a:t>
            </a:r>
          </a:p>
          <a:p>
            <a:r>
              <a:rPr b="1" sz="1050">
                <a:solidFill>
                  <a:srgbClr val="0F172A"/>
                </a:solidFill>
              </a:rPr>
              <a:t>Step 2. Static X-Origin Scan
</a:t>
            </a:r>
            <a:r>
              <a:rPr sz="950">
                <a:solidFill>
                  <a:srgbClr val="334155"/>
                </a:solidFill>
              </a:rPr>
              <a:t>Flags sequential registers written in clock block but not assigned in reset branch (candidate X origins) — source-only, zero-sim overhead.
</a:t>
            </a:r>
          </a:p>
          <a:p>
            <a:r>
              <a:rPr b="1" sz="1050">
                <a:solidFill>
                  <a:srgbClr val="0F172A"/>
                </a:solidFill>
              </a:rPr>
              <a:t>Step 3. Temporal VCD Slicing
</a:t>
            </a:r>
            <a:r>
              <a:rPr sz="950">
                <a:solidFill>
                  <a:srgbClr val="334155"/>
                </a:solidFill>
              </a:rPr>
              <a:t>Identifies exact simulation cycle T_fail where a failing signal transitions to 4-state X/Z.
</a:t>
            </a:r>
          </a:p>
          <a:p>
            <a:r>
              <a:rPr b="1" sz="1050">
                <a:solidFill>
                  <a:srgbClr val="0F172A"/>
                </a:solidFill>
              </a:rPr>
              <a:t>Step 4. Backward Cone Traversal
</a:t>
            </a:r>
            <a:r>
              <a:rPr sz="950">
                <a:solidFill>
                  <a:srgbClr val="334155"/>
                </a:solidFill>
              </a:rPr>
              <a:t>WaveTrace recursively traverses driving inputs at cycle T_fail - 1 through logic netlist to isolate origin flop.
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TECHNOLOGY STACK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6: Tools &amp; Models Used — Multi-Provider Stack &amp; EDA Ecosystem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0B4D32"/>
                </a:solidFill>
              </a:rPr>
              <a:t>Cognitive &amp; AI Models
</a:t>
            </a:r>
          </a:p>
          <a:p>
            <a:r>
              <a:rPr sz="1000">
                <a:solidFill>
                  <a:srgbClr val="334155"/>
                </a:solidFill>
              </a:rPr>
              <a:t>• Multi-Provider Cloud LLMs:
  - Google Gemini 2.5 Flash
  - Anthropic Claude 3.5 Sonnet
  - OpenAI GPT-4o
• Sovereign Air-Gapped Mode:
  - Local Ollama &amp; vLLM
  - DeepSeek-Coder-V2 (16B/33B)
  - Llama-3-70B-Instruct
• ChromaDB Vector Store:
  - 11 persistent collections
  - Semantic AST chunking &amp; retrieval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0284C7"/>
                </a:solidFill>
              </a:rPr>
              <a:t>EDA Simulators &amp; Compilers
</a:t>
            </a:r>
          </a:p>
          <a:p>
            <a:r>
              <a:rPr sz="1000">
                <a:solidFill>
                  <a:srgbClr val="334155"/>
                </a:solidFill>
              </a:rPr>
              <a:t>• Synopsys VCS:
  - Native testbench &amp; UVM 1.2
  - vDB functional coverage
• Siemens QuestaSim:
  - UCDB functional coverage database
• Cadence Xcelium:
  - Parallel multi-core compile
• Verilator (C++):
  - Cycle-accurate open-source sim
• Icarus Verilog (iverilog):
  - Open-source zero-license triage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D97706"/>
                </a:solidFill>
              </a:rPr>
              <a:t>Infrastructure &amp; Web Studio
</a:t>
            </a:r>
          </a:p>
          <a:p>
            <a:r>
              <a:rPr sz="1000">
                <a:solidFill>
                  <a:srgbClr val="334155"/>
                </a:solidFill>
              </a:rPr>
              <a:t>• pyslang / Slang Frontend:
  - IEEE-1800 SystemVerilog frontend
  - AST elaboration &amp; diagnostics
• FastAPI Asynchronous Server:
  - Sub-millisecond latency REST API
  - Bi-directional WebSockets bridge
• Modern Vanilla Web Studio:
  - Live Coverage Cockpit
  - Waveform Studio &amp; RCA Inspector
• Docker Containerization:
  - 1-click reproducible sandbox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>
                                          <p:tgtEl>
                                            <p:spTgt spid="9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VALIDATION BENCHMARKS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7: Experiments Conducted — Rigorous Industrial Testbeds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0876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4D32"/>
                </a:solidFill>
              </a:rPr>
              <a:t>Arithmetic Logic Unit (ALU)
</a:t>
            </a:r>
          </a:p>
          <a:p>
            <a:r>
              <a:rPr sz="950">
                <a:solidFill>
                  <a:srgbClr val="334155"/>
                </a:solidFill>
              </a:rPr>
              <a:t>• Complex combinational &amp; sequential compute engine
• 8 mathematical/logical opcodes, signed/unsigned flags
• Injected Bugs: Subtraction borrow bit inversion, shift-by-zero boundary, missing reset state
🎯 Result: 100% bugs isolated, 14.2s avg RCA, 100% verified patches, zero regression.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0876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84C7"/>
                </a:solidFill>
              </a:rPr>
              <a:t>Synchronous &amp; Asynchronous FIFO
</a:t>
            </a:r>
          </a:p>
          <a:p>
            <a:r>
              <a:rPr sz="950">
                <a:solidFill>
                  <a:srgbClr val="334155"/>
                </a:solidFill>
              </a:rPr>
              <a:t>• Multi-clock circular buffer with 2-FF pointer synchronizers
• Injected Bugs: Full flag assertion off-by-one, write pointer wrap glitch, read-on-empty underflow
• Edge Conditions: Concurrent read/write at full threshold
🎯 Result: Pinpointed off-by-one counter bug, synthesized surgical fix, verified in 15.1s.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776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97706"/>
                </a:solidFill>
              </a:rPr>
              <a:t>AMBA AXI4-Stream Interface
</a:t>
            </a:r>
          </a:p>
          <a:p>
            <a:r>
              <a:rPr sz="950">
                <a:solidFill>
                  <a:srgbClr val="334155"/>
                </a:solidFill>
              </a:rPr>
              <a:t>• High-throughput decoupled streaming interface with handshakes
• Injected Bugs: TVALID deassertion before TREADY acknowledged, premature TLAST framing pulse
• Protocol Checks: Ready/valid handshake latency and backpressure
🎯 Result: Caught protocol violation, generated formal SVA assertion, verified in 13.8s.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9776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333EA"/>
                </a:solidFill>
              </a:rPr>
              <a:t>RISC-V RV32I Processor Pipeline
</a:t>
            </a:r>
          </a:p>
          <a:p>
            <a:r>
              <a:rPr sz="950">
                <a:solidFill>
                  <a:srgbClr val="334155"/>
                </a:solidFill>
              </a:rPr>
              <a:t>• 5-stage pipelined integer instruction execution unit
• Injected Bugs: RAW hazard forwarding bypass stall missing, branch misprediction flush delay
• Hazard Detection: Inter-instruction data dependencies
🎯 Result: Traced stale register value, verified pipeline hazard patch in 18.4s.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>
                                          <p:tgtEl>
                                            <p:spTgt spid="9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>
                                          <p:tgtEl>
                                            <p:spTgt spid="10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>
                                          <p:tgtEl>
                                            <p:spTgt spid="11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  <p:bldP spid="10" grpId="0" bldLvl="0" animBg="1"/>
      <p:bldP spid="11" grpId="0" bldLvl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PERFORMANCE METRICS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8: Results &amp; Comparison — AI Acceleration vs. Manual Effort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172A"/>
                </a:solidFill>
              </a:rPr>
              <a:t>Comprehensive Benchmark: Manual Human Engineer vs. VeriSight Autonomous Copilot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91640"/>
          <a:ext cx="106984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2743200"/>
                <a:gridCol w="2286000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Metric / Verification Task</a:t>
                      </a:r>
                    </a:p>
                  </a:txBody>
                  <a:tcPr>
                    <a:solidFill>
                      <a:srgbClr val="0B4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Industry Manual Baseline</a:t>
                      </a:r>
                    </a:p>
                  </a:txBody>
                  <a:tcPr>
                    <a:solidFill>
                      <a:srgbClr val="0B4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VeriSight Autonomous Copilot</a:t>
                      </a:r>
                    </a:p>
                  </a:txBody>
                  <a:tcPr>
                    <a:solidFill>
                      <a:srgbClr val="0B4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Impact / Acceleration</a:t>
                      </a:r>
                    </a:p>
                  </a:txBody>
                  <a:tcPr>
                    <a:solidFill>
                      <a:srgbClr val="0B4D3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Simulation Failure Triage &amp; RCA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4 to 6 Hours per failure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4D32"/>
                          </a:solidFill>
                          <a:latin typeface="Arial"/>
                        </a:defRPr>
                      </a:pPr>
                      <a:r>
                        <a:t>14.8 Seconds (Average)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99.3% Time Reduction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Verification Plan Synthesis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 to 3 Weeks (Manual spec review)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4D32"/>
                          </a:solidFill>
                          <a:latin typeface="Arial"/>
                        </a:defRPr>
                      </a:pPr>
                      <a:r>
                        <a:t>18.2 Seconds (Full Plan + SVA)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100x Speedup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Root Cause Classification Accuracy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78% (First-attempt human)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4D32"/>
                          </a:solidFill>
                          <a:latin typeface="Arial"/>
                        </a:defRPr>
                      </a:pPr>
                      <a:r>
                        <a:t>95.4% (Multi-agent consensus)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+17.4% Accuracy Gain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Coverage Hole Closure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 to 8 Weeks (Random iterations)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4D32"/>
                          </a:solidFill>
                          <a:latin typeface="Arial"/>
                        </a:defRPr>
                      </a:pPr>
                      <a:r>
                        <a:t>4 Days (AI directed stimulus)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10x Faster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Patch Generation &amp; Sandbox Test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 to 2 Days (Code, lint, re-sim)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4D32"/>
                          </a:solidFill>
                          <a:latin typeface="Arial"/>
                        </a:defRPr>
                      </a:pPr>
                      <a:r>
                        <a:t>3.2 Seconds (Zero-touch git patch)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Instant Self-Healing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Escaped Silicon Defect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28% of chips require re-spins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4D32"/>
                          </a:solidFill>
                          <a:latin typeface="Arial"/>
                        </a:defRPr>
                      </a:pPr>
                      <a:r>
                        <a:t>&lt;2% with formal SVA + trace checks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284C7"/>
                          </a:solidFill>
                          <a:latin typeface="Arial"/>
                        </a:defRPr>
                      </a:pPr>
                      <a:r>
                        <a:t>Eliminates $20M+ Re-spins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ldLvl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FINANCIAL MODEL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8 (Cont.): Economic Impact &amp; Enterprise Return on Investment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Annual Engineering Savings
</a:t>
            </a:r>
          </a:p>
          <a:p>
            <a:r>
              <a:rPr sz="2100" b="1">
                <a:solidFill>
                  <a:srgbClr val="0B4D32"/>
                </a:solidFill>
              </a:rPr>
              <a:t>$1.8 Million / Year
</a:t>
            </a:r>
          </a:p>
          <a:p>
            <a:r>
              <a:rPr sz="1000">
                <a:solidFill>
                  <a:srgbClr val="334155"/>
                </a:solidFill>
              </a:rPr>
              <a:t>• Direct engineering time savings for a mid-sized SoC design team (25 verification engineers).
• Eliminates 8,000+ hours of manual log parsing and waveform debugging per project.
• Senior engineers redirect focus from rote triage to high-value architectural verification.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Re-Spin Prevention Value
</a:t>
            </a:r>
          </a:p>
          <a:p>
            <a:r>
              <a:rPr sz="2100" b="1">
                <a:solidFill>
                  <a:srgbClr val="0284C7"/>
                </a:solidFill>
              </a:rPr>
              <a:t>$20 Million+ Insurance
</a:t>
            </a:r>
          </a:p>
          <a:p>
            <a:r>
              <a:rPr sz="1000">
                <a:solidFill>
                  <a:srgbClr val="334155"/>
                </a:solidFill>
              </a:rPr>
              <a:t>• A single escaped functional bug at 3nm/5nm process nodes costs $15M to $30M+ in mask re-spins.
• VeriSight eliminates 3-6 months of foundry re-spin delay.
• Formal SVA assertion generation guarantees first-pass silicon bug interception.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Accelerated Time-to-Market
</a:t>
            </a:r>
          </a:p>
          <a:p>
            <a:r>
              <a:rPr sz="2100" b="1">
                <a:solidFill>
                  <a:srgbClr val="D97706"/>
                </a:solidFill>
              </a:rPr>
              <a:t>6 to 10 Weeks Faster
</a:t>
            </a:r>
          </a:p>
          <a:p>
            <a:r>
              <a:rPr sz="1000">
                <a:solidFill>
                  <a:srgbClr val="334155"/>
                </a:solidFill>
              </a:rPr>
              <a:t>• Accelerates verification closure schedule by over 40%.
• Unlocks tens of millions in first-mover commercial advantage.
• Nightly regression triage catches bugs within hours of RTL check-in.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>
                                          <p:tgtEl>
                                            <p:spTgt spid="9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PLATFORM CAPABILITIES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9: Dashboard Overview — The 6 Autonomous Workflows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486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Complete Suite: 6 Autonomous Workflows
</a:t>
            </a:r>
          </a:p>
          <a:p>
            <a:r>
              <a:rPr b="1" sz="1000">
                <a:solidFill>
                  <a:srgbClr val="0F172A"/>
                </a:solidFill>
              </a:rPr>
              <a:t>• [1] VeriSight Debug: </a:t>
            </a:r>
            <a:r>
              <a:rPr sz="950">
                <a:solidFill>
                  <a:srgbClr val="334155"/>
                </a:solidFill>
              </a:rPr>
              <a:t>Root-cause analysis, 9-rule triage, pyslang AST trace, and automated patch synthesis.
</a:t>
            </a:r>
          </a:p>
          <a:p>
            <a:r>
              <a:rPr b="1" sz="1000">
                <a:solidFill>
                  <a:srgbClr val="0F172A"/>
                </a:solidFill>
              </a:rPr>
              <a:t>• [2] VeriSight Plan: </a:t>
            </a:r>
            <a:r>
              <a:rPr sz="950">
                <a:solidFill>
                  <a:srgbClr val="334155"/>
                </a:solidFill>
              </a:rPr>
              <a:t>Extracts features, test matrices, covergroups, and SVA assertions directly from specs.
</a:t>
            </a:r>
          </a:p>
          <a:p>
            <a:r>
              <a:rPr b="1" sz="1000">
                <a:solidFill>
                  <a:srgbClr val="0F172A"/>
                </a:solidFill>
              </a:rPr>
              <a:t>• [3] Closed-Loop Sim: </a:t>
            </a:r>
            <a:r>
              <a:rPr sz="950">
                <a:solidFill>
                  <a:srgbClr val="334155"/>
                </a:solidFill>
              </a:rPr>
              <a:t>Zero-touch runner (iverilog/verilator/vcs) with error interception and auto-triage.
</a:t>
            </a:r>
          </a:p>
          <a:p>
            <a:r>
              <a:rPr b="1" sz="1000">
                <a:solidFill>
                  <a:srgbClr val="0F172A"/>
                </a:solidFill>
              </a:rPr>
              <a:t>• [4] Live Web Cockpit: </a:t>
            </a:r>
            <a:r>
              <a:rPr sz="950">
                <a:solidFill>
                  <a:srgbClr val="334155"/>
                </a:solidFill>
              </a:rPr>
              <a:t>Interactive browser GUI with Live Coverage Cockpit, Waveform Studio &amp; RCA Inspector.
</a:t>
            </a:r>
          </a:p>
          <a:p>
            <a:r>
              <a:rPr b="1" sz="1000">
                <a:solidFill>
                  <a:srgbClr val="0F172A"/>
                </a:solidFill>
              </a:rPr>
              <a:t>• [5] Quick Demos: </a:t>
            </a:r>
            <a:r>
              <a:rPr sz="950">
                <a:solidFill>
                  <a:srgbClr val="334155"/>
                </a:solidFill>
              </a:rPr>
              <a:t>1-click instant evaluations on pre-packaged ALU, FIFO, and AXI4-Stream testbeds.
</a:t>
            </a:r>
          </a:p>
          <a:p>
            <a:r>
              <a:rPr b="1" sz="1000">
                <a:solidFill>
                  <a:srgbClr val="0F172A"/>
                </a:solidFill>
              </a:rPr>
              <a:t>• [6] Advanced CLI Exit: </a:t>
            </a:r>
            <a:r>
              <a:rPr sz="950">
                <a:solidFill>
                  <a:srgbClr val="334155"/>
                </a:solidFill>
              </a:rPr>
              <a:t>Headless scriptable invocation for nightly CI/CD regression farms and pipelines.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if_01_multi_agent_workflow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08760"/>
            <a:ext cx="4846320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532120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64748B"/>
                </a:solidFill>
              </a:rPr>
              <a:t>Animated Multi-Stage Autonomous Execution Pipeline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COVERAGE CLOSURE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9 (Cont.): Live Coverage Cockpit — Planned vs. Actual UCDB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f_02_coverage_closur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08760"/>
            <a:ext cx="48463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532120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64748B"/>
                </a:solidFill>
              </a:rPr>
              <a:t>Animated Dynamic Coverage Closure Progression (42% -&gt; 100%)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486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50876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Dynamic Coverage Cockpit &amp; Planner Features
</a:t>
            </a:r>
          </a:p>
          <a:p>
            <a:r>
              <a:rPr b="1" sz="1050">
                <a:solidFill>
                  <a:srgbClr val="0F172A"/>
                </a:solidFill>
              </a:rPr>
              <a:t>• Ingests Live Simulator UCDB / vDB: </a:t>
            </a:r>
            <a:r>
              <a:rPr sz="1000">
                <a:solidFill>
                  <a:srgbClr val="334155"/>
                </a:solidFill>
              </a:rPr>
              <a:t>Parses Synopsys vDB and Questa UCDB databases to compare actual coverage against planned features in real-time.
</a:t>
            </a:r>
          </a:p>
          <a:p>
            <a:r>
              <a:rPr b="1" sz="1050">
                <a:solidFill>
                  <a:srgbClr val="0F172A"/>
                </a:solidFill>
              </a:rPr>
              <a:t>• Visual Progress by Feature: </a:t>
            </a:r>
            <a:r>
              <a:rPr sz="1000">
                <a:solidFill>
                  <a:srgbClr val="334155"/>
                </a:solidFill>
              </a:rPr>
              <a:t>Every architectural feature has a dedicated progress bar showing percentage hit vs 100% target.
</a:t>
            </a:r>
          </a:p>
          <a:p>
            <a:r>
              <a:rPr b="1" sz="1050">
                <a:solidFill>
                  <a:srgbClr val="0F172A"/>
                </a:solidFill>
              </a:rPr>
              <a:t>• Red Highlighted Unhit Bins: </a:t>
            </a:r>
            <a:r>
              <a:rPr sz="1000">
                <a:solidFill>
                  <a:srgbClr val="334155"/>
                </a:solidFill>
              </a:rPr>
              <a:t>Zero-hit bins (e.g. rare FIFO backpressure corner cases) are highlighted in red with direct drill-down.
</a:t>
            </a:r>
          </a:p>
          <a:p>
            <a:r>
              <a:rPr b="1" sz="1050">
                <a:solidFill>
                  <a:srgbClr val="0F172A"/>
                </a:solidFill>
              </a:rPr>
              <a:t>• 1-Click AI Directed Stimulus: </a:t>
            </a:r>
            <a:r>
              <a:rPr sz="1000">
                <a:solidFill>
                  <a:srgbClr val="334155"/>
                </a:solidFill>
              </a:rPr>
              <a:t>Engineers click 'Generate Directed Sequence' to automatically synthesize constrained-random sequences targeting unhit bins.
</a:t>
            </a:r>
          </a:p>
          <a:p>
            <a:r>
              <a:rPr b="1" sz="1050">
                <a:solidFill>
                  <a:srgbClr val="0F172A"/>
                </a:solidFill>
              </a:rPr>
              <a:t>• ISO 26262 / DO-254 Compliance: </a:t>
            </a:r>
            <a:r>
              <a:rPr sz="1000">
                <a:solidFill>
                  <a:srgbClr val="334155"/>
                </a:solidFill>
              </a:rPr>
              <a:t>Automatically exports requirement-to-test bi-directional traceability matrix (traceability_matrix.csv).
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GUI DIAGNOSTIC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9 (Cont.): Root-Cause Studio &amp; Waveform Inspector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669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reenshot_12_rca_dashboard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08760"/>
            <a:ext cx="54864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5321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64748B"/>
                </a:solidFill>
              </a:rPr>
              <a:t>Interactive RCA Dashboard &amp; Waveform Studio with Cursor Synchronization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371600"/>
            <a:ext cx="48463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5087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Sub-Cycle Waveform Correlation Features
</a:t>
            </a:r>
          </a:p>
          <a:p>
            <a:r>
              <a:rPr b="1" sz="1050">
                <a:solidFill>
                  <a:srgbClr val="0F172A"/>
                </a:solidFill>
              </a:rPr>
              <a:t>• Unified Failure Timeline:
</a:t>
            </a:r>
            <a:r>
              <a:rPr sz="950">
                <a:solidFill>
                  <a:srgbClr val="334155"/>
                </a:solidFill>
              </a:rPr>
              <a:t>Correlates simulation log errors with exact physical clock edges and transaction markers.
</a:t>
            </a:r>
          </a:p>
          <a:p>
            <a:r>
              <a:rPr b="1" sz="1050">
                <a:solidFill>
                  <a:srgbClr val="0F172A"/>
                </a:solidFill>
              </a:rPr>
              <a:t>• Multi-Signal Bus Radix View:
</a:t>
            </a:r>
            <a:r>
              <a:rPr sz="950">
                <a:solidFill>
                  <a:srgbClr val="334155"/>
                </a:solidFill>
              </a:rPr>
              <a:t>Decodes binary, hexadecimal, and one-hot FSM states dynamically in browser canvas.
</a:t>
            </a:r>
          </a:p>
          <a:p>
            <a:r>
              <a:rPr b="1" sz="1050">
                <a:solidFill>
                  <a:srgbClr val="0F172A"/>
                </a:solidFill>
              </a:rPr>
              <a:t>• Failure Marker Cursor:
</a:t>
            </a:r>
            <a:r>
              <a:rPr sz="950">
                <a:solidFill>
                  <a:srgbClr val="334155"/>
                </a:solidFill>
              </a:rPr>
              <a:t>Automatically places inspection cursor at exact assertion trip timestamp (e.g. 450ns).
</a:t>
            </a:r>
          </a:p>
          <a:p>
            <a:r>
              <a:rPr b="1" sz="1050">
                <a:solidFill>
                  <a:srgbClr val="0F172A"/>
                </a:solidFill>
              </a:rPr>
              <a:t>• pyslang Fan-In Cone Tracing:
</a:t>
            </a:r>
            <a:r>
              <a:rPr sz="950">
                <a:solidFill>
                  <a:srgbClr val="334155"/>
                </a:solidFill>
              </a:rPr>
              <a:t>Cross-probes failing signals backward to active drivers, uninitialized registers, and clock boundaries.
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AUTOMATED REPAIR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9 (Cont.): Automated Unified Patching &amp; Sandbox Safety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669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reenshot_13_automated_p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08760"/>
            <a:ext cx="54864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5321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64748B"/>
                </a:solidFill>
              </a:rPr>
              <a:t>VeriSight Unified Git Diff Patch with Automated Sandbox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371600"/>
            <a:ext cx="48463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5087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The Zero-Touch Repair Loop
</a:t>
            </a:r>
          </a:p>
          <a:p>
            <a:r>
              <a:rPr b="1" sz="1050">
                <a:solidFill>
                  <a:srgbClr val="0F172A"/>
                </a:solidFill>
              </a:rPr>
              <a:t>1. Minimal Git Diff
</a:t>
            </a:r>
            <a:r>
              <a:rPr sz="950">
                <a:solidFill>
                  <a:srgbClr val="334155"/>
                </a:solidFill>
              </a:rPr>
              <a:t>Synthesizes surgical diff altering only the root-cause bug line without unintended side effects.
</a:t>
            </a:r>
          </a:p>
          <a:p>
            <a:r>
              <a:rPr b="1" sz="1050">
                <a:solidFill>
                  <a:srgbClr val="0F172A"/>
                </a:solidFill>
              </a:rPr>
              <a:t>2. AST Syntax Pre-Check
</a:t>
            </a:r>
            <a:r>
              <a:rPr sz="950">
                <a:solidFill>
                  <a:srgbClr val="334155"/>
                </a:solidFill>
              </a:rPr>
              <a:t>Parses modified HDL with pyslang (Slang frontend) to catch genuine syntax errors before saving — distinguishing syntax errors from missing macros.
</a:t>
            </a:r>
          </a:p>
          <a:p>
            <a:r>
              <a:rPr b="1" sz="1050">
                <a:solidFill>
                  <a:srgbClr val="0F172A"/>
                </a:solidFill>
              </a:rPr>
              <a:t>3. Isolated Sandbox Simulation
</a:t>
            </a:r>
            <a:r>
              <a:rPr sz="950">
                <a:solidFill>
                  <a:srgbClr val="334155"/>
                </a:solidFill>
              </a:rPr>
              <a:t>Copies patched design into /tmp sandbox and re-executes original simulation using the active EDA tool.
</a:t>
            </a:r>
          </a:p>
          <a:p>
            <a:r>
              <a:rPr b="1" sz="1050">
                <a:solidFill>
                  <a:srgbClr val="0F172A"/>
                </a:solidFill>
              </a:rPr>
              <a:t>4. Regression Clean Sign-Off
</a:t>
            </a:r>
            <a:r>
              <a:rPr sz="950">
                <a:solidFill>
                  <a:srgbClr val="334155"/>
                </a:solidFill>
              </a:rPr>
              <a:t>Confirms failing assertion is eliminated and all existing regression tests continue to pass.
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COST EFFICIENCY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10: Token Utilization Over Cost — Sovereign Economics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Cloud API Cost per Run
</a:t>
            </a:r>
          </a:p>
          <a:p>
            <a:r>
              <a:rPr sz="2100" b="1">
                <a:solidFill>
                  <a:srgbClr val="0B4D32"/>
                </a:solidFill>
              </a:rPr>
              <a:t>$0.02 - $0.05
</a:t>
            </a:r>
          </a:p>
          <a:p>
            <a:r>
              <a:rPr sz="1000">
                <a:solidFill>
                  <a:srgbClr val="334155"/>
                </a:solidFill>
              </a:rPr>
              <a:t>• Using Gemini 2.5 Flash or Claude 3.5 Sonnet: Average 12k tokens per complete debug run.
• An entire 1,000-test regression costs under $35 total.
• Over 99% cheaper than human engineer hourly rates ($75-$150/hr).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64592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Sovereign Offline Cost
</a:t>
            </a:r>
          </a:p>
          <a:p>
            <a:r>
              <a:rPr sz="2100" b="1">
                <a:solidFill>
                  <a:srgbClr val="0284C7"/>
                </a:solidFill>
              </a:rPr>
              <a:t>$0.00 Marginal Cost
</a:t>
            </a:r>
          </a:p>
          <a:p>
            <a:r>
              <a:rPr sz="1000">
                <a:solidFill>
                  <a:srgbClr val="334155"/>
                </a:solidFill>
              </a:rPr>
              <a:t>• Deployable on on-premise GPU servers using local Ollama or vLLM.
• Runs DeepSeek-Coder-V2 or Llama-3-70B with air-gapped zero external data transfer.
• Guarantees 100% silicon IP confidentiality and IT security compliance.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64592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AST Token Optimization
</a:t>
            </a:r>
          </a:p>
          <a:p>
            <a:r>
              <a:rPr sz="2100" b="1">
                <a:solidFill>
                  <a:srgbClr val="D97706"/>
                </a:solidFill>
              </a:rPr>
              <a:t>84% Token Reduction
</a:t>
            </a:r>
          </a:p>
          <a:p>
            <a:r>
              <a:rPr sz="1000">
                <a:solidFill>
                  <a:srgbClr val="334155"/>
                </a:solidFill>
              </a:rPr>
              <a:t>• pyslang AST pruning and targeted log slicing strip out 84% of irrelevant tokens before reaching LLM context.
• Feeds strictly relevant logic cone to context.
• Prevents prompt bloat and achieves sub-15s response latency.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>
                                          <p:tgtEl>
                                            <p:spTgt spid="9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STRATEGIC ADVANTAGE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11: Summary — The VeriSight Defensible Moat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0B4D32"/>
                </a:solidFill>
              </a:rPr>
              <a:t>Deep Domain Grounding
</a:t>
            </a:r>
          </a:p>
          <a:p>
            <a:r>
              <a:rPr sz="1000">
                <a:solidFill>
                  <a:srgbClr val="334155"/>
                </a:solidFill>
              </a:rPr>
              <a:t>• Not a generic LLM wrapper: Built on 9 formal decision rules, pyslang elaborated AST, and temporal waveform slicing.
• Truly understands 4-state simulation (X/Z), CDC synchronizers, and UVM TLM transactions.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0284C7"/>
                </a:solidFill>
              </a:rPr>
              <a:t>Air-Gapped Sovereign Security
</a:t>
            </a:r>
          </a:p>
          <a:p>
            <a:r>
              <a:rPr sz="1000">
                <a:solidFill>
                  <a:srgbClr val="334155"/>
                </a:solidFill>
              </a:rPr>
              <a:t>• Semiconductor IP never leaves customer premises when running sovereign local mode.
• Compatible with defense, aerospace, and high-security fabless semiconductor security policies.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D97706"/>
                </a:solidFill>
              </a:rPr>
              <a:t>Zero Vendor Lock-In
</a:t>
            </a:r>
          </a:p>
          <a:p>
            <a:r>
              <a:rPr sz="1000">
                <a:solidFill>
                  <a:srgbClr val="334155"/>
                </a:solidFill>
              </a:rPr>
              <a:t>• Seamless Day-1 abstraction layer sitting above Synopsys VCS, Siemens Questa, Cadence Xcelium, and Verilator.
• Drop-in integration into existing Makefiles, run scripts, and regression managers.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233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0B4D32"/>
                </a:solidFill>
              </a:rPr>
              <a:t>Massive Enterprise ROI
</a:t>
            </a:r>
          </a:p>
          <a:p>
            <a:r>
              <a:rPr sz="1000">
                <a:solidFill>
                  <a:srgbClr val="334155"/>
                </a:solidFill>
              </a:rPr>
              <a:t>• Reduces triage turnaround time from 4-6 hours to &lt;15 seconds (99.3% acceleration).
• Eliminates multi-million dollar physical mask re-spins and accelerates time-to-market by 6-10 weeks.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>
                                          <p:tgtEl>
                                            <p:spTgt spid="9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>
                                          <p:tgtEl>
                                            <p:spTgt spid="10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>
                                          <p:tgtEl>
                                            <p:spTgt spid="11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  <p:bldP spid="10" grpId="0" bldLvl="0" animBg="1"/>
      <p:bldP spid="11" grpId="0" bldLvl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PRODUCT ROADMAP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12: Future Scope — The Autonomous Silicon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4D32"/>
                </a:solidFill>
              </a:rPr>
              <a:t>Phase 1: Present (v2.4)
</a:t>
            </a:r>
          </a:p>
          <a:p>
            <a:r>
              <a:rPr sz="1100" b="1">
                <a:solidFill>
                  <a:srgbClr val="0F172A"/>
                </a:solidFill>
              </a:rPr>
              <a:t>Production Multi-Agent Triage
</a:t>
            </a:r>
          </a:p>
          <a:p>
            <a:r>
              <a:rPr sz="950">
                <a:solidFill>
                  <a:srgbClr val="334155"/>
                </a:solidFill>
              </a:rPr>
              <a:t>• 6 Guided Autonomous Workflows
• 9 Formal RCA Decision Rules
• pyslang IEEE-1800 AST X-Tracer
• Live Coverage Cockpit &amp; Waveform Studio
• Zero-Touch Sandbox Auto-Patching
• FastAPI Asynchronous Web Studio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84C7"/>
                </a:solidFill>
              </a:rPr>
              <a:t>Phase 2: Q1-Q2 2027
</a:t>
            </a:r>
          </a:p>
          <a:p>
            <a:r>
              <a:rPr sz="1100" b="1">
                <a:solidFill>
                  <a:srgbClr val="0F172A"/>
                </a:solidFill>
              </a:rPr>
              <a:t>Continuous Regression Intelligence
</a:t>
            </a:r>
          </a:p>
          <a:p>
            <a:r>
              <a:rPr sz="950">
                <a:solidFill>
                  <a:srgbClr val="334155"/>
                </a:solidFill>
              </a:rPr>
              <a:t>• Nightly farm log clustering &amp; anomaly grouping
• Automated test deduplication
• Bayesian stimulus tuning for coverage holes
• Cross-project historical defect memory
• Automated Git Pull Request review comments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97706"/>
                </a:solidFill>
              </a:rPr>
              <a:t>Phase 3: Q3-Q4 2027
</a:t>
            </a:r>
          </a:p>
          <a:p>
            <a:r>
              <a:rPr sz="1100" b="1">
                <a:solidFill>
                  <a:srgbClr val="0F172A"/>
                </a:solidFill>
              </a:rPr>
              <a:t>Silicon-to-Software Autonomous Loop
</a:t>
            </a:r>
          </a:p>
          <a:p>
            <a:r>
              <a:rPr sz="950">
                <a:solidFill>
                  <a:srgbClr val="334155"/>
                </a:solidFill>
              </a:rPr>
              <a:t>• Post-silicon ATE automated tester link
• Scan chain fault diagnosis &amp; silicon debug
• Automated ATPG test vector synthesis
• Formal mathematical theorem proving
• ISO 26262 ASIL-D safety lifecycle sign-off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>
                                          <p:tgtEl>
                                            <p:spTgt spid="9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ENTERPRISE INTEGRATION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13: Integration Into Real World Chip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486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4D32"/>
                </a:solidFill>
              </a:rPr>
              <a:t>Day-1 Frictionless CI/CD Deployment
</a:t>
            </a:r>
          </a:p>
          <a:p>
            <a:r>
              <a:rPr b="1" sz="1050">
                <a:solidFill>
                  <a:srgbClr val="0F172A"/>
                </a:solidFill>
              </a:rPr>
              <a:t>• CI/CD Pipeline Hooks: </a:t>
            </a:r>
            <a:r>
              <a:rPr sz="950">
                <a:solidFill>
                  <a:srgbClr val="334155"/>
                </a:solidFill>
              </a:rPr>
              <a:t>Integrates natively into Jenkins, GitLab CI, GitHub Actions via headless CLI.
</a:t>
            </a:r>
          </a:p>
          <a:p>
            <a:r>
              <a:rPr b="1" sz="1050">
                <a:solidFill>
                  <a:srgbClr val="0F172A"/>
                </a:solidFill>
              </a:rPr>
              <a:t>• Zero EDA Toolchain Disruption: </a:t>
            </a:r>
            <a:r>
              <a:rPr sz="950">
                <a:solidFill>
                  <a:srgbClr val="334155"/>
                </a:solidFill>
              </a:rPr>
              <a:t>Wraps around existing Synopsys, Siemens, and Cadence regression scripts without modifying Makefiles.
</a:t>
            </a:r>
          </a:p>
          <a:p>
            <a:r>
              <a:rPr b="1" sz="1050">
                <a:solidFill>
                  <a:srgbClr val="0F172A"/>
                </a:solidFill>
              </a:rPr>
              <a:t>• Standard Format Ingestion: </a:t>
            </a:r>
            <a:r>
              <a:rPr sz="950">
                <a:solidFill>
                  <a:srgbClr val="334155"/>
                </a:solidFill>
              </a:rPr>
              <a:t>Parses industry standard formats: SystemVerilog (.sv), VCD, FSDB, UCDB, and JUnit XML.
</a:t>
            </a:r>
          </a:p>
          <a:p>
            <a:r>
              <a:rPr b="1" sz="1050">
                <a:solidFill>
                  <a:srgbClr val="0F172A"/>
                </a:solidFill>
              </a:rPr>
              <a:t>• Strict Enterprise Security Boundary: </a:t>
            </a:r>
            <a:r>
              <a:rPr sz="950">
                <a:solidFill>
                  <a:srgbClr val="334155"/>
                </a:solidFill>
              </a:rPr>
              <a:t>Air-gapped on-premise execution with local Ollama/vLLM endpoints and complete RTL IP sanitization.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15_ci_cd_re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08760"/>
            <a:ext cx="4846320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532120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64748B"/>
                </a:solidFill>
              </a:rPr>
              <a:t>Headless CI/CD Nightly Regression Triage Automation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943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0284C7"/>
                </a:solidFill>
                <a:latin typeface="Arial"/>
              </a:rPr>
              <a:t>VERIFICATION STANDARDS  •  </a:t>
            </a:r>
            <a:r>
              <a:rPr sz="2100" b="1">
                <a:solidFill>
                  <a:srgbClr val="0B4D32"/>
                </a:solidFill>
                <a:latin typeface="Arial"/>
              </a:rPr>
              <a:t>Topic 14: Appendix — Supporting Documents &amp;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4D32"/>
                </a:solidFill>
              </a:rPr>
              <a:t>ISO 26262 ASIL-D &amp; DO-254
</a:t>
            </a:r>
          </a:p>
          <a:p>
            <a:r>
              <a:rPr sz="950">
                <a:solidFill>
                  <a:srgbClr val="334155"/>
                </a:solidFill>
              </a:rPr>
              <a:t>• Bi-directional traceability matrix guarantees complete requirement-to-test tracking required for safety-critical silicon.
• Automated export to CSV and HTML for safety audit readiness.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84C7"/>
                </a:solidFill>
              </a:rPr>
              <a:t>IEEE 1800 &amp; UVM 1.2 Standards
</a:t>
            </a:r>
          </a:p>
          <a:p>
            <a:r>
              <a:rPr sz="950">
                <a:solidFill>
                  <a:srgbClr val="334155"/>
                </a:solidFill>
              </a:rPr>
              <a:t>• Full support for IEEE 1800-2023 SystemVerilog language constructs, packages, and interfaces via pyslang.
• Native understanding of UVM TLM 2.0 communication ports, sequence items, drivers, and scoreboards.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97706"/>
                </a:solidFill>
              </a:rPr>
              <a:t>107-Page Master Operations Journal
</a:t>
            </a:r>
          </a:p>
          <a:p>
            <a:r>
              <a:rPr sz="950">
                <a:solidFill>
                  <a:srgbClr val="334155"/>
                </a:solidFill>
              </a:rPr>
              <a:t>• Exhaustive field engineering documentation with 75 technical annexes, formal theorems, and SVA assertion libraries.
• Comprehensive interview prep and architectural Q&amp;A guide (VeriSight_QnA_Master_Interview_Prep.pdf).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233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</a:rPr>
              <a:t>ChromaDB Vector Telemetry
</a:t>
            </a:r>
          </a:p>
          <a:p>
            <a:r>
              <a:rPr sz="950">
                <a:solidFill>
                  <a:srgbClr val="334155"/>
                </a:solidFill>
              </a:rPr>
              <a:t>• 11 persistent collections storing indexed specification paragraphs, register maps, and historical defect signatures.
• Semantic chunking and fast vector similarity search for cross-block bug correlation.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5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>
                                          <p:tgtEl>
                                            <p:spTgt spid="6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>
                                          <p:tgtEl>
                                            <p:spTgt spid="7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>
                                          <p:tgtEl>
                                            <p:spTgt spid="8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>
                                          <p:tgtEl>
                                            <p:spTgt spid="9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>
                                          <p:tgtEl>
                                            <p:spTgt spid="10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>
                                          <p:tgtEl>
                                            <p:spTgt spid="11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  <p:bldP spid="10" grpId="0" bldLvl="0" animBg="1"/>
      <p:bldP spid="11" grpId="0" bldLvl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371600" y="1371600"/>
            <a:ext cx="9418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4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69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0B4D32"/>
                </a:solidFill>
              </a:rPr>
              <a:t>VERISIGHT™
</a:t>
            </a:r>
          </a:p>
          <a:p>
            <a:r>
              <a:rPr sz="1800" b="1">
                <a:solidFill>
                  <a:srgbClr val="0F172A"/>
                </a:solidFill>
              </a:rPr>
              <a:t>The Future of Silicon Verification is Autonomous.
</a:t>
            </a:r>
          </a:p>
          <a:p>
            <a:r>
              <a:rPr sz="1250">
                <a:solidFill>
                  <a:srgbClr val="334155"/>
                </a:solidFill>
              </a:rPr>
              <a:t>Thank you for your time. We are now open for Questions &amp; Answers.
• Ready for Enterprise Pilot Deployments across VCS, Questa, and Xcelium
• Available for Custom SoC Benchmark Evaluations and RTL Auto-Repair
• Live Web Studio available at http://localhost:8000
</a:t>
            </a:r>
          </a:p>
          <a:p>
            <a:r>
              <a:rPr sz="1300" b="1">
                <a:solidFill>
                  <a:srgbClr val="0B4D32"/>
                </a:solidFill>
              </a:rPr>
              <a:t>Lead Architect: Patel Kittu (@KITTUV03)   |   Co-Lead: Vinod Nikhil Monterio
</a:t>
            </a:r>
            <a:r>
              <a:rPr sz="1100">
                <a:solidFill>
                  <a:srgbClr val="64748B"/>
                </a:solidFill>
              </a:rPr>
              <a:t>VeriSight Production Release v2.4 • Confidential Enterprise Edition • October 2026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>
                                          <p:tgtEl>
                                            <p:spTgt spid="3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>
                                          <p:tgtEl>
                                            <p:spTgt spid="4"/>
                                          </p:tgtEl>
                                        </p:cTn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ldLvl="0" animBg="1"/>
      <p:bldP spid="4" grpId="0" bldLvl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